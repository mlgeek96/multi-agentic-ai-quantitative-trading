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71f4ed85c45437f" /><Relationship Type="http://schemas.openxmlformats.org/officeDocument/2006/relationships/extended-properties" Target="/docProps/app.xml" Id="Rb3e28171f7284a4f" /><Relationship Type="http://schemas.openxmlformats.org/officeDocument/2006/relationships/officeDocument" Target="/ppt/presentation.xml" Id="Ra3f6740217dc47f0" /></Relationships>
</file>

<file path=ppt/presentation.xml><?xml version="1.0" encoding="utf-8"?>
<p:presentation xmlns:p="http://schemas.openxmlformats.org/presentationml/2006/main">
  <p:sldMasterIdLst>
    <p:sldMasterId xmlns:r="http://schemas.openxmlformats.org/officeDocument/2006/relationships" id="2147483648" r:id="R2c5cee9d531a49b9"/>
  </p:sldMasterIdLst>
  <p:notesMasterIdLst>
    <p:notesMasterId xmlns:r="http://schemas.openxmlformats.org/officeDocument/2006/relationships" r:id="R930cb8d9a3484257"/>
  </p:notesMasterIdLst>
  <p:sldIdLst>
    <p:sldId xmlns:r="http://schemas.openxmlformats.org/officeDocument/2006/relationships" id="256" r:id="Raf7d22cb0cb8412d"/>
    <p:sldId xmlns:r="http://schemas.openxmlformats.org/officeDocument/2006/relationships" id="257" r:id="Rb9bbdb0b75a346e1"/>
    <p:sldId xmlns:r="http://schemas.openxmlformats.org/officeDocument/2006/relationships" id="258" r:id="R5c395fedc42c485d"/>
    <p:sldId xmlns:r="http://schemas.openxmlformats.org/officeDocument/2006/relationships" id="259" r:id="R0f0607eb013e4d53"/>
    <p:sldId xmlns:r="http://schemas.openxmlformats.org/officeDocument/2006/relationships" id="260" r:id="R270a70569f2b4f05"/>
    <p:sldId xmlns:r="http://schemas.openxmlformats.org/officeDocument/2006/relationships" id="261" r:id="R2582b273dc2f43ef"/>
    <p:sldId xmlns:r="http://schemas.openxmlformats.org/officeDocument/2006/relationships" id="262" r:id="R2d922cef35334fa4"/>
    <p:sldId xmlns:r="http://schemas.openxmlformats.org/officeDocument/2006/relationships" id="263" r:id="Rea85c298385c4657"/>
    <p:sldId xmlns:r="http://schemas.openxmlformats.org/officeDocument/2006/relationships" id="264" r:id="R63b42100dccf4a6f"/>
    <p:sldId xmlns:r="http://schemas.openxmlformats.org/officeDocument/2006/relationships" id="265" r:id="Recfdaa09c7b246bb"/>
    <p:sldId xmlns:r="http://schemas.openxmlformats.org/officeDocument/2006/relationships" id="266" r:id="R751c6f6ab2494552"/>
    <p:sldId xmlns:r="http://schemas.openxmlformats.org/officeDocument/2006/relationships" id="267" r:id="R3436538a8a704c81"/>
    <p:sldId xmlns:r="http://schemas.openxmlformats.org/officeDocument/2006/relationships" id="268" r:id="R8b7a03ed8bb24cb1"/>
    <p:sldId xmlns:r="http://schemas.openxmlformats.org/officeDocument/2006/relationships" id="269" r:id="R8e03d28961f44a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a0acc8813e4d2d" /><Relationship Type="http://schemas.openxmlformats.org/officeDocument/2006/relationships/slideMaster" Target="/ppt/slideMasters/slideMaster1.xml" Id="R2c5cee9d531a49b9" /><Relationship Type="http://schemas.openxmlformats.org/officeDocument/2006/relationships/notesMaster" Target="/ppt/notesMasters/notesMaster1.xml" Id="R930cb8d9a3484257" /><Relationship Type="http://schemas.openxmlformats.org/officeDocument/2006/relationships/presProps" Target="/ppt/presProps.xml" Id="Ref0501fbdc7141cf" /><Relationship Type="http://schemas.openxmlformats.org/officeDocument/2006/relationships/tableStyles" Target="/ppt/tableStyles.xml" Id="R27dd4cbbaa974bee" /><Relationship Type="http://schemas.openxmlformats.org/officeDocument/2006/relationships/slide" Target="/ppt/slides/slide1.xml" Id="Raf7d22cb0cb8412d" /><Relationship Type="http://schemas.openxmlformats.org/officeDocument/2006/relationships/slide" Target="/ppt/slides/slide2.xml" Id="Rb9bbdb0b75a346e1" /><Relationship Type="http://schemas.openxmlformats.org/officeDocument/2006/relationships/slide" Target="/ppt/slides/slide3.xml" Id="R5c395fedc42c485d" /><Relationship Type="http://schemas.openxmlformats.org/officeDocument/2006/relationships/slide" Target="/ppt/slides/slide4.xml" Id="R0f0607eb013e4d53" /><Relationship Type="http://schemas.openxmlformats.org/officeDocument/2006/relationships/slide" Target="/ppt/slides/slide5.xml" Id="R270a70569f2b4f05" /><Relationship Type="http://schemas.openxmlformats.org/officeDocument/2006/relationships/slide" Target="/ppt/slides/slide6.xml" Id="R2582b273dc2f43ef" /><Relationship Type="http://schemas.openxmlformats.org/officeDocument/2006/relationships/slide" Target="/ppt/slides/slide7.xml" Id="R2d922cef35334fa4" /><Relationship Type="http://schemas.openxmlformats.org/officeDocument/2006/relationships/slide" Target="/ppt/slides/slide8.xml" Id="Rea85c298385c4657" /><Relationship Type="http://schemas.openxmlformats.org/officeDocument/2006/relationships/slide" Target="/ppt/slides/slide9.xml" Id="R63b42100dccf4a6f" /><Relationship Type="http://schemas.openxmlformats.org/officeDocument/2006/relationships/slide" Target="/ppt/slides/slide10.xml" Id="Recfdaa09c7b246bb" /><Relationship Type="http://schemas.openxmlformats.org/officeDocument/2006/relationships/slide" Target="/ppt/slides/slide11.xml" Id="R751c6f6ab2494552" /><Relationship Type="http://schemas.openxmlformats.org/officeDocument/2006/relationships/slide" Target="/ppt/slides/slide12.xml" Id="R3436538a8a704c81" /><Relationship Type="http://schemas.openxmlformats.org/officeDocument/2006/relationships/slide" Target="/ppt/slides/slide13.xml" Id="R8b7a03ed8bb24cb1" /><Relationship Type="http://schemas.openxmlformats.org/officeDocument/2006/relationships/slide" Target="/ppt/slides/slide14.xml" Id="R8e03d28961f44a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13b7cfbf4b40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4d5b27b01f43bf" /><Relationship Type="http://schemas.openxmlformats.org/officeDocument/2006/relationships/notesMaster" Target="/ppt/notesMasters/notesMaster1.xml" Id="R06ad4a194d564e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ab396284d24029" /><Relationship Type="http://schemas.openxmlformats.org/officeDocument/2006/relationships/notesMaster" Target="/ppt/notesMasters/notesMaster1.xml" Id="R0edd6eeaf85241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2f820f57b5411b" /><Relationship Type="http://schemas.openxmlformats.org/officeDocument/2006/relationships/notesMaster" Target="/ppt/notesMasters/notesMaster1.xml" Id="R166860e975ee4c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76a8c8d2094839" /><Relationship Type="http://schemas.openxmlformats.org/officeDocument/2006/relationships/notesMaster" Target="/ppt/notesMasters/notesMaster1.xml" Id="R02080a117b8142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261ca1f20849c1" /><Relationship Type="http://schemas.openxmlformats.org/officeDocument/2006/relationships/notesMaster" Target="/ppt/notesMasters/notesMaster1.xml" Id="Rd080ebfef4064c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c63949d54c4ed3" /><Relationship Type="http://schemas.openxmlformats.org/officeDocument/2006/relationships/notesMaster" Target="/ppt/notesMasters/notesMaster1.xml" Id="Rda0b98ff234348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5086fb8acd49ef" /><Relationship Type="http://schemas.openxmlformats.org/officeDocument/2006/relationships/notesMaster" Target="/ppt/notesMasters/notesMaster1.xml" Id="Ra4c3c58986774f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a2da5afb6b4e88" /><Relationship Type="http://schemas.openxmlformats.org/officeDocument/2006/relationships/notesMaster" Target="/ppt/notesMasters/notesMaster1.xml" Id="R080342e00b8541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a766f65e7747e1" /><Relationship Type="http://schemas.openxmlformats.org/officeDocument/2006/relationships/notesMaster" Target="/ppt/notesMasters/notesMaster1.xml" Id="Re01114b2795f45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9248695208404b" /><Relationship Type="http://schemas.openxmlformats.org/officeDocument/2006/relationships/notesMaster" Target="/ppt/notesMasters/notesMaster1.xml" Id="R06e0d8d34c1f45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b3631c8d464606" /><Relationship Type="http://schemas.openxmlformats.org/officeDocument/2006/relationships/notesMaster" Target="/ppt/notesMasters/notesMaster1.xml" Id="R96581e515fe047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f001e732ee4c19" /><Relationship Type="http://schemas.openxmlformats.org/officeDocument/2006/relationships/notesMaster" Target="/ppt/notesMasters/notesMaster1.xml" Id="R8e56ab9841e9403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3f2962c3954b0f" /><Relationship Type="http://schemas.openxmlformats.org/officeDocument/2006/relationships/notesMaster" Target="/ppt/notesMasters/notesMaster1.xml" Id="R8ac06babf4a545e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316a8c03134d94" /><Relationship Type="http://schemas.openxmlformats.org/officeDocument/2006/relationships/notesMaster" Target="/ppt/notesMasters/notesMaster1.xml" Id="R469fbb2f198a48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academic paper-fund design uses USD 5 million of illustrative capital. The proposed organization gives investors the capital-provider role, the student team the Board role, and an Investment Committee the former portfolio-coordinator role. Crypto and pairs are connected in a local record-only prototype. Momentum, automatic AI calls, fund fills and a consolidated performance history remain pending. The title is a descriptive working title, not a registered fund name.</a:t>
            </a:r>
          </a:p>
          <a:p xmlns:a="http://schemas.openxmlformats.org/drawingml/2006/main">
            <a:r>
              <a:t/>
            </a:r>
          </a:p>
          <a:p xmlns:a="http://schemas.openxmlformats.org/drawingml/2006/main">
            <a:r>
              <a:t>Repository source: algorithmic_trading_strategy_project_brief_execution_roadmap.md</a:t>
            </a:r>
          </a:p>
          <a:p xmlns:a="http://schemas.openxmlformats.org/drawingml/2006/main">
            <a:r>
              <a:t>Repository source: reports/fund_agents/integration_report.md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investor proposition is an organized way to assess complementary strategies and their combined risk. Equity momentum and crypto trend signals can share directional market risk, so different strategy names do not establish diversification. Test correlations, drawdowns and contribution to risk before making a performance claim. The commercial framing supports the course roadshow and does not represent actual external fundraising.</a:t>
            </a:r>
          </a:p>
          <a:p xmlns:a="http://schemas.openxmlformats.org/drawingml/2006/main">
            <a:r>
              <a:t/>
            </a:r>
          </a:p>
          <a:p xmlns:a="http://schemas.openxmlformats.org/drawingml/2006/main">
            <a:r>
              <a:t>Repository source: algorithmic_trading_strategy_project_brief_execution_roadmap.md</a:t>
            </a:r>
          </a:p>
          <a:p xmlns:a="http://schemas.openxmlformats.org/drawingml/2006/main">
            <a:r>
              <a:t>Repository source: fund_agents/README.md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Investors supply paper capital and receive reporting. The Board of Directors is a simulated governance role performed by the human student team. It approves the mandate, risk policy and changes. The Investment Committee, led by a CIO role, replaces the presentation label Portfolio Coordinator. Quantitative allocation code implements its declared capital policy. A future AI chair may summarize PM evidence and challenge proposals, but cannot override coded risk. Each PM retains its own quant engine and virtual account. Keep the implementation module names unchanged for this presentation revision. The organization is a demonstration design, not a claim of legally constituted corporate governance.</a:t>
            </a:r>
          </a:p>
          <a:p xmlns:a="http://schemas.openxmlformats.org/drawingml/2006/main">
            <a:r>
              <a:t/>
            </a:r>
          </a:p>
          <a:p xmlns:a="http://schemas.openxmlformats.org/drawingml/2006/main">
            <a:r>
              <a:t>Repository source: fund_agents/README.md</a:t>
            </a:r>
          </a:p>
          <a:p xmlns:a="http://schemas.openxmlformats.org/drawingml/2006/main">
            <a:r>
              <a:t>Repository source: reports/fund_agents/integration_report.md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USD 1.5 million is a capital mandate for each PM, with USD 0.5 million centrally. These sum to USD 5 million and 100%. A mandate does not force full investment. The first experiment keeps initial capital in each sleeve without discretionary transfers. The Investment Committee sets this policy before the run. Dynamic reallocation is an optional future experiment and needs cost and transfer accounting. The current prototype reserves the momentum allocation in cash. The initial USD 5 million is a supplied account value and is not earned performance.</a:t>
            </a:r>
          </a:p>
          <a:p xmlns:a="http://schemas.openxmlformats.org/drawingml/2006/main">
            <a:r>
              <a:t/>
            </a:r>
          </a:p>
          <a:p xmlns:a="http://schemas.openxmlformats.org/drawingml/2006/main">
            <a:r>
              <a:t>Repository source: fund_agents/README.md</a:t>
            </a:r>
          </a:p>
          <a:p xmlns:a="http://schemas.openxmlformats.org/drawingml/2006/main">
            <a:r>
              <a:t>Repository source: reports/fund_agents/integration_report.md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daily pairs adapter imports the teammate’s Kalman, OU and forecasting engines, with recorded provenance and local integration corrections. V/MA is the current research configuration, not a finalized class universe. Preserve signed legs and the hedge relationship. Crypto in the integrated prototype wraps crypto_agents.MetaAgent. The historical adaptive-trend performance discussed later belongs to the separate daily_portfolio baseline, not this integrated crypto adapter. Momentum needs its actual package and mandate. Every included asset must satisfy the course eligibility rule and mandatory class asset requirement.</a:t>
            </a:r>
          </a:p>
          <a:p xmlns:a="http://schemas.openxmlformats.org/drawingml/2006/main">
            <a:r>
              <a:t/>
            </a:r>
          </a:p>
          <a:p xmlns:a="http://schemas.openxmlformats.org/drawingml/2006/main">
            <a:r>
              <a:t>Repository source: fund_agents/README.md</a:t>
            </a:r>
          </a:p>
          <a:p xmlns:a="http://schemas.openxmlformats.org/drawingml/2006/main">
            <a:r>
              <a:t>Repository source: reports/fund_agents/integration_report.md</a:t>
            </a:r>
          </a:p>
          <a:p xmlns:a="http://schemas.openxmlformats.org/drawingml/2006/main">
            <a:r>
              <a:t>Repository source: algorithmic_trading_strategy_project_brief_execution_roadmap.md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AI contribution is investigation and explanation. An agent dynamically chooses allowed diagnostic tools, while a fixed call sequence is a workflow. The same language model may support multiple PM representatives through distinct mandates and contexts. The current two-PM prototype exposes inspect_signals, inspect_model_health and inspect_positions. Default runs call all three and generate computed evidence. Optional imported tool selections and digest-checked replies exist. Automatic provider calls and autonomous selection remain pending. The proposed committee chair reviews reports and asks follow-up questions. Quantitative code still calculates holdings and independent code approves risk. AI-on/off evaluation holds targets constant and measures factual accuracy, citation coverage, review time, latency and model cost.</a:t>
            </a:r>
          </a:p>
          <a:p xmlns:a="http://schemas.openxmlformats.org/drawingml/2006/main">
            <a:r>
              <a:t/>
            </a:r>
          </a:p>
          <a:p xmlns:a="http://schemas.openxmlformats.org/drawingml/2006/main">
            <a:r>
              <a:t>Repository source: fund_agents/README.md</a:t>
            </a:r>
          </a:p>
          <a:p xmlns:a="http://schemas.openxmlformats.org/drawingml/2006/main">
            <a:r>
              <a:t>Source: https://docs.langchain.com/oss/python/langgraph/workflows-agents</a:t>
            </a:r>
          </a:p>
          <a:p xmlns:a="http://schemas.openxmlformats.org/drawingml/2006/main">
            <a:r>
              <a:t>Source: https://waylandz.com/quant-book-en/Lesson-14-LLM-Applications-in-Quant/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demonstration questions rather than a fabricated agent conversation. The existing local engine can provide proposals, diagnostics, risk verdicts and intention receipts for crypto and pairs. A real model-generated response must be identified as such and linked to its exact input digest. Default diagnostic output is computed evidence, not evidence that an LLM ran. Use an actual saved run for the class demo, and label synthetic inputs and historical replays. A future AI chair can synthesize the memos, but allocation follows a predeclared code policy and the risk controller remains final.</a:t>
            </a:r>
          </a:p>
          <a:p xmlns:a="http://schemas.openxmlformats.org/drawingml/2006/main">
            <a:r>
              <a:t/>
            </a:r>
          </a:p>
          <a:p xmlns:a="http://schemas.openxmlformats.org/drawingml/2006/main">
            <a:r>
              <a:t>Repository source: fund_agents/README.md</a:t>
            </a:r>
          </a:p>
          <a:p xmlns:a="http://schemas.openxmlformats.org/drawingml/2006/main">
            <a:r>
              <a:t>Repository source: reports/fund_agents/integration_report.md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After-close signal formation and next-session fills are a proposed integration convention. Confirm the teammate’s original timestamps and execution assumptions. A signal computed using a completed close cannot claim a fill at that same already-observed close. Equity sessions differ from the 24/7 crypto calendar. The existing adapter checks the configured exchange calendar and preserves actual source session dates on closed-market days. Its inspected equity cache ends in August 2026, so it cannot establish October live evidence. A daily signal can correctly result in no trade.</a:t>
            </a:r>
          </a:p>
          <a:p xmlns:a="http://schemas.openxmlformats.org/drawingml/2006/main">
            <a:r>
              <a:t/>
            </a:r>
          </a:p>
          <a:p xmlns:a="http://schemas.openxmlformats.org/drawingml/2006/main">
            <a:r>
              <a:t>Repository source: fund_agents/README.md</a:t>
            </a:r>
          </a:p>
          <a:p xmlns:a="http://schemas.openxmlformats.org/drawingml/2006/main">
            <a:r>
              <a:t>Repository source: reports/fund_agents/integration_report.md</a:t>
            </a:r>
          </a:p>
          <a:p xmlns:a="http://schemas.openxmlformats.org/drawingml/2006/main">
            <a:r>
              <a:t>Repository source: algorithmic_trading_strategy_project_brief_execution_roadmap.md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Limits are current prototype configuration defaults, not a proof of safe or profitable execution. Fund gross exposure counts positions across sleeves before netting. Cash, collateral buffers and fee reserves constrain connected mandates. Risk uses one common factor for actionable target groups to preserve pair relationships. Existing crypto risk checks remain upstream. Closed markets retain confirmed units. Missing PM inputs hold the cycle. Record-only execution does not charge simulated fees or create new holdings. The future fill adapter needs executable quotes, borrow checks, board lots, linked fills, costs and proper marked accounting before a fund return is claimed.</a:t>
            </a:r>
          </a:p>
          <a:p xmlns:a="http://schemas.openxmlformats.org/drawingml/2006/main">
            <a:r>
              <a:t/>
            </a:r>
          </a:p>
          <a:p xmlns:a="http://schemas.openxmlformats.org/drawingml/2006/main">
            <a:r>
              <a:t>Repository source: fund_agents/README.md</a:t>
            </a:r>
          </a:p>
          <a:p xmlns:a="http://schemas.openxmlformats.org/drawingml/2006/main">
            <a:r>
              <a:t>Repository source: reports/fund_agents/integration_report.md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 943 validation observations. Adaptive trend returned 10.089%, maximum drawdown -23.778%, Sharpe 0.3211728606 at zero risk-free rate, with 29 closed round trips. BTC buy-and-hold returned 42.346% and equal-weight BTC/ETH returned 10.768%. The report includes the configured 10 bps turnover charge, but excludes taxes, outages, spread history and market impact. These are walk-forward validation results for crypto_quant.daily_portfolio and must not be attributed to the crypto_agents.MetaAgent integrated adapter or the full fund. The baseline does not support an outperformance claim. The proposed fund still needs independent consolidated evaluation.</a:t>
            </a:r>
          </a:p>
          <a:p xmlns:a="http://schemas.openxmlformats.org/drawingml/2006/main">
            <a:r>
              <a:t/>
            </a:r>
          </a:p>
          <a:p xmlns:a="http://schemas.openxmlformats.org/drawingml/2006/main">
            <a:r>
              <a:t>Repository source: reports/daily_portfolio/research_report.md</a:t>
            </a:r>
          </a:p>
          <a:p xmlns:a="http://schemas.openxmlformats.org/drawingml/2006/main">
            <a:r>
              <a:t>Repository source: algorithmic_trading_strategy_project_brief_execution_roadmap.md</a:t>
            </a:r>
          </a:p>
          <a:p xmlns:a="http://schemas.openxmlformats.org/drawingml/2006/main">
            <a:r>
              <a:t>Repository source: reports/fund_agents/integration_report.md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integration report records a deterministic demo and an August historical replay, with zero fills. Those demonstrate orchestration and safety controls rather than investment returns. Before presenting final performance, add a consolidated costed ledger, data provenance and the actual start date for the combined fund. The course requires net P&amp;L, total and annualized return, Sharpe, volatility, maximum drawdown, win rate, profit per trade, trade frequency, holding period, and drawdown frequency and duration. Use the official benchmark and mandatory assets once confirmed. A partial or replayed October series must be labeled honestly. Avoid tuning to the October window.</a:t>
            </a:r>
          </a:p>
          <a:p xmlns:a="http://schemas.openxmlformats.org/drawingml/2006/main">
            <a:r>
              <a:t/>
            </a:r>
          </a:p>
          <a:p xmlns:a="http://schemas.openxmlformats.org/drawingml/2006/main">
            <a:r>
              <a:t>Repository source: reports/fund_agents/integration_report.md</a:t>
            </a:r>
          </a:p>
          <a:p xmlns:a="http://schemas.openxmlformats.org/drawingml/2006/main">
            <a:r>
              <a:t>Repository source: algorithmic_trading_strategy_project_brief_execution_roadmap.md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and deployment remain proposed. Preserve the existing Python engines and add a small presentation layer, rather than a service per agent. Daily runs must continue independently of dashboard visits. Keep database state on persistent storage and model credentials on the server. Demonstrate one genuine recorded cycle, with clear synthetic or historical labels. Until fills and accounting exist, show proposal and intention history instead of a fabricated NAV chart. This is an implementation recommendation based on the local design, not a deployed-service claim.</a:t>
            </a:r>
          </a:p>
          <a:p xmlns:a="http://schemas.openxmlformats.org/drawingml/2006/main">
            <a:r>
              <a:t/>
            </a:r>
          </a:p>
          <a:p xmlns:a="http://schemas.openxmlformats.org/drawingml/2006/main">
            <a:r>
              <a:t>Repository source: fund_agents/README.md</a:t>
            </a:r>
          </a:p>
          <a:p xmlns:a="http://schemas.openxmlformats.org/drawingml/2006/main">
            <a:r>
              <a:t>Repository source: reports/fund_agents/integration_report.md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course announcement pasted by the user on 17 October 2026. It sets Saturday 24 October as the submission date, requires one Canvas ZIP containing editable slides, supporting data and source code, and requires an update to the group registration spreadsheet with all members and out-of-sample performance. A shareable video link is required only if a video is prepared. The video is optional but strongly encouraged and must be at most 60 seconds. The announcement does not specify a submission hour, so verify the Canvas time and timezone. The earlier project brief additionally requires daily closing prices and explicit individual attribution. Names, group name, final performance and video URL remain team inputs. Spreadsheet URL: https://docs.google.com/spreadsheets/d/1N5ZyqvW8sSQpk8IlT_ByFysJfc27CKGa6ixITQDr76Y/edit?gid=0#gid=0</a:t>
            </a:r>
          </a:p>
          <a:p xmlns:a="http://schemas.openxmlformats.org/drawingml/2006/main">
            <a:r>
              <a:t/>
            </a:r>
          </a:p>
          <a:p xmlns:a="http://schemas.openxmlformats.org/drawingml/2006/main">
            <a:r>
              <a:t>Repository source: algorithmic_trading_strategy_project_brief_execution_roadmap.md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inviting classmates to evaluate the academic paper pilot and challenge its evidence. Explain how each PM generates a proposal, what the committee reviews, and why coded risk retains authority. State the remaining gaps when asked. The investment case depends on final after-cost results, benchmark comparison and reproducibility, rather than an assumed benefit from AI or diversification. This class roadshow makes no claim of actual fundraising, operational deployment or full-fund profitability.</a:t>
            </a:r>
          </a:p>
          <a:p xmlns:a="http://schemas.openxmlformats.org/drawingml/2006/main">
            <a:r>
              <a:t/>
            </a:r>
          </a:p>
          <a:p xmlns:a="http://schemas.openxmlformats.org/drawingml/2006/main">
            <a:r>
              <a:t>Repository source: reports/fund_agents/integration_report.md</a:t>
            </a:r>
          </a:p>
          <a:p xmlns:a="http://schemas.openxmlformats.org/drawingml/2006/main">
            <a:r>
              <a:t>Repository source: algorithmic_trading_strategy_project_brief_execution_roadmap.md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cad0f0e5e542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1e0357f468a42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c9a79c28c742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97ae09c15434e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e4d49a0b2747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7a2cb972394a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5FD974-563A-4AB5-995B-538A80F55B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0849B3B-73F8-461F-843D-DC4B0C13DD6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1471CF-46A8-4C50-9217-5277B5C283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0FCE99-A4B4-4108-8476-75F9354F91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2FEFE64-76F1-448C-9A0B-62AB741F3D5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E61B4E-6DC1-43E8-A10C-3F7F13D4DB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AFB60A-2D6D-4B42-ACE4-327AB40672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2929EAF-BEB4-448D-9E59-DC0045E45E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D62036-D91F-41B2-BC02-44AF15E61B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6173E7-342B-4E06-9A69-1E8AFA91CB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eca80dbc8245e4" /><Relationship Type="http://schemas.openxmlformats.org/officeDocument/2006/relationships/slideLayout" Target="/ppt/slideLayouts/slideLayout1.xml" Id="R6f8843957f03417b" /><Relationship Type="http://schemas.openxmlformats.org/officeDocument/2006/relationships/slideLayout" Target="/ppt/slideLayouts/slideLayout2.xml" Id="R2332a9ca7cd04fc5" /><Relationship Type="http://schemas.openxmlformats.org/officeDocument/2006/relationships/slideLayout" Target="/ppt/slideLayouts/slideLayout3.xml" Id="R8b49b00d32a14b4a" /><Relationship Type="http://schemas.openxmlformats.org/officeDocument/2006/relationships/slideLayout" Target="/ppt/slideLayouts/slideLayout4.xml" Id="Rd940d7191437456c" /><Relationship Type="http://schemas.openxmlformats.org/officeDocument/2006/relationships/slideLayout" Target="/ppt/slideLayouts/slideLayout5.xml" Id="Rbdc618c421ac4ddd" /><Relationship Type="http://schemas.openxmlformats.org/officeDocument/2006/relationships/slideLayout" Target="/ppt/slideLayouts/slideLayout6.xml" Id="R54e86d6aebda4a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8843957f03417b"/>
    <p:sldLayoutId xmlns:r="http://schemas.openxmlformats.org/officeDocument/2006/relationships" id="2147483650" r:id="R2332a9ca7cd04fc5"/>
    <p:sldLayoutId xmlns:r="http://schemas.openxmlformats.org/officeDocument/2006/relationships" id="2147483651" r:id="R8b49b00d32a14b4a"/>
    <p:sldLayoutId xmlns:r="http://schemas.openxmlformats.org/officeDocument/2006/relationships" id="2147483652" r:id="Rd940d7191437456c"/>
    <p:sldLayoutId xmlns:r="http://schemas.openxmlformats.org/officeDocument/2006/relationships" id="2147483653" r:id="Rbdc618c421ac4ddd"/>
    <p:sldLayoutId xmlns:r="http://schemas.openxmlformats.org/officeDocument/2006/relationships" id="2147483654" r:id="R54e86d6aebda4a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f49b4b9d0041d5" /><Relationship Type="http://schemas.openxmlformats.org/officeDocument/2006/relationships/notesSlide" Target="/ppt/notesSlides/notesSlide1.xml" Id="Rc02a56dacb8245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9d93232d3f44c00" /><Relationship Type="http://schemas.openxmlformats.org/officeDocument/2006/relationships/notesSlide" Target="/ppt/notesSlides/notesSlide2.xml" Id="R9e7202eaa5e545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8d61c4db304443a" /><Relationship Type="http://schemas.openxmlformats.org/officeDocument/2006/relationships/notesSlide" Target="/ppt/notesSlides/notesSlide3.xml" Id="R04627d043b2a4e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c653e7183744ed" /><Relationship Type="http://schemas.openxmlformats.org/officeDocument/2006/relationships/chart" Target="/ppt/slides/charts/chart1.xml" Id="Re220c1edeb9a4129" /><Relationship Type="http://schemas.openxmlformats.org/officeDocument/2006/relationships/notesSlide" Target="/ppt/notesSlides/notesSlide4.xml" Id="Rbf23940acf644a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3ab52895144e5d" /><Relationship Type="http://schemas.openxmlformats.org/officeDocument/2006/relationships/notesSlide" Target="/ppt/notesSlides/notesSlide5.xml" Id="R9f27abd639b540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2f32651d478457b" /><Relationship Type="http://schemas.openxmlformats.org/officeDocument/2006/relationships/notesSlide" Target="/ppt/notesSlides/notesSlide6.xml" Id="R2640eab76f0a49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84ee398526d40fe" /><Relationship Type="http://schemas.openxmlformats.org/officeDocument/2006/relationships/notesSlide" Target="/ppt/notesSlides/notesSlide7.xml" Id="R36ed459632a84e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f6a1c85414d40dd" /><Relationship Type="http://schemas.openxmlformats.org/officeDocument/2006/relationships/notesSlide" Target="/ppt/notesSlides/notesSlide8.xml" Id="R7a019fc147b649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31a48ec3864898" /><Relationship Type="http://schemas.openxmlformats.org/officeDocument/2006/relationships/notesSlide" Target="/ppt/notesSlides/notesSlide9.xml" Id="R3a37752fcc744a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e8269df184d474b" /><Relationship Type="http://schemas.openxmlformats.org/officeDocument/2006/relationships/chart" Target="/ppt/slides/charts/chart2.xml" Id="R53ea5c7255564259" /><Relationship Type="http://schemas.openxmlformats.org/officeDocument/2006/relationships/notesSlide" Target="/ppt/notesSlides/notesSlide10.xml" Id="Rd831855cb7714e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6e2fa48829146f7" /><Relationship Type="http://schemas.openxmlformats.org/officeDocument/2006/relationships/notesSlide" Target="/ppt/notesSlides/notesSlide11.xml" Id="R387b9d96b3df47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0b824f3ddd44112" /><Relationship Type="http://schemas.openxmlformats.org/officeDocument/2006/relationships/notesSlide" Target="/ppt/notesSlides/notesSlide12.xml" Id="R49cefd929a564d9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69ff8656e0642f0" /><Relationship Type="http://schemas.openxmlformats.org/officeDocument/2006/relationships/notesSlide" Target="/ppt/notesSlides/notesSlide13.xml" Id="Ra4c89fb4503241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9cb560f338c4ca9" /><Relationship Type="http://schemas.openxmlformats.org/officeDocument/2006/relationships/notesSlide" Target="/ppt/notesSlides/notesSlide14.xml" Id="Reb4b9138b8e34a4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Value</c:v>
          </c:tx>
          <c:spPr>
            <a:solidFill xmlns:a="http://schemas.openxmlformats.org/drawingml/2006/main">
              <a:srgbClr val="2864A0"/>
            </a:solidFill>
          </c:spPr>
          <c:invertIfNegative val="0"/>
          <c:dPt>
            <c:idx val="0"/>
            <c:invertIfNegative val="0"/>
            <c:spPr>
              <a:solidFill xmlns:a="http://schemas.openxmlformats.org/drawingml/2006/main">
                <a:srgbClr val="2864A0"/>
              </a:solidFill>
            </c:spPr>
          </c:dPt>
          <c:dPt>
            <c:idx val="1"/>
            <c:invertIfNegative val="0"/>
            <c:spPr>
              <a:solidFill xmlns:a="http://schemas.openxmlformats.org/drawingml/2006/main">
                <a:srgbClr val="087E8B"/>
              </a:solidFill>
            </c:spPr>
          </c:dPt>
          <c:dPt>
            <c:idx val="2"/>
            <c:invertIfNegative val="0"/>
            <c:spPr>
              <a:solidFill xmlns:a="http://schemas.openxmlformats.org/drawingml/2006/main">
                <a:srgbClr val="7757A1"/>
              </a:solidFill>
            </c:spPr>
          </c:dPt>
          <c:dPt>
            <c:idx val="3"/>
            <c:invertIfNegative val="0"/>
            <c:spPr>
              <a:solidFill xmlns:a="http://schemas.openxmlformats.org/drawingml/2006/main">
                <a:srgbClr val="80909B"/>
              </a:solidFill>
            </c:spPr>
          </c:dPt>
          <c:cat>
            <c:strRef>
              <c:f>'Chart Data'!$A$2:$A$5</c:f>
              <c:strCache>
                <c:ptCount val="4"/>
                <c:pt idx="0">
                  <c:v>Momentum</c:v>
                </c:pt>
                <c:pt idx="1">
                  <c:v>Pairs</c:v>
                </c:pt>
                <c:pt idx="2">
                  <c:v>Crypto</c:v>
                </c:pt>
                <c:pt idx="3">
                  <c:v>Cash</c:v>
                </c:pt>
              </c:strCache>
            </c:strRef>
          </c:cat>
          <c:val>
            <c:numRef>
              <c:f>'Chart Data'!$B$2:$B$5</c:f>
              <c:numCache>
                <c:formatCode>0.0</c:formatCode>
                <c:ptCount val="4"/>
                <c:pt idx="0">
                  <c:v>1.5</c:v>
                </c:pt>
                <c:pt idx="1">
                  <c:v>1.5</c:v>
                </c:pt>
                <c:pt idx="2">
                  <c:v>1.5</c:v>
                </c:pt>
                <c:pt idx="3">
                  <c:v>0.5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a:solidFill>
                    <a:srgbClr val="162A3A"/>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51647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Value</c:v>
          </c:tx>
          <c:spPr>
            <a:solidFill xmlns:a="http://schemas.openxmlformats.org/drawingml/2006/main">
              <a:srgbClr val="2864A0"/>
            </a:solidFill>
          </c:spPr>
          <c:invertIfNegative val="0"/>
          <c:dPt>
            <c:idx val="0"/>
            <c:invertIfNegative val="0"/>
            <c:spPr>
              <a:solidFill xmlns:a="http://schemas.openxmlformats.org/drawingml/2006/main">
                <a:srgbClr val="087E8B"/>
              </a:solidFill>
            </c:spPr>
          </c:dPt>
          <c:dPt>
            <c:idx val="1"/>
            <c:invertIfNegative val="0"/>
            <c:spPr>
              <a:solidFill xmlns:a="http://schemas.openxmlformats.org/drawingml/2006/main">
                <a:srgbClr val="80909B"/>
              </a:solidFill>
            </c:spPr>
          </c:dPt>
          <c:dPt>
            <c:idx val="2"/>
            <c:invertIfNegative val="0"/>
            <c:spPr>
              <a:solidFill xmlns:a="http://schemas.openxmlformats.org/drawingml/2006/main">
                <a:srgbClr val="80909B"/>
              </a:solidFill>
            </c:spPr>
          </c:dPt>
          <c:cat>
            <c:strRef>
              <c:f>'Chart Data'!$A$2:$A$4</c:f>
              <c:strCache>
                <c:ptCount val="3"/>
                <c:pt idx="0">
                  <c:v>Adaptive trend</c:v>
                </c:pt>
                <c:pt idx="1">
                  <c:v>Equal-weight BTC/ETH</c:v>
                </c:pt>
                <c:pt idx="2">
                  <c:v>BTC buy-and-hold</c:v>
                </c:pt>
              </c:strCache>
            </c:strRef>
          </c:cat>
          <c:val>
            <c:numRef>
              <c:f>'Chart Data'!$B$2:$B$4</c:f>
              <c:numCache>
                <c:formatCode>0.00</c:formatCode>
                <c:ptCount val="3"/>
                <c:pt idx="0">
                  <c:v>10.089</c:v>
                </c:pt>
                <c:pt idx="1">
                  <c:v>10.768</c:v>
                </c:pt>
                <c:pt idx="2">
                  <c:v>42.346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a:solidFill>
                    <a:srgbClr val="162A3A"/>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51647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2A3A"/>
        </a:solidFill>
      </p:bgPr>
    </p:bg>
    <p:spTree>
      <p:nvGrpSpPr>
        <p:cNvPr id="1" name=""/>
        <p:cNvGrpSpPr/>
        <p:nvPr/>
      </p:nvGrpSpPr>
      <p:grpSpPr>
        <a:xfrm xmlns:a="http://schemas.openxmlformats.org/drawingml/2006/main"/>
      </p:grpSpPr>
      <p:sp>
        <p:nvSpPr>
          <p:cNvPr id="5" name="Three PM Quant Fund">
            <a:extLst xmlns:a="http://schemas.openxmlformats.org/drawingml/2006/main">
              <a:ext uri="{FF2B5EF4-FFF2-40B4-BE49-F238E27FC236}">
                <a16:creationId xmlns:a16="http://schemas.microsoft.com/office/drawing/2014/main" id="{981DA329-234A-4EB6-A61F-A02C05E88C7C}"/>
              </a:ext>
            </a:extLst>
          </p:cNvPr>
          <p:cNvSpPr>
            <a:spLocks xmlns:a="http://schemas.openxmlformats.org/drawingml/2006/main" noGrp="1"/>
          </p:cNvSpPr>
          <p:nvPr/>
        </p:nvSpPr>
        <p:spPr>
          <a:xfrm xmlns:a="http://schemas.openxmlformats.org/drawingml/2006/main">
            <a:off x="685800" y="1666875"/>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FFFFFF"/>
                </a:solidFill>
                <a:latin typeface="Arial"/>
                <a:ea typeface="Arial"/>
                <a:cs typeface="Arial"/>
              </a:defRPr>
            </a:defPPr>
            <a:lvl1pPr algn="l">
              <a:defRPr sz="5100" b="1">
                <a:solidFill>
                  <a:srgbClr val="FFFFFF"/>
                </a:solidFill>
                <a:latin typeface="Arial"/>
                <a:ea typeface="Arial"/>
                <a:cs typeface="Arial"/>
              </a:defRPr>
            </a:lvl1pPr>
            <a:lvl2pPr algn="l">
              <a:defRPr sz="5100" b="1">
                <a:solidFill>
                  <a:srgbClr val="FFFFFF"/>
                </a:solidFill>
                <a:latin typeface="Arial"/>
                <a:ea typeface="Arial"/>
                <a:cs typeface="Arial"/>
              </a:defRPr>
            </a:lvl2pPr>
            <a:lvl3pPr algn="l">
              <a:defRPr sz="5100" b="1">
                <a:solidFill>
                  <a:srgbClr val="FFFFFF"/>
                </a:solidFill>
                <a:latin typeface="Arial"/>
                <a:ea typeface="Arial"/>
                <a:cs typeface="Arial"/>
              </a:defRPr>
            </a:lvl3pPr>
            <a:lvl4pPr algn="l">
              <a:defRPr sz="5100" b="1">
                <a:solidFill>
                  <a:srgbClr val="FFFFFF"/>
                </a:solidFill>
                <a:latin typeface="Arial"/>
                <a:ea typeface="Arial"/>
                <a:cs typeface="Arial"/>
              </a:defRPr>
            </a:lvl4pPr>
            <a:lvl5pPr algn="l">
              <a:defRPr sz="5100" b="1">
                <a:solidFill>
                  <a:srgbClr val="FFFFFF"/>
                </a:solidFill>
                <a:latin typeface="Arial"/>
                <a:ea typeface="Arial"/>
                <a:cs typeface="Arial"/>
              </a:defRPr>
            </a:lvl5pPr>
            <a:lvl6pPr algn="l">
              <a:defRPr sz="5100" b="1">
                <a:solidFill>
                  <a:srgbClr val="FFFFFF"/>
                </a:solidFill>
                <a:latin typeface="Arial"/>
                <a:ea typeface="Arial"/>
                <a:cs typeface="Arial"/>
              </a:defRPr>
            </a:lvl6pPr>
            <a:lvl7pPr algn="l">
              <a:defRPr sz="5100" b="1">
                <a:solidFill>
                  <a:srgbClr val="FFFFFF"/>
                </a:solidFill>
                <a:latin typeface="Arial"/>
                <a:ea typeface="Arial"/>
                <a:cs typeface="Arial"/>
              </a:defRPr>
            </a:lvl7pPr>
            <a:lvl8pPr algn="l">
              <a:defRPr sz="5100" b="1">
                <a:solidFill>
                  <a:srgbClr val="FFFFFF"/>
                </a:solidFill>
                <a:latin typeface="Arial"/>
                <a:ea typeface="Arial"/>
                <a:cs typeface="Arial"/>
              </a:defRPr>
            </a:lvl8pPr>
            <a:lvl9pPr algn="l">
              <a:defRPr sz="5100" b="1">
                <a:solidFill>
                  <a:srgbClr val="FFFFFF"/>
                </a:solidFill>
                <a:latin typeface="Arial"/>
                <a:ea typeface="Arial"/>
                <a:cs typeface="Arial"/>
              </a:defRPr>
            </a:lvl9pPr>
          </a:lstStyle>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Three PM Quant Fund</a:t>
            </a:r>
          </a:p>
        </p:txBody>
      </p:sp>
      <p:sp>
        <p:nvSpPr>
          <p:cNvPr id="2" name="An AI-assisted paper investment platform">
            <a:extLst xmlns:a="http://schemas.openxmlformats.org/drawingml/2006/main">
              <a:ext uri="{FF2B5EF4-FFF2-40B4-BE49-F238E27FC236}">
                <a16:creationId xmlns:a16="http://schemas.microsoft.com/office/drawing/2014/main" id="{83C8A683-CAF9-4E3B-B323-45AE3EB0EE34}"/>
              </a:ext>
            </a:extLst>
          </p:cNvPr>
          <p:cNvSpPr>
            <a:spLocks xmlns:a="http://schemas.openxmlformats.org/drawingml/2006/main" noGrp="1"/>
          </p:cNvSpPr>
          <p:nvPr/>
        </p:nvSpPr>
        <p:spPr>
          <a:xfrm xmlns:a="http://schemas.openxmlformats.org/drawingml/2006/main">
            <a:off x="685800" y="28860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C9E1E8"/>
                </a:solidFill>
                <a:latin typeface="Arial"/>
                <a:ea typeface="Arial"/>
                <a:cs typeface="Arial"/>
              </a:defRPr>
            </a:defPPr>
            <a:lvl1pPr algn="l">
              <a:defRPr sz="2625" b="0">
                <a:solidFill>
                  <a:srgbClr val="C9E1E8"/>
                </a:solidFill>
                <a:latin typeface="Arial"/>
                <a:ea typeface="Arial"/>
                <a:cs typeface="Arial"/>
              </a:defRPr>
            </a:lvl1pPr>
            <a:lvl2pPr algn="l">
              <a:defRPr sz="2625" b="0">
                <a:solidFill>
                  <a:srgbClr val="C9E1E8"/>
                </a:solidFill>
                <a:latin typeface="Arial"/>
                <a:ea typeface="Arial"/>
                <a:cs typeface="Arial"/>
              </a:defRPr>
            </a:lvl2pPr>
            <a:lvl3pPr algn="l">
              <a:defRPr sz="2625" b="0">
                <a:solidFill>
                  <a:srgbClr val="C9E1E8"/>
                </a:solidFill>
                <a:latin typeface="Arial"/>
                <a:ea typeface="Arial"/>
                <a:cs typeface="Arial"/>
              </a:defRPr>
            </a:lvl3pPr>
            <a:lvl4pPr algn="l">
              <a:defRPr sz="2625" b="0">
                <a:solidFill>
                  <a:srgbClr val="C9E1E8"/>
                </a:solidFill>
                <a:latin typeface="Arial"/>
                <a:ea typeface="Arial"/>
                <a:cs typeface="Arial"/>
              </a:defRPr>
            </a:lvl4pPr>
            <a:lvl5pPr algn="l">
              <a:defRPr sz="2625" b="0">
                <a:solidFill>
                  <a:srgbClr val="C9E1E8"/>
                </a:solidFill>
                <a:latin typeface="Arial"/>
                <a:ea typeface="Arial"/>
                <a:cs typeface="Arial"/>
              </a:defRPr>
            </a:lvl5pPr>
            <a:lvl6pPr algn="l">
              <a:defRPr sz="2625" b="0">
                <a:solidFill>
                  <a:srgbClr val="C9E1E8"/>
                </a:solidFill>
                <a:latin typeface="Arial"/>
                <a:ea typeface="Arial"/>
                <a:cs typeface="Arial"/>
              </a:defRPr>
            </a:lvl6pPr>
            <a:lvl7pPr algn="l">
              <a:defRPr sz="2625" b="0">
                <a:solidFill>
                  <a:srgbClr val="C9E1E8"/>
                </a:solidFill>
                <a:latin typeface="Arial"/>
                <a:ea typeface="Arial"/>
                <a:cs typeface="Arial"/>
              </a:defRPr>
            </a:lvl7pPr>
            <a:lvl8pPr algn="l">
              <a:defRPr sz="2625" b="0">
                <a:solidFill>
                  <a:srgbClr val="C9E1E8"/>
                </a:solidFill>
                <a:latin typeface="Arial"/>
                <a:ea typeface="Arial"/>
                <a:cs typeface="Arial"/>
              </a:defRPr>
            </a:lvl8pPr>
            <a:lvl9pPr algn="l">
              <a:defRPr sz="2625" b="0">
                <a:solidFill>
                  <a:srgbClr val="C9E1E8"/>
                </a:solidFill>
                <a:latin typeface="Arial"/>
                <a:ea typeface="Arial"/>
                <a:cs typeface="Arial"/>
              </a:defRPr>
            </a:lvl9pPr>
          </a:lstStyle>
          <a:p xmlns:a="http://schemas.openxmlformats.org/drawingml/2006/main">
            <a:pPr algn="l">
              <a:defRPr sz="2625" b="0">
                <a:solidFill>
                  <a:srgbClr val="C9E1E8"/>
                </a:solidFill>
                <a:latin typeface="Arial"/>
                <a:ea typeface="Arial"/>
                <a:cs typeface="Arial"/>
              </a:defRPr>
            </a:pPr>
            <a:r>
              <a:rPr sz="2625" b="0">
                <a:solidFill>
                  <a:srgbClr val="C9E1E8"/>
                </a:solidFill>
                <a:latin typeface="Arial"/>
                <a:ea typeface="Arial"/>
                <a:cs typeface="Arial"/>
              </a:rPr>
              <a:t>An AI-assisted paper investment platform</a:t>
            </a:r>
          </a:p>
        </p:txBody>
      </p:sp>
      <p:sp>
        <p:nvSpPr>
          <p:cNvPr id="3" name="Equity momentum, daily pairs trading and crypto">
            <a:extLst xmlns:a="http://schemas.openxmlformats.org/drawingml/2006/main">
              <a:ext uri="{FF2B5EF4-FFF2-40B4-BE49-F238E27FC236}">
                <a16:creationId xmlns:a16="http://schemas.microsoft.com/office/drawing/2014/main" id="{324A6B29-7F78-4F85-A09E-FD9F35D820F3}"/>
              </a:ext>
            </a:extLst>
          </p:cNvPr>
          <p:cNvSpPr>
            <a:spLocks xmlns:a="http://schemas.openxmlformats.org/drawingml/2006/main" noGrp="1"/>
          </p:cNvSpPr>
          <p:nvPr/>
        </p:nvSpPr>
        <p:spPr>
          <a:xfrm xmlns:a="http://schemas.openxmlformats.org/drawingml/2006/main">
            <a:off x="685800" y="397192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Equity momentum, daily pairs trading and crypto</a:t>
            </a:r>
          </a:p>
        </p:txBody>
      </p:sp>
      <p:sp>
        <p:nvSpPr>
          <p:cNvPr id="4" name="FE5209 investor roadshow">
            <a:extLst xmlns:a="http://schemas.openxmlformats.org/drawingml/2006/main">
              <a:ext uri="{FF2B5EF4-FFF2-40B4-BE49-F238E27FC236}">
                <a16:creationId xmlns:a16="http://schemas.microsoft.com/office/drawing/2014/main" id="{FAE38CAC-86A8-426C-868A-F6185A2F70E4}"/>
              </a:ext>
            </a:extLst>
          </p:cNvPr>
          <p:cNvSpPr>
            <a:spLocks xmlns:a="http://schemas.openxmlformats.org/drawingml/2006/main" noGrp="1"/>
          </p:cNvSpPr>
          <p:nvPr/>
        </p:nvSpPr>
        <p:spPr>
          <a:xfrm xmlns:a="http://schemas.openxmlformats.org/drawingml/2006/main">
            <a:off x="685800" y="552450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9E1E8"/>
                </a:solidFill>
                <a:latin typeface="Arial"/>
                <a:ea typeface="Arial"/>
                <a:cs typeface="Arial"/>
              </a:defRPr>
            </a:defPPr>
            <a:lvl1pPr algn="l">
              <a:defRPr sz="1800" b="0">
                <a:solidFill>
                  <a:srgbClr val="C9E1E8"/>
                </a:solidFill>
                <a:latin typeface="Arial"/>
                <a:ea typeface="Arial"/>
                <a:cs typeface="Arial"/>
              </a:defRPr>
            </a:lvl1pPr>
            <a:lvl2pPr algn="l">
              <a:defRPr sz="1800" b="0">
                <a:solidFill>
                  <a:srgbClr val="C9E1E8"/>
                </a:solidFill>
                <a:latin typeface="Arial"/>
                <a:ea typeface="Arial"/>
                <a:cs typeface="Arial"/>
              </a:defRPr>
            </a:lvl2pPr>
            <a:lvl3pPr algn="l">
              <a:defRPr sz="1800" b="0">
                <a:solidFill>
                  <a:srgbClr val="C9E1E8"/>
                </a:solidFill>
                <a:latin typeface="Arial"/>
                <a:ea typeface="Arial"/>
                <a:cs typeface="Arial"/>
              </a:defRPr>
            </a:lvl3pPr>
            <a:lvl4pPr algn="l">
              <a:defRPr sz="1800" b="0">
                <a:solidFill>
                  <a:srgbClr val="C9E1E8"/>
                </a:solidFill>
                <a:latin typeface="Arial"/>
                <a:ea typeface="Arial"/>
                <a:cs typeface="Arial"/>
              </a:defRPr>
            </a:lvl4pPr>
            <a:lvl5pPr algn="l">
              <a:defRPr sz="1800" b="0">
                <a:solidFill>
                  <a:srgbClr val="C9E1E8"/>
                </a:solidFill>
                <a:latin typeface="Arial"/>
                <a:ea typeface="Arial"/>
                <a:cs typeface="Arial"/>
              </a:defRPr>
            </a:lvl5pPr>
            <a:lvl6pPr algn="l">
              <a:defRPr sz="1800" b="0">
                <a:solidFill>
                  <a:srgbClr val="C9E1E8"/>
                </a:solidFill>
                <a:latin typeface="Arial"/>
                <a:ea typeface="Arial"/>
                <a:cs typeface="Arial"/>
              </a:defRPr>
            </a:lvl6pPr>
            <a:lvl7pPr algn="l">
              <a:defRPr sz="1800" b="0">
                <a:solidFill>
                  <a:srgbClr val="C9E1E8"/>
                </a:solidFill>
                <a:latin typeface="Arial"/>
                <a:ea typeface="Arial"/>
                <a:cs typeface="Arial"/>
              </a:defRPr>
            </a:lvl7pPr>
            <a:lvl8pPr algn="l">
              <a:defRPr sz="1800" b="0">
                <a:solidFill>
                  <a:srgbClr val="C9E1E8"/>
                </a:solidFill>
                <a:latin typeface="Arial"/>
                <a:ea typeface="Arial"/>
                <a:cs typeface="Arial"/>
              </a:defRPr>
            </a:lvl8pPr>
            <a:lvl9pPr algn="l">
              <a:defRPr sz="1800" b="0">
                <a:solidFill>
                  <a:srgbClr val="C9E1E8"/>
                </a:solidFill>
                <a:latin typeface="Arial"/>
                <a:ea typeface="Arial"/>
                <a:cs typeface="Arial"/>
              </a:defRPr>
            </a:lvl9pPr>
          </a:lstStyle>
          <a:p xmlns:a="http://schemas.openxmlformats.org/drawingml/2006/main">
            <a:pPr algn="l">
              <a:defRPr sz="1800" b="0">
                <a:solidFill>
                  <a:srgbClr val="C9E1E8"/>
                </a:solidFill>
                <a:latin typeface="Arial"/>
                <a:ea typeface="Arial"/>
                <a:cs typeface="Arial"/>
              </a:defRPr>
            </a:pPr>
            <a:r>
              <a:rPr sz="1800" b="0">
                <a:solidFill>
                  <a:srgbClr val="C9E1E8"/>
                </a:solidFill>
                <a:latin typeface="Arial"/>
                <a:ea typeface="Arial"/>
                <a:cs typeface="Arial"/>
              </a:rPr>
              <a:t>FE5209 investor roadshow</a:t>
            </a:r>
          </a:p>
          <a:p xmlns:a="http://schemas.openxmlformats.org/drawingml/2006/main">
            <a:pPr algn="l">
              <a:defRPr sz="1800" b="0">
                <a:solidFill>
                  <a:srgbClr val="C9E1E8"/>
                </a:solidFill>
                <a:latin typeface="Arial"/>
                <a:ea typeface="Arial"/>
                <a:cs typeface="Arial"/>
              </a:defRPr>
            </a:pPr>
            <a:r>
              <a:rPr sz="1800" b="0">
                <a:solidFill>
                  <a:srgbClr val="C9E1E8"/>
                </a:solidFill>
                <a:latin typeface="Arial"/>
                <a:ea typeface="Arial"/>
                <a:cs typeface="Arial"/>
              </a:rPr>
              <a:t>17 October 2026</a:t>
            </a:r>
          </a:p>
        </p:txBody>
      </p:sp>
    </p:spTree>
    <p:extLst>
      <p:ext uri="{BB962C8B-B14F-4D97-AF65-F5344CB8AC3E}">
        <p14:creationId xmlns:p14="http://schemas.microsoft.com/office/powerpoint/2010/main" val="2992825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he investor opportunity">
            <a:extLst xmlns:a="http://schemas.openxmlformats.org/drawingml/2006/main">
              <a:ext uri="{FF2B5EF4-FFF2-40B4-BE49-F238E27FC236}">
                <a16:creationId xmlns:a16="http://schemas.microsoft.com/office/drawing/2014/main" id="{17A7350D-5FB0-4C84-99DB-910B6C9621FF}"/>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The investor opportunity</a:t>
            </a:r>
          </a:p>
        </p:txBody>
      </p:sp>
      <p:sp>
        <p:nvSpPr>
          <p:cNvPr id="2" name="A proposed way to review several quantitative strategies as one accountable fund">
            <a:extLst xmlns:a="http://schemas.openxmlformats.org/drawingml/2006/main">
              <a:ext uri="{FF2B5EF4-FFF2-40B4-BE49-F238E27FC236}">
                <a16:creationId xmlns:a16="http://schemas.microsoft.com/office/drawing/2014/main" id="{2B064F08-0682-45B1-833F-3BFD9500D0CF}"/>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A proposed way to review several quantitative strategies as one accountable fund</a:t>
            </a:r>
          </a:p>
        </p:txBody>
      </p:sp>
      <p:sp>
        <p:nvSpPr>
          <p:cNvPr id="3" name="02">
            <a:extLst xmlns:a="http://schemas.openxmlformats.org/drawingml/2006/main">
              <a:ext uri="{FF2B5EF4-FFF2-40B4-BE49-F238E27FC236}">
                <a16:creationId xmlns:a16="http://schemas.microsoft.com/office/drawing/2014/main" id="{DA770CBB-67DF-4931-9C97-C41E54F79432}"/>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02</a:t>
            </a:r>
          </a:p>
        </p:txBody>
      </p:sp>
      <p:sp>
        <p:nvSpPr>
          <p:cNvPr id="4" name="Investment problem">
            <a:extLst xmlns:a="http://schemas.openxmlformats.org/drawingml/2006/main">
              <a:ext uri="{FF2B5EF4-FFF2-40B4-BE49-F238E27FC236}">
                <a16:creationId xmlns:a16="http://schemas.microsoft.com/office/drawing/2014/main" id="{6552C312-8118-44FA-A1B3-1DC8906473A5}"/>
              </a:ext>
            </a:extLst>
          </p:cNvPr>
          <p:cNvSpPr>
            <a:spLocks xmlns:a="http://schemas.openxmlformats.org/drawingml/2006/main" noGrp="1"/>
          </p:cNvSpPr>
          <p:nvPr/>
        </p:nvSpPr>
        <p:spPr>
          <a:xfrm xmlns:a="http://schemas.openxmlformats.org/drawingml/2006/main">
            <a:off x="685800" y="20383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A3A"/>
                </a:solidFill>
                <a:latin typeface="Arial"/>
                <a:ea typeface="Arial"/>
                <a:cs typeface="Arial"/>
              </a:defRPr>
            </a:defPPr>
            <a:lvl1pPr algn="l">
              <a:defRPr sz="2325" b="1">
                <a:solidFill>
                  <a:srgbClr val="162A3A"/>
                </a:solidFill>
                <a:latin typeface="Arial"/>
                <a:ea typeface="Arial"/>
                <a:cs typeface="Arial"/>
              </a:defRPr>
            </a:lvl1pPr>
            <a:lvl2pPr algn="l">
              <a:defRPr sz="2325" b="1">
                <a:solidFill>
                  <a:srgbClr val="162A3A"/>
                </a:solidFill>
                <a:latin typeface="Arial"/>
                <a:ea typeface="Arial"/>
                <a:cs typeface="Arial"/>
              </a:defRPr>
            </a:lvl2pPr>
            <a:lvl3pPr algn="l">
              <a:defRPr sz="2325" b="1">
                <a:solidFill>
                  <a:srgbClr val="162A3A"/>
                </a:solidFill>
                <a:latin typeface="Arial"/>
                <a:ea typeface="Arial"/>
                <a:cs typeface="Arial"/>
              </a:defRPr>
            </a:lvl3pPr>
            <a:lvl4pPr algn="l">
              <a:defRPr sz="2325" b="1">
                <a:solidFill>
                  <a:srgbClr val="162A3A"/>
                </a:solidFill>
                <a:latin typeface="Arial"/>
                <a:ea typeface="Arial"/>
                <a:cs typeface="Arial"/>
              </a:defRPr>
            </a:lvl4pPr>
            <a:lvl5pPr algn="l">
              <a:defRPr sz="2325" b="1">
                <a:solidFill>
                  <a:srgbClr val="162A3A"/>
                </a:solidFill>
                <a:latin typeface="Arial"/>
                <a:ea typeface="Arial"/>
                <a:cs typeface="Arial"/>
              </a:defRPr>
            </a:lvl5pPr>
            <a:lvl6pPr algn="l">
              <a:defRPr sz="2325" b="1">
                <a:solidFill>
                  <a:srgbClr val="162A3A"/>
                </a:solidFill>
                <a:latin typeface="Arial"/>
                <a:ea typeface="Arial"/>
                <a:cs typeface="Arial"/>
              </a:defRPr>
            </a:lvl6pPr>
            <a:lvl7pPr algn="l">
              <a:defRPr sz="2325" b="1">
                <a:solidFill>
                  <a:srgbClr val="162A3A"/>
                </a:solidFill>
                <a:latin typeface="Arial"/>
                <a:ea typeface="Arial"/>
                <a:cs typeface="Arial"/>
              </a:defRPr>
            </a:lvl7pPr>
            <a:lvl8pPr algn="l">
              <a:defRPr sz="2325" b="1">
                <a:solidFill>
                  <a:srgbClr val="162A3A"/>
                </a:solidFill>
                <a:latin typeface="Arial"/>
                <a:ea typeface="Arial"/>
                <a:cs typeface="Arial"/>
              </a:defRPr>
            </a:lvl8pPr>
            <a:lvl9pPr algn="l">
              <a:defRPr sz="2325" b="1">
                <a:solidFill>
                  <a:srgbClr val="162A3A"/>
                </a:solidFill>
                <a:latin typeface="Arial"/>
                <a:ea typeface="Arial"/>
                <a:cs typeface="Arial"/>
              </a:defRPr>
            </a:lvl9pPr>
          </a:lstStyle>
          <a:p xmlns:a="http://schemas.openxmlformats.org/drawingml/2006/main">
            <a:pPr algn="l">
              <a:defRPr sz="2325" b="1">
                <a:solidFill>
                  <a:srgbClr val="162A3A"/>
                </a:solidFill>
                <a:latin typeface="Arial"/>
                <a:ea typeface="Arial"/>
                <a:cs typeface="Arial"/>
              </a:defRPr>
            </a:pPr>
            <a:r>
              <a:rPr sz="2325" b="1">
                <a:solidFill>
                  <a:srgbClr val="162A3A"/>
                </a:solidFill>
                <a:latin typeface="Arial"/>
                <a:ea typeface="Arial"/>
                <a:cs typeface="Arial"/>
              </a:rPr>
              <a:t>Investment problem</a:t>
            </a:r>
          </a:p>
        </p:txBody>
      </p:sp>
      <p:sp>
        <p:nvSpPr>
          <p:cNvPr id="5" name="">
            <a:extLst xmlns:a="http://schemas.openxmlformats.org/drawingml/2006/main">
              <a:ext uri="{FF2B5EF4-FFF2-40B4-BE49-F238E27FC236}">
                <a16:creationId xmlns:a16="http://schemas.microsoft.com/office/drawing/2014/main" id="{C8D77172-A610-4FCF-82BF-2B66DCA28BC1}"/>
              </a:ext>
            </a:extLst>
          </p:cNvPr>
          <p:cNvSpPr>
            <a:spLocks xmlns:a="http://schemas.openxmlformats.org/drawingml/2006/main" noGrp="1"/>
          </p:cNvSpPr>
          <p:nvPr/>
        </p:nvSpPr>
        <p:spPr>
          <a:xfrm xmlns:a="http://schemas.openxmlformats.org/drawingml/2006/main">
            <a:off x="685800" y="2686050"/>
            <a:ext cx="50482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2A3A"/>
                </a:solidFill>
                <a:latin typeface="Arial"/>
                <a:ea typeface="Arial"/>
                <a:cs typeface="Arial"/>
              </a:defRPr>
            </a:defPPr>
            <a:lvl1pPr algn="l">
              <a:defRPr sz="2100" b="0">
                <a:solidFill>
                  <a:srgbClr val="162A3A"/>
                </a:solidFill>
                <a:latin typeface="Arial"/>
                <a:ea typeface="Arial"/>
                <a:cs typeface="Arial"/>
              </a:defRPr>
            </a:lvl1pPr>
            <a:lvl2pPr algn="l">
              <a:defRPr sz="2100" b="0">
                <a:solidFill>
                  <a:srgbClr val="162A3A"/>
                </a:solidFill>
                <a:latin typeface="Arial"/>
                <a:ea typeface="Arial"/>
                <a:cs typeface="Arial"/>
              </a:defRPr>
            </a:lvl2pPr>
            <a:lvl3pPr algn="l">
              <a:defRPr sz="2100" b="0">
                <a:solidFill>
                  <a:srgbClr val="162A3A"/>
                </a:solidFill>
                <a:latin typeface="Arial"/>
                <a:ea typeface="Arial"/>
                <a:cs typeface="Arial"/>
              </a:defRPr>
            </a:lvl3pPr>
            <a:lvl4pPr algn="l">
              <a:defRPr sz="2100" b="0">
                <a:solidFill>
                  <a:srgbClr val="162A3A"/>
                </a:solidFill>
                <a:latin typeface="Arial"/>
                <a:ea typeface="Arial"/>
                <a:cs typeface="Arial"/>
              </a:defRPr>
            </a:lvl4pPr>
            <a:lvl5pPr algn="l">
              <a:defRPr sz="2100" b="0">
                <a:solidFill>
                  <a:srgbClr val="162A3A"/>
                </a:solidFill>
                <a:latin typeface="Arial"/>
                <a:ea typeface="Arial"/>
                <a:cs typeface="Arial"/>
              </a:defRPr>
            </a:lvl5pPr>
            <a:lvl6pPr algn="l">
              <a:defRPr sz="2100" b="0">
                <a:solidFill>
                  <a:srgbClr val="162A3A"/>
                </a:solidFill>
                <a:latin typeface="Arial"/>
                <a:ea typeface="Arial"/>
                <a:cs typeface="Arial"/>
              </a:defRPr>
            </a:lvl6pPr>
            <a:lvl7pPr algn="l">
              <a:defRPr sz="2100" b="0">
                <a:solidFill>
                  <a:srgbClr val="162A3A"/>
                </a:solidFill>
                <a:latin typeface="Arial"/>
                <a:ea typeface="Arial"/>
                <a:cs typeface="Arial"/>
              </a:defRPr>
            </a:lvl7pPr>
            <a:lvl8pPr algn="l">
              <a:defRPr sz="2100" b="0">
                <a:solidFill>
                  <a:srgbClr val="162A3A"/>
                </a:solidFill>
                <a:latin typeface="Arial"/>
                <a:ea typeface="Arial"/>
                <a:cs typeface="Arial"/>
              </a:defRPr>
            </a:lvl8pPr>
            <a:lvl9pPr algn="l">
              <a:defRPr sz="2100" b="0">
                <a:solidFill>
                  <a:srgbClr val="162A3A"/>
                </a:solidFill>
                <a:latin typeface="Arial"/>
                <a:ea typeface="Arial"/>
                <a:cs typeface="Arial"/>
              </a:defRPr>
            </a:lvl9pPr>
          </a:lstStyle>
          <a:p xmlns:a="http://schemas.openxmlformats.org/drawingml/2006/main">
            <a:pPr marL="228600" indent="-114300" algn="l">
              <a:spcAft>
                <a:spcPts val="1300"/>
              </a:spcAft>
              <a:buChar char="•"/>
              <a:defRPr sz="2100" b="0">
                <a:solidFill>
                  <a:srgbClr val="162A3A"/>
                </a:solidFill>
                <a:latin typeface="Arial"/>
                <a:ea typeface="Arial"/>
                <a:cs typeface="Arial"/>
              </a:defRPr>
            </a:pPr>
            <a:r>
              <a:t>A single trading style can struggle when conditions change</a:t>
            </a:r>
          </a:p>
          <a:p xmlns:a="http://schemas.openxmlformats.org/drawingml/2006/main">
            <a:pPr marL="228600" indent="-114300" algn="l">
              <a:spcAft>
                <a:spcPts val="1300"/>
              </a:spcAft>
              <a:buChar char="•"/>
              <a:defRPr sz="2100" b="0">
                <a:solidFill>
                  <a:srgbClr val="162A3A"/>
                </a:solidFill>
                <a:latin typeface="Arial"/>
                <a:ea typeface="Arial"/>
                <a:cs typeface="Arial"/>
              </a:defRPr>
            </a:pPr>
            <a:r>
              <a:t>Separate strategy reports can hide overlapping exposure</a:t>
            </a:r>
          </a:p>
          <a:p xmlns:a="http://schemas.openxmlformats.org/drawingml/2006/main">
            <a:pPr marL="228600" indent="-114300" algn="l">
              <a:spcAft>
                <a:spcPts val="1300"/>
              </a:spcAft>
              <a:buChar char="•"/>
              <a:defRPr sz="2100" b="0">
                <a:solidFill>
                  <a:srgbClr val="162A3A"/>
                </a:solidFill>
                <a:latin typeface="Arial"/>
                <a:ea typeface="Arial"/>
                <a:cs typeface="Arial"/>
              </a:defRPr>
            </a:pPr>
            <a:r>
              <a:t>Investors need to understand why capital is at risk</a:t>
            </a:r>
          </a:p>
        </p:txBody>
      </p:sp>
      <p:sp>
        <p:nvSpPr>
          <p:cNvPr id="6" name="Our fund design">
            <a:extLst xmlns:a="http://schemas.openxmlformats.org/drawingml/2006/main">
              <a:ext uri="{FF2B5EF4-FFF2-40B4-BE49-F238E27FC236}">
                <a16:creationId xmlns:a16="http://schemas.microsoft.com/office/drawing/2014/main" id="{0CC7CFA5-ADBD-468B-B18F-EF8E38389480}"/>
              </a:ext>
            </a:extLst>
          </p:cNvPr>
          <p:cNvSpPr>
            <a:spLocks xmlns:a="http://schemas.openxmlformats.org/drawingml/2006/main" noGrp="1"/>
          </p:cNvSpPr>
          <p:nvPr/>
        </p:nvSpPr>
        <p:spPr>
          <a:xfrm xmlns:a="http://schemas.openxmlformats.org/drawingml/2006/main">
            <a:off x="6457950" y="20383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A3A"/>
                </a:solidFill>
                <a:latin typeface="Arial"/>
                <a:ea typeface="Arial"/>
                <a:cs typeface="Arial"/>
              </a:defRPr>
            </a:defPPr>
            <a:lvl1pPr algn="l">
              <a:defRPr sz="2325" b="1">
                <a:solidFill>
                  <a:srgbClr val="162A3A"/>
                </a:solidFill>
                <a:latin typeface="Arial"/>
                <a:ea typeface="Arial"/>
                <a:cs typeface="Arial"/>
              </a:defRPr>
            </a:lvl1pPr>
            <a:lvl2pPr algn="l">
              <a:defRPr sz="2325" b="1">
                <a:solidFill>
                  <a:srgbClr val="162A3A"/>
                </a:solidFill>
                <a:latin typeface="Arial"/>
                <a:ea typeface="Arial"/>
                <a:cs typeface="Arial"/>
              </a:defRPr>
            </a:lvl2pPr>
            <a:lvl3pPr algn="l">
              <a:defRPr sz="2325" b="1">
                <a:solidFill>
                  <a:srgbClr val="162A3A"/>
                </a:solidFill>
                <a:latin typeface="Arial"/>
                <a:ea typeface="Arial"/>
                <a:cs typeface="Arial"/>
              </a:defRPr>
            </a:lvl3pPr>
            <a:lvl4pPr algn="l">
              <a:defRPr sz="2325" b="1">
                <a:solidFill>
                  <a:srgbClr val="162A3A"/>
                </a:solidFill>
                <a:latin typeface="Arial"/>
                <a:ea typeface="Arial"/>
                <a:cs typeface="Arial"/>
              </a:defRPr>
            </a:lvl4pPr>
            <a:lvl5pPr algn="l">
              <a:defRPr sz="2325" b="1">
                <a:solidFill>
                  <a:srgbClr val="162A3A"/>
                </a:solidFill>
                <a:latin typeface="Arial"/>
                <a:ea typeface="Arial"/>
                <a:cs typeface="Arial"/>
              </a:defRPr>
            </a:lvl5pPr>
            <a:lvl6pPr algn="l">
              <a:defRPr sz="2325" b="1">
                <a:solidFill>
                  <a:srgbClr val="162A3A"/>
                </a:solidFill>
                <a:latin typeface="Arial"/>
                <a:ea typeface="Arial"/>
                <a:cs typeface="Arial"/>
              </a:defRPr>
            </a:lvl6pPr>
            <a:lvl7pPr algn="l">
              <a:defRPr sz="2325" b="1">
                <a:solidFill>
                  <a:srgbClr val="162A3A"/>
                </a:solidFill>
                <a:latin typeface="Arial"/>
                <a:ea typeface="Arial"/>
                <a:cs typeface="Arial"/>
              </a:defRPr>
            </a:lvl7pPr>
            <a:lvl8pPr algn="l">
              <a:defRPr sz="2325" b="1">
                <a:solidFill>
                  <a:srgbClr val="162A3A"/>
                </a:solidFill>
                <a:latin typeface="Arial"/>
                <a:ea typeface="Arial"/>
                <a:cs typeface="Arial"/>
              </a:defRPr>
            </a:lvl8pPr>
            <a:lvl9pPr algn="l">
              <a:defRPr sz="2325" b="1">
                <a:solidFill>
                  <a:srgbClr val="162A3A"/>
                </a:solidFill>
                <a:latin typeface="Arial"/>
                <a:ea typeface="Arial"/>
                <a:cs typeface="Arial"/>
              </a:defRPr>
            </a:lvl9pPr>
          </a:lstStyle>
          <a:p xmlns:a="http://schemas.openxmlformats.org/drawingml/2006/main">
            <a:pPr algn="l">
              <a:defRPr sz="2325" b="1">
                <a:solidFill>
                  <a:srgbClr val="162A3A"/>
                </a:solidFill>
                <a:latin typeface="Arial"/>
                <a:ea typeface="Arial"/>
                <a:cs typeface="Arial"/>
              </a:defRPr>
            </a:pPr>
            <a:r>
              <a:rPr sz="2325" b="1">
                <a:solidFill>
                  <a:srgbClr val="162A3A"/>
                </a:solidFill>
                <a:latin typeface="Arial"/>
                <a:ea typeface="Arial"/>
                <a:cs typeface="Arial"/>
              </a:rPr>
              <a:t>Our fund design</a:t>
            </a:r>
          </a:p>
        </p:txBody>
      </p:sp>
      <p:sp>
        <p:nvSpPr>
          <p:cNvPr id="7" name="">
            <a:extLst xmlns:a="http://schemas.openxmlformats.org/drawingml/2006/main">
              <a:ext uri="{FF2B5EF4-FFF2-40B4-BE49-F238E27FC236}">
                <a16:creationId xmlns:a16="http://schemas.microsoft.com/office/drawing/2014/main" id="{72DECE8F-6D81-4CA8-BF23-676BEB3539C1}"/>
              </a:ext>
            </a:extLst>
          </p:cNvPr>
          <p:cNvSpPr>
            <a:spLocks xmlns:a="http://schemas.openxmlformats.org/drawingml/2006/main" noGrp="1"/>
          </p:cNvSpPr>
          <p:nvPr/>
        </p:nvSpPr>
        <p:spPr>
          <a:xfrm xmlns:a="http://schemas.openxmlformats.org/drawingml/2006/main">
            <a:off x="6457950" y="2686050"/>
            <a:ext cx="50482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62A3A"/>
                </a:solidFill>
                <a:latin typeface="Arial"/>
                <a:ea typeface="Arial"/>
                <a:cs typeface="Arial"/>
              </a:defRPr>
            </a:defPPr>
            <a:lvl1pPr algn="l">
              <a:defRPr sz="2100" b="0">
                <a:solidFill>
                  <a:srgbClr val="162A3A"/>
                </a:solidFill>
                <a:latin typeface="Arial"/>
                <a:ea typeface="Arial"/>
                <a:cs typeface="Arial"/>
              </a:defRPr>
            </a:lvl1pPr>
            <a:lvl2pPr algn="l">
              <a:defRPr sz="2100" b="0">
                <a:solidFill>
                  <a:srgbClr val="162A3A"/>
                </a:solidFill>
                <a:latin typeface="Arial"/>
                <a:ea typeface="Arial"/>
                <a:cs typeface="Arial"/>
              </a:defRPr>
            </a:lvl2pPr>
            <a:lvl3pPr algn="l">
              <a:defRPr sz="2100" b="0">
                <a:solidFill>
                  <a:srgbClr val="162A3A"/>
                </a:solidFill>
                <a:latin typeface="Arial"/>
                <a:ea typeface="Arial"/>
                <a:cs typeface="Arial"/>
              </a:defRPr>
            </a:lvl3pPr>
            <a:lvl4pPr algn="l">
              <a:defRPr sz="2100" b="0">
                <a:solidFill>
                  <a:srgbClr val="162A3A"/>
                </a:solidFill>
                <a:latin typeface="Arial"/>
                <a:ea typeface="Arial"/>
                <a:cs typeface="Arial"/>
              </a:defRPr>
            </a:lvl4pPr>
            <a:lvl5pPr algn="l">
              <a:defRPr sz="2100" b="0">
                <a:solidFill>
                  <a:srgbClr val="162A3A"/>
                </a:solidFill>
                <a:latin typeface="Arial"/>
                <a:ea typeface="Arial"/>
                <a:cs typeface="Arial"/>
              </a:defRPr>
            </a:lvl5pPr>
            <a:lvl6pPr algn="l">
              <a:defRPr sz="2100" b="0">
                <a:solidFill>
                  <a:srgbClr val="162A3A"/>
                </a:solidFill>
                <a:latin typeface="Arial"/>
                <a:ea typeface="Arial"/>
                <a:cs typeface="Arial"/>
              </a:defRPr>
            </a:lvl6pPr>
            <a:lvl7pPr algn="l">
              <a:defRPr sz="2100" b="0">
                <a:solidFill>
                  <a:srgbClr val="162A3A"/>
                </a:solidFill>
                <a:latin typeface="Arial"/>
                <a:ea typeface="Arial"/>
                <a:cs typeface="Arial"/>
              </a:defRPr>
            </a:lvl7pPr>
            <a:lvl8pPr algn="l">
              <a:defRPr sz="2100" b="0">
                <a:solidFill>
                  <a:srgbClr val="162A3A"/>
                </a:solidFill>
                <a:latin typeface="Arial"/>
                <a:ea typeface="Arial"/>
                <a:cs typeface="Arial"/>
              </a:defRPr>
            </a:lvl8pPr>
            <a:lvl9pPr algn="l">
              <a:defRPr sz="2100" b="0">
                <a:solidFill>
                  <a:srgbClr val="162A3A"/>
                </a:solidFill>
                <a:latin typeface="Arial"/>
                <a:ea typeface="Arial"/>
                <a:cs typeface="Arial"/>
              </a:defRPr>
            </a:lvl9pPr>
          </a:lstStyle>
          <a:p xmlns:a="http://schemas.openxmlformats.org/drawingml/2006/main">
            <a:pPr marL="228600" indent="-114300" algn="l">
              <a:spcAft>
                <a:spcPts val="1300"/>
              </a:spcAft>
              <a:buChar char="•"/>
              <a:defRPr sz="2100" b="0">
                <a:solidFill>
                  <a:srgbClr val="162A3A"/>
                </a:solidFill>
                <a:latin typeface="Arial"/>
                <a:ea typeface="Arial"/>
                <a:cs typeface="Arial"/>
              </a:defRPr>
            </a:pPr>
            <a:r>
              <a:t>Three PM mandates with separate virtual accounts</a:t>
            </a:r>
          </a:p>
          <a:p xmlns:a="http://schemas.openxmlformats.org/drawingml/2006/main">
            <a:pPr marL="228600" indent="-114300" algn="l">
              <a:spcAft>
                <a:spcPts val="1300"/>
              </a:spcAft>
              <a:buChar char="•"/>
              <a:defRPr sz="2100" b="0">
                <a:solidFill>
                  <a:srgbClr val="162A3A"/>
                </a:solidFill>
                <a:latin typeface="Arial"/>
                <a:ea typeface="Arial"/>
                <a:cs typeface="Arial"/>
              </a:defRPr>
            </a:pPr>
            <a:r>
              <a:t>One Investment Committee and common risk controls</a:t>
            </a:r>
          </a:p>
          <a:p xmlns:a="http://schemas.openxmlformats.org/drawingml/2006/main">
            <a:pPr marL="228600" indent="-114300" algn="l">
              <a:spcAft>
                <a:spcPts val="1300"/>
              </a:spcAft>
              <a:buChar char="•"/>
              <a:defRPr sz="2100" b="0">
                <a:solidFill>
                  <a:srgbClr val="162A3A"/>
                </a:solidFill>
                <a:latin typeface="Arial"/>
                <a:ea typeface="Arial"/>
                <a:cs typeface="Arial"/>
              </a:defRPr>
            </a:pPr>
            <a:r>
              <a:t>AI explanations linked to computed strategy evidence</a:t>
            </a:r>
          </a:p>
        </p:txBody>
      </p:sp>
      <p:sp>
        <p:nvSpPr>
          <p:cNvPr id="8" name="Diversification and better investor understanding are hypotheses to test">
            <a:extLst xmlns:a="http://schemas.openxmlformats.org/drawingml/2006/main">
              <a:ext uri="{FF2B5EF4-FFF2-40B4-BE49-F238E27FC236}">
                <a16:creationId xmlns:a16="http://schemas.microsoft.com/office/drawing/2014/main" id="{7F704343-33CA-4825-8CCF-544F6DC395D8}"/>
              </a:ext>
            </a:extLst>
          </p:cNvPr>
          <p:cNvSpPr>
            <a:spLocks xmlns:a="http://schemas.openxmlformats.org/drawingml/2006/main" noGrp="1"/>
          </p:cNvSpPr>
          <p:nvPr/>
        </p:nvSpPr>
        <p:spPr>
          <a:xfrm xmlns:a="http://schemas.openxmlformats.org/drawingml/2006/main">
            <a:off x="685800" y="59150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E8B"/>
                </a:solidFill>
                <a:latin typeface="Arial"/>
                <a:ea typeface="Arial"/>
                <a:cs typeface="Arial"/>
              </a:defRPr>
            </a:defPPr>
            <a:lvl1pPr algn="l">
              <a:defRPr sz="1875" b="1">
                <a:solidFill>
                  <a:srgbClr val="087E8B"/>
                </a:solidFill>
                <a:latin typeface="Arial"/>
                <a:ea typeface="Arial"/>
                <a:cs typeface="Arial"/>
              </a:defRPr>
            </a:lvl1pPr>
            <a:lvl2pPr algn="l">
              <a:defRPr sz="1875" b="1">
                <a:solidFill>
                  <a:srgbClr val="087E8B"/>
                </a:solidFill>
                <a:latin typeface="Arial"/>
                <a:ea typeface="Arial"/>
                <a:cs typeface="Arial"/>
              </a:defRPr>
            </a:lvl2pPr>
            <a:lvl3pPr algn="l">
              <a:defRPr sz="1875" b="1">
                <a:solidFill>
                  <a:srgbClr val="087E8B"/>
                </a:solidFill>
                <a:latin typeface="Arial"/>
                <a:ea typeface="Arial"/>
                <a:cs typeface="Arial"/>
              </a:defRPr>
            </a:lvl3pPr>
            <a:lvl4pPr algn="l">
              <a:defRPr sz="1875" b="1">
                <a:solidFill>
                  <a:srgbClr val="087E8B"/>
                </a:solidFill>
                <a:latin typeface="Arial"/>
                <a:ea typeface="Arial"/>
                <a:cs typeface="Arial"/>
              </a:defRPr>
            </a:lvl4pPr>
            <a:lvl5pPr algn="l">
              <a:defRPr sz="1875" b="1">
                <a:solidFill>
                  <a:srgbClr val="087E8B"/>
                </a:solidFill>
                <a:latin typeface="Arial"/>
                <a:ea typeface="Arial"/>
                <a:cs typeface="Arial"/>
              </a:defRPr>
            </a:lvl5pPr>
            <a:lvl6pPr algn="l">
              <a:defRPr sz="1875" b="1">
                <a:solidFill>
                  <a:srgbClr val="087E8B"/>
                </a:solidFill>
                <a:latin typeface="Arial"/>
                <a:ea typeface="Arial"/>
                <a:cs typeface="Arial"/>
              </a:defRPr>
            </a:lvl6pPr>
            <a:lvl7pPr algn="l">
              <a:defRPr sz="1875" b="1">
                <a:solidFill>
                  <a:srgbClr val="087E8B"/>
                </a:solidFill>
                <a:latin typeface="Arial"/>
                <a:ea typeface="Arial"/>
                <a:cs typeface="Arial"/>
              </a:defRPr>
            </a:lvl7pPr>
            <a:lvl8pPr algn="l">
              <a:defRPr sz="1875" b="1">
                <a:solidFill>
                  <a:srgbClr val="087E8B"/>
                </a:solidFill>
                <a:latin typeface="Arial"/>
                <a:ea typeface="Arial"/>
                <a:cs typeface="Arial"/>
              </a:defRPr>
            </a:lvl8pPr>
            <a:lvl9pPr algn="l">
              <a:defRPr sz="1875" b="1">
                <a:solidFill>
                  <a:srgbClr val="087E8B"/>
                </a:solidFill>
                <a:latin typeface="Arial"/>
                <a:ea typeface="Arial"/>
                <a:cs typeface="Arial"/>
              </a:defRPr>
            </a:lvl9pPr>
          </a:lstStyle>
          <a:p xmlns:a="http://schemas.openxmlformats.org/drawingml/2006/main">
            <a:pPr algn="l">
              <a:defRPr sz="1875" b="1">
                <a:solidFill>
                  <a:srgbClr val="087E8B"/>
                </a:solidFill>
                <a:latin typeface="Arial"/>
                <a:ea typeface="Arial"/>
                <a:cs typeface="Arial"/>
              </a:defRPr>
            </a:pPr>
            <a:r>
              <a:rPr sz="1875" b="1">
                <a:solidFill>
                  <a:srgbClr val="087E8B"/>
                </a:solidFill>
                <a:latin typeface="Arial"/>
                <a:ea typeface="Arial"/>
                <a:cs typeface="Arial"/>
              </a:rPr>
              <a:t>Diversification and better investor understanding are hypotheses to test</a:t>
            </a:r>
          </a:p>
        </p:txBody>
      </p:sp>
    </p:spTree>
    <p:extLst>
      <p:ext uri="{BB962C8B-B14F-4D97-AF65-F5344CB8AC3E}">
        <p14:creationId xmlns:p14="http://schemas.microsoft.com/office/powerpoint/2010/main" val="4466659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7F803B43-9E9B-4C98-AB04-34C8CD435D5B}"/>
              </a:ext>
            </a:extLst>
          </p:cNvPr>
          <p:cNvCxnSpPr>
            <a:stCxn xmlns:a="http://schemas.openxmlformats.org/drawingml/2006/main" id="6" idx="2"/>
            <a:endCxn xmlns:a="http://schemas.openxmlformats.org/drawingml/2006/main" id="9" idx="0"/>
          </p:cNvCxnSpPr>
          <p:nvPr/>
        </p:nvCxnSpPr>
        <p:spPr>
          <a:xfrm xmlns:a="http://schemas.openxmlformats.org/drawingml/2006/main">
            <a:off x="6096000" y="3819525"/>
            <a:ext cx="3790950" cy="781050"/>
          </a:xfrm>
          <a:prstGeom xmlns:a="http://schemas.openxmlformats.org/drawingml/2006/main" prst="bentConnector4">
            <a:avLst>
              <a:gd name="adj1" fmla="val 0"/>
              <a:gd name="adj2" fmla="val 50000"/>
            </a:avLst>
          </a:prstGeom>
          <a:ln xmlns:a="http://schemas.openxmlformats.org/drawingml/2006/main" w="16193">
            <a:solidFill>
              <a:srgbClr val="80909B"/>
            </a:solidFill>
            <a:tailEnd type="triangle" w="sm" len="sm"/>
          </a:ln>
        </p:spPr>
      </p:cxnSp>
      <p:cxnSp>
        <p:nvCxnSpPr>
          <p:cNvPr id="13" name="">
            <a:extLst xmlns:a="http://schemas.openxmlformats.org/drawingml/2006/main">
              <a:ext uri="{FF2B5EF4-FFF2-40B4-BE49-F238E27FC236}">
                <a16:creationId xmlns:a16="http://schemas.microsoft.com/office/drawing/2014/main" id="{A8F5079D-6589-4976-A249-A5D2E7B5F3A2}"/>
              </a:ext>
            </a:extLst>
          </p:cNvPr>
          <p:cNvCxnSpPr>
            <a:stCxn xmlns:a="http://schemas.openxmlformats.org/drawingml/2006/main" id="6" idx="2"/>
            <a:endCxn xmlns:a="http://schemas.openxmlformats.org/drawingml/2006/main" id="8" idx="0"/>
          </p:cNvCxnSpPr>
          <p:nvPr/>
        </p:nvCxnSpPr>
        <p:spPr>
          <a:xfrm xmlns:a="http://schemas.openxmlformats.org/drawingml/2006/main">
            <a:off x="6096000" y="3819525"/>
            <a:ext cx="0" cy="781050"/>
          </a:xfrm>
          <a:prstGeom xmlns:a="http://schemas.openxmlformats.org/drawingml/2006/main" prst="straightConnector1">
            <a:avLst/>
          </a:prstGeom>
          <a:ln xmlns:a="http://schemas.openxmlformats.org/drawingml/2006/main" w="16193">
            <a:solidFill>
              <a:srgbClr val="80909B"/>
            </a:solidFill>
            <a:tailEnd type="triangle" w="sm" len="sm"/>
          </a:ln>
        </p:spPr>
      </p:cxnSp>
      <p:cxnSp>
        <p:nvCxnSpPr>
          <p:cNvPr id="12" name="">
            <a:extLst xmlns:a="http://schemas.openxmlformats.org/drawingml/2006/main">
              <a:ext uri="{FF2B5EF4-FFF2-40B4-BE49-F238E27FC236}">
                <a16:creationId xmlns:a16="http://schemas.microsoft.com/office/drawing/2014/main" id="{18ED6468-017D-417E-8060-955A71D1E35A}"/>
              </a:ext>
            </a:extLst>
          </p:cNvPr>
          <p:cNvCxnSpPr>
            <a:stCxn xmlns:a="http://schemas.openxmlformats.org/drawingml/2006/main" id="6" idx="2"/>
            <a:endCxn xmlns:a="http://schemas.openxmlformats.org/drawingml/2006/main" id="7" idx="0"/>
          </p:cNvCxnSpPr>
          <p:nvPr/>
        </p:nvCxnSpPr>
        <p:spPr>
          <a:xfrm xmlns:a="http://schemas.openxmlformats.org/drawingml/2006/main" flipH="1">
            <a:off x="2305050" y="3819525"/>
            <a:ext cx="3790950" cy="781050"/>
          </a:xfrm>
          <a:prstGeom xmlns:a="http://schemas.openxmlformats.org/drawingml/2006/main" prst="bentConnector4">
            <a:avLst>
              <a:gd name="adj1" fmla="val 0"/>
              <a:gd name="adj2" fmla="val 50000"/>
            </a:avLst>
          </a:prstGeom>
          <a:ln xmlns:a="http://schemas.openxmlformats.org/drawingml/2006/main" w="16193">
            <a:solidFill>
              <a:srgbClr val="80909B"/>
            </a:solidFill>
            <a:tailEnd type="triangle" w="sm" len="sm"/>
          </a:ln>
        </p:spPr>
      </p:cxnSp>
      <p:cxnSp>
        <p:nvCxnSpPr>
          <p:cNvPr id="11" name="">
            <a:extLst xmlns:a="http://schemas.openxmlformats.org/drawingml/2006/main">
              <a:ext uri="{FF2B5EF4-FFF2-40B4-BE49-F238E27FC236}">
                <a16:creationId xmlns:a16="http://schemas.microsoft.com/office/drawing/2014/main" id="{E917ADCD-BE19-4BFC-8F45-A7034CC7750F}"/>
              </a:ext>
            </a:extLst>
          </p:cNvPr>
          <p:cNvCxnSpPr>
            <a:stCxn xmlns:a="http://schemas.openxmlformats.org/drawingml/2006/main" id="5" idx="2"/>
            <a:endCxn xmlns:a="http://schemas.openxmlformats.org/drawingml/2006/main" id="6" idx="0"/>
          </p:cNvCxnSpPr>
          <p:nvPr/>
        </p:nvCxnSpPr>
        <p:spPr>
          <a:xfrm xmlns:a="http://schemas.openxmlformats.org/drawingml/2006/main">
            <a:off x="6096000" y="3000375"/>
            <a:ext cx="0" cy="419100"/>
          </a:xfrm>
          <a:prstGeom xmlns:a="http://schemas.openxmlformats.org/drawingml/2006/main" prst="straightConnector1">
            <a:avLst/>
          </a:prstGeom>
          <a:ln xmlns:a="http://schemas.openxmlformats.org/drawingml/2006/main" w="16193">
            <a:solidFill>
              <a:srgbClr val="80909B"/>
            </a:solidFill>
            <a:tailEnd type="triangle" w="sm" len="sm"/>
          </a:ln>
        </p:spPr>
      </p:cxnSp>
      <p:cxnSp>
        <p:nvCxnSpPr>
          <p:cNvPr id="10" name="">
            <a:extLst xmlns:a="http://schemas.openxmlformats.org/drawingml/2006/main">
              <a:ext uri="{FF2B5EF4-FFF2-40B4-BE49-F238E27FC236}">
                <a16:creationId xmlns:a16="http://schemas.microsoft.com/office/drawing/2014/main" id="{6A7CD3C1-1BE3-46FE-BC2F-E9AE62D0C87A}"/>
              </a:ext>
            </a:extLst>
          </p:cNvPr>
          <p:cNvCxnSpPr>
            <a:stCxn xmlns:a="http://schemas.openxmlformats.org/drawingml/2006/main" id="4" idx="2"/>
            <a:endCxn xmlns:a="http://schemas.openxmlformats.org/drawingml/2006/main" id="5" idx="0"/>
          </p:cNvCxnSpPr>
          <p:nvPr/>
        </p:nvCxnSpPr>
        <p:spPr>
          <a:xfrm xmlns:a="http://schemas.openxmlformats.org/drawingml/2006/main">
            <a:off x="6096000" y="2228850"/>
            <a:ext cx="0" cy="400050"/>
          </a:xfrm>
          <a:prstGeom xmlns:a="http://schemas.openxmlformats.org/drawingml/2006/main" prst="straightConnector1">
            <a:avLst/>
          </a:prstGeom>
          <a:ln xmlns:a="http://schemas.openxmlformats.org/drawingml/2006/main" w="16193">
            <a:solidFill>
              <a:srgbClr val="80909B"/>
            </a:solidFill>
            <a:tailEnd type="triangle" w="sm" len="sm"/>
          </a:ln>
        </p:spPr>
      </p:cxnSp>
      <p:sp>
        <p:nvSpPr>
          <p:cNvPr id="19" name="Fund governance">
            <a:extLst xmlns:a="http://schemas.openxmlformats.org/drawingml/2006/main">
              <a:ext uri="{FF2B5EF4-FFF2-40B4-BE49-F238E27FC236}">
                <a16:creationId xmlns:a16="http://schemas.microsoft.com/office/drawing/2014/main" id="{0A41D91C-67D7-4ACE-B812-E2CD2A6B9FBD}"/>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Fund governance</a:t>
            </a:r>
          </a:p>
        </p:txBody>
      </p:sp>
      <p:sp>
        <p:nvSpPr>
          <p:cNvPr id="2" name="Proposed presentation roles with clear responsibility for capital">
            <a:extLst xmlns:a="http://schemas.openxmlformats.org/drawingml/2006/main">
              <a:ext uri="{FF2B5EF4-FFF2-40B4-BE49-F238E27FC236}">
                <a16:creationId xmlns:a16="http://schemas.microsoft.com/office/drawing/2014/main" id="{203D4008-821F-4AE1-BCF6-E92523F7ED5B}"/>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Proposed presentation roles with clear responsibility for capital</a:t>
            </a:r>
          </a:p>
        </p:txBody>
      </p:sp>
      <p:sp>
        <p:nvSpPr>
          <p:cNvPr id="3" name="03">
            <a:extLst xmlns:a="http://schemas.openxmlformats.org/drawingml/2006/main">
              <a:ext uri="{FF2B5EF4-FFF2-40B4-BE49-F238E27FC236}">
                <a16:creationId xmlns:a16="http://schemas.microsoft.com/office/drawing/2014/main" id="{FBE1B461-5352-426B-A81A-BF78B1994E7D}"/>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03</a:t>
            </a:r>
          </a:p>
        </p:txBody>
      </p:sp>
      <p:sp>
        <p:nvSpPr>
          <p:cNvPr id="4" name="Investors">
            <a:extLst xmlns:a="http://schemas.openxmlformats.org/drawingml/2006/main">
              <a:ext uri="{FF2B5EF4-FFF2-40B4-BE49-F238E27FC236}">
                <a16:creationId xmlns:a16="http://schemas.microsoft.com/office/drawing/2014/main" id="{280F239C-20B7-4B24-B9DD-C7586726DD5F}"/>
              </a:ext>
            </a:extLst>
          </p:cNvPr>
          <p:cNvSpPr>
            <a:spLocks xmlns:a="http://schemas.openxmlformats.org/drawingml/2006/main" noGrp="1"/>
          </p:cNvSpPr>
          <p:nvPr/>
        </p:nvSpPr>
        <p:spPr>
          <a:xfrm xmlns:a="http://schemas.openxmlformats.org/drawingml/2006/main">
            <a:off x="4095750" y="1857375"/>
            <a:ext cx="400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162A3A"/>
                </a:solidFill>
                <a:latin typeface="Arial"/>
                <a:ea typeface="Arial"/>
                <a:cs typeface="Arial"/>
              </a:defRPr>
            </a:defPPr>
            <a:lvl1pPr algn="ctr">
              <a:defRPr sz="2250" b="1">
                <a:solidFill>
                  <a:srgbClr val="162A3A"/>
                </a:solidFill>
                <a:latin typeface="Arial"/>
                <a:ea typeface="Arial"/>
                <a:cs typeface="Arial"/>
              </a:defRPr>
            </a:lvl1pPr>
            <a:lvl2pPr algn="ctr">
              <a:defRPr sz="2250" b="1">
                <a:solidFill>
                  <a:srgbClr val="162A3A"/>
                </a:solidFill>
                <a:latin typeface="Arial"/>
                <a:ea typeface="Arial"/>
                <a:cs typeface="Arial"/>
              </a:defRPr>
            </a:lvl2pPr>
            <a:lvl3pPr algn="ctr">
              <a:defRPr sz="2250" b="1">
                <a:solidFill>
                  <a:srgbClr val="162A3A"/>
                </a:solidFill>
                <a:latin typeface="Arial"/>
                <a:ea typeface="Arial"/>
                <a:cs typeface="Arial"/>
              </a:defRPr>
            </a:lvl3pPr>
            <a:lvl4pPr algn="ctr">
              <a:defRPr sz="2250" b="1">
                <a:solidFill>
                  <a:srgbClr val="162A3A"/>
                </a:solidFill>
                <a:latin typeface="Arial"/>
                <a:ea typeface="Arial"/>
                <a:cs typeface="Arial"/>
              </a:defRPr>
            </a:lvl4pPr>
            <a:lvl5pPr algn="ctr">
              <a:defRPr sz="2250" b="1">
                <a:solidFill>
                  <a:srgbClr val="162A3A"/>
                </a:solidFill>
                <a:latin typeface="Arial"/>
                <a:ea typeface="Arial"/>
                <a:cs typeface="Arial"/>
              </a:defRPr>
            </a:lvl5pPr>
            <a:lvl6pPr algn="ctr">
              <a:defRPr sz="2250" b="1">
                <a:solidFill>
                  <a:srgbClr val="162A3A"/>
                </a:solidFill>
                <a:latin typeface="Arial"/>
                <a:ea typeface="Arial"/>
                <a:cs typeface="Arial"/>
              </a:defRPr>
            </a:lvl6pPr>
            <a:lvl7pPr algn="ctr">
              <a:defRPr sz="2250" b="1">
                <a:solidFill>
                  <a:srgbClr val="162A3A"/>
                </a:solidFill>
                <a:latin typeface="Arial"/>
                <a:ea typeface="Arial"/>
                <a:cs typeface="Arial"/>
              </a:defRPr>
            </a:lvl7pPr>
            <a:lvl8pPr algn="ctr">
              <a:defRPr sz="2250" b="1">
                <a:solidFill>
                  <a:srgbClr val="162A3A"/>
                </a:solidFill>
                <a:latin typeface="Arial"/>
                <a:ea typeface="Arial"/>
                <a:cs typeface="Arial"/>
              </a:defRPr>
            </a:lvl8pPr>
            <a:lvl9pPr algn="ctr">
              <a:defRPr sz="2250" b="1">
                <a:solidFill>
                  <a:srgbClr val="162A3A"/>
                </a:solidFill>
                <a:latin typeface="Arial"/>
                <a:ea typeface="Arial"/>
                <a:cs typeface="Arial"/>
              </a:defRPr>
            </a:lvl9pPr>
          </a:lstStyle>
          <a:p xmlns:a="http://schemas.openxmlformats.org/drawingml/2006/main">
            <a:pPr algn="ctr">
              <a:defRPr sz="2250" b="1">
                <a:solidFill>
                  <a:srgbClr val="162A3A"/>
                </a:solidFill>
                <a:latin typeface="Arial"/>
                <a:ea typeface="Arial"/>
                <a:cs typeface="Arial"/>
              </a:defRPr>
            </a:pPr>
            <a:r>
              <a:rPr sz="2250" b="1">
                <a:solidFill>
                  <a:srgbClr val="162A3A"/>
                </a:solidFill>
                <a:latin typeface="Arial"/>
                <a:ea typeface="Arial"/>
                <a:cs typeface="Arial"/>
              </a:rPr>
              <a:t>Investors</a:t>
            </a:r>
          </a:p>
        </p:txBody>
      </p:sp>
      <p:sp>
        <p:nvSpPr>
          <p:cNvPr id="5" name="Board of Directors">
            <a:extLst xmlns:a="http://schemas.openxmlformats.org/drawingml/2006/main">
              <a:ext uri="{FF2B5EF4-FFF2-40B4-BE49-F238E27FC236}">
                <a16:creationId xmlns:a16="http://schemas.microsoft.com/office/drawing/2014/main" id="{C9B28EE3-2DDB-48BF-B4B0-039524404710}"/>
              </a:ext>
            </a:extLst>
          </p:cNvPr>
          <p:cNvSpPr>
            <a:spLocks xmlns:a="http://schemas.openxmlformats.org/drawingml/2006/main" noGrp="1"/>
          </p:cNvSpPr>
          <p:nvPr/>
        </p:nvSpPr>
        <p:spPr>
          <a:xfrm xmlns:a="http://schemas.openxmlformats.org/drawingml/2006/main">
            <a:off x="3619500" y="2628900"/>
            <a:ext cx="4953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162A3A"/>
                </a:solidFill>
                <a:latin typeface="Arial"/>
                <a:ea typeface="Arial"/>
                <a:cs typeface="Arial"/>
              </a:defRPr>
            </a:defPPr>
            <a:lvl1pPr algn="ctr">
              <a:defRPr sz="2250" b="1">
                <a:solidFill>
                  <a:srgbClr val="162A3A"/>
                </a:solidFill>
                <a:latin typeface="Arial"/>
                <a:ea typeface="Arial"/>
                <a:cs typeface="Arial"/>
              </a:defRPr>
            </a:lvl1pPr>
            <a:lvl2pPr algn="ctr">
              <a:defRPr sz="2250" b="1">
                <a:solidFill>
                  <a:srgbClr val="162A3A"/>
                </a:solidFill>
                <a:latin typeface="Arial"/>
                <a:ea typeface="Arial"/>
                <a:cs typeface="Arial"/>
              </a:defRPr>
            </a:lvl2pPr>
            <a:lvl3pPr algn="ctr">
              <a:defRPr sz="2250" b="1">
                <a:solidFill>
                  <a:srgbClr val="162A3A"/>
                </a:solidFill>
                <a:latin typeface="Arial"/>
                <a:ea typeface="Arial"/>
                <a:cs typeface="Arial"/>
              </a:defRPr>
            </a:lvl3pPr>
            <a:lvl4pPr algn="ctr">
              <a:defRPr sz="2250" b="1">
                <a:solidFill>
                  <a:srgbClr val="162A3A"/>
                </a:solidFill>
                <a:latin typeface="Arial"/>
                <a:ea typeface="Arial"/>
                <a:cs typeface="Arial"/>
              </a:defRPr>
            </a:lvl4pPr>
            <a:lvl5pPr algn="ctr">
              <a:defRPr sz="2250" b="1">
                <a:solidFill>
                  <a:srgbClr val="162A3A"/>
                </a:solidFill>
                <a:latin typeface="Arial"/>
                <a:ea typeface="Arial"/>
                <a:cs typeface="Arial"/>
              </a:defRPr>
            </a:lvl5pPr>
            <a:lvl6pPr algn="ctr">
              <a:defRPr sz="2250" b="1">
                <a:solidFill>
                  <a:srgbClr val="162A3A"/>
                </a:solidFill>
                <a:latin typeface="Arial"/>
                <a:ea typeface="Arial"/>
                <a:cs typeface="Arial"/>
              </a:defRPr>
            </a:lvl6pPr>
            <a:lvl7pPr algn="ctr">
              <a:defRPr sz="2250" b="1">
                <a:solidFill>
                  <a:srgbClr val="162A3A"/>
                </a:solidFill>
                <a:latin typeface="Arial"/>
                <a:ea typeface="Arial"/>
                <a:cs typeface="Arial"/>
              </a:defRPr>
            </a:lvl7pPr>
            <a:lvl8pPr algn="ctr">
              <a:defRPr sz="2250" b="1">
                <a:solidFill>
                  <a:srgbClr val="162A3A"/>
                </a:solidFill>
                <a:latin typeface="Arial"/>
                <a:ea typeface="Arial"/>
                <a:cs typeface="Arial"/>
              </a:defRPr>
            </a:lvl8pPr>
            <a:lvl9pPr algn="ctr">
              <a:defRPr sz="2250" b="1">
                <a:solidFill>
                  <a:srgbClr val="162A3A"/>
                </a:solidFill>
                <a:latin typeface="Arial"/>
                <a:ea typeface="Arial"/>
                <a:cs typeface="Arial"/>
              </a:defRPr>
            </a:lvl9pPr>
          </a:lstStyle>
          <a:p xmlns:a="http://schemas.openxmlformats.org/drawingml/2006/main">
            <a:pPr algn="ctr">
              <a:defRPr sz="2250" b="1">
                <a:solidFill>
                  <a:srgbClr val="162A3A"/>
                </a:solidFill>
                <a:latin typeface="Arial"/>
                <a:ea typeface="Arial"/>
                <a:cs typeface="Arial"/>
              </a:defRPr>
            </a:pPr>
            <a:r>
              <a:rPr sz="2250" b="1">
                <a:solidFill>
                  <a:srgbClr val="162A3A"/>
                </a:solidFill>
                <a:latin typeface="Arial"/>
                <a:ea typeface="Arial"/>
                <a:cs typeface="Arial"/>
              </a:rPr>
              <a:t>Board of Directors</a:t>
            </a:r>
          </a:p>
        </p:txBody>
      </p:sp>
      <p:sp>
        <p:nvSpPr>
          <p:cNvPr id="6" name="Investment Committee / CIO">
            <a:extLst xmlns:a="http://schemas.openxmlformats.org/drawingml/2006/main">
              <a:ext uri="{FF2B5EF4-FFF2-40B4-BE49-F238E27FC236}">
                <a16:creationId xmlns:a16="http://schemas.microsoft.com/office/drawing/2014/main" id="{31B2A719-1B4F-44CC-A972-AECF2845910B}"/>
              </a:ext>
            </a:extLst>
          </p:cNvPr>
          <p:cNvSpPr>
            <a:spLocks xmlns:a="http://schemas.openxmlformats.org/drawingml/2006/main" noGrp="1"/>
          </p:cNvSpPr>
          <p:nvPr/>
        </p:nvSpPr>
        <p:spPr>
          <a:xfrm xmlns:a="http://schemas.openxmlformats.org/drawingml/2006/main">
            <a:off x="3143250" y="3419475"/>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87E8B"/>
                </a:solidFill>
                <a:latin typeface="Arial"/>
                <a:ea typeface="Arial"/>
                <a:cs typeface="Arial"/>
              </a:defRPr>
            </a:defPPr>
            <a:lvl1pPr algn="ctr">
              <a:defRPr sz="2325" b="1">
                <a:solidFill>
                  <a:srgbClr val="087E8B"/>
                </a:solidFill>
                <a:latin typeface="Arial"/>
                <a:ea typeface="Arial"/>
                <a:cs typeface="Arial"/>
              </a:defRPr>
            </a:lvl1pPr>
            <a:lvl2pPr algn="ctr">
              <a:defRPr sz="2325" b="1">
                <a:solidFill>
                  <a:srgbClr val="087E8B"/>
                </a:solidFill>
                <a:latin typeface="Arial"/>
                <a:ea typeface="Arial"/>
                <a:cs typeface="Arial"/>
              </a:defRPr>
            </a:lvl2pPr>
            <a:lvl3pPr algn="ctr">
              <a:defRPr sz="2325" b="1">
                <a:solidFill>
                  <a:srgbClr val="087E8B"/>
                </a:solidFill>
                <a:latin typeface="Arial"/>
                <a:ea typeface="Arial"/>
                <a:cs typeface="Arial"/>
              </a:defRPr>
            </a:lvl3pPr>
            <a:lvl4pPr algn="ctr">
              <a:defRPr sz="2325" b="1">
                <a:solidFill>
                  <a:srgbClr val="087E8B"/>
                </a:solidFill>
                <a:latin typeface="Arial"/>
                <a:ea typeface="Arial"/>
                <a:cs typeface="Arial"/>
              </a:defRPr>
            </a:lvl4pPr>
            <a:lvl5pPr algn="ctr">
              <a:defRPr sz="2325" b="1">
                <a:solidFill>
                  <a:srgbClr val="087E8B"/>
                </a:solidFill>
                <a:latin typeface="Arial"/>
                <a:ea typeface="Arial"/>
                <a:cs typeface="Arial"/>
              </a:defRPr>
            </a:lvl5pPr>
            <a:lvl6pPr algn="ctr">
              <a:defRPr sz="2325" b="1">
                <a:solidFill>
                  <a:srgbClr val="087E8B"/>
                </a:solidFill>
                <a:latin typeface="Arial"/>
                <a:ea typeface="Arial"/>
                <a:cs typeface="Arial"/>
              </a:defRPr>
            </a:lvl6pPr>
            <a:lvl7pPr algn="ctr">
              <a:defRPr sz="2325" b="1">
                <a:solidFill>
                  <a:srgbClr val="087E8B"/>
                </a:solidFill>
                <a:latin typeface="Arial"/>
                <a:ea typeface="Arial"/>
                <a:cs typeface="Arial"/>
              </a:defRPr>
            </a:lvl7pPr>
            <a:lvl8pPr algn="ctr">
              <a:defRPr sz="2325" b="1">
                <a:solidFill>
                  <a:srgbClr val="087E8B"/>
                </a:solidFill>
                <a:latin typeface="Arial"/>
                <a:ea typeface="Arial"/>
                <a:cs typeface="Arial"/>
              </a:defRPr>
            </a:lvl8pPr>
            <a:lvl9pPr algn="ctr">
              <a:defRPr sz="2325" b="1">
                <a:solidFill>
                  <a:srgbClr val="087E8B"/>
                </a:solidFill>
                <a:latin typeface="Arial"/>
                <a:ea typeface="Arial"/>
                <a:cs typeface="Arial"/>
              </a:defRPr>
            </a:lvl9pPr>
          </a:lstStyle>
          <a:p xmlns:a="http://schemas.openxmlformats.org/drawingml/2006/main">
            <a:pPr algn="ctr">
              <a:defRPr sz="2325" b="1">
                <a:solidFill>
                  <a:srgbClr val="087E8B"/>
                </a:solidFill>
                <a:latin typeface="Arial"/>
                <a:ea typeface="Arial"/>
                <a:cs typeface="Arial"/>
              </a:defRPr>
            </a:pPr>
            <a:r>
              <a:rPr sz="2325" b="1">
                <a:solidFill>
                  <a:srgbClr val="087E8B"/>
                </a:solidFill>
                <a:latin typeface="Arial"/>
                <a:ea typeface="Arial"/>
                <a:cs typeface="Arial"/>
              </a:rPr>
              <a:t>Investment Committee / CIO</a:t>
            </a:r>
          </a:p>
        </p:txBody>
      </p:sp>
      <p:sp>
        <p:nvSpPr>
          <p:cNvPr id="7" name="Momentum PM">
            <a:extLst xmlns:a="http://schemas.openxmlformats.org/drawingml/2006/main">
              <a:ext uri="{FF2B5EF4-FFF2-40B4-BE49-F238E27FC236}">
                <a16:creationId xmlns:a16="http://schemas.microsoft.com/office/drawing/2014/main" id="{E559B01C-0949-495C-B748-E0506D9E99AF}"/>
              </a:ext>
            </a:extLst>
          </p:cNvPr>
          <p:cNvSpPr>
            <a:spLocks xmlns:a="http://schemas.openxmlformats.org/drawingml/2006/main" noGrp="1"/>
          </p:cNvSpPr>
          <p:nvPr/>
        </p:nvSpPr>
        <p:spPr>
          <a:xfrm xmlns:a="http://schemas.openxmlformats.org/drawingml/2006/main">
            <a:off x="781050" y="460057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2864A0"/>
                </a:solidFill>
                <a:latin typeface="Arial"/>
                <a:ea typeface="Arial"/>
                <a:cs typeface="Arial"/>
              </a:defRPr>
            </a:defPPr>
            <a:lvl1pPr algn="ctr">
              <a:defRPr sz="2175" b="1">
                <a:solidFill>
                  <a:srgbClr val="2864A0"/>
                </a:solidFill>
                <a:latin typeface="Arial"/>
                <a:ea typeface="Arial"/>
                <a:cs typeface="Arial"/>
              </a:defRPr>
            </a:lvl1pPr>
            <a:lvl2pPr algn="ctr">
              <a:defRPr sz="2175" b="1">
                <a:solidFill>
                  <a:srgbClr val="2864A0"/>
                </a:solidFill>
                <a:latin typeface="Arial"/>
                <a:ea typeface="Arial"/>
                <a:cs typeface="Arial"/>
              </a:defRPr>
            </a:lvl2pPr>
            <a:lvl3pPr algn="ctr">
              <a:defRPr sz="2175" b="1">
                <a:solidFill>
                  <a:srgbClr val="2864A0"/>
                </a:solidFill>
                <a:latin typeface="Arial"/>
                <a:ea typeface="Arial"/>
                <a:cs typeface="Arial"/>
              </a:defRPr>
            </a:lvl3pPr>
            <a:lvl4pPr algn="ctr">
              <a:defRPr sz="2175" b="1">
                <a:solidFill>
                  <a:srgbClr val="2864A0"/>
                </a:solidFill>
                <a:latin typeface="Arial"/>
                <a:ea typeface="Arial"/>
                <a:cs typeface="Arial"/>
              </a:defRPr>
            </a:lvl4pPr>
            <a:lvl5pPr algn="ctr">
              <a:defRPr sz="2175" b="1">
                <a:solidFill>
                  <a:srgbClr val="2864A0"/>
                </a:solidFill>
                <a:latin typeface="Arial"/>
                <a:ea typeface="Arial"/>
                <a:cs typeface="Arial"/>
              </a:defRPr>
            </a:lvl5pPr>
            <a:lvl6pPr algn="ctr">
              <a:defRPr sz="2175" b="1">
                <a:solidFill>
                  <a:srgbClr val="2864A0"/>
                </a:solidFill>
                <a:latin typeface="Arial"/>
                <a:ea typeface="Arial"/>
                <a:cs typeface="Arial"/>
              </a:defRPr>
            </a:lvl6pPr>
            <a:lvl7pPr algn="ctr">
              <a:defRPr sz="2175" b="1">
                <a:solidFill>
                  <a:srgbClr val="2864A0"/>
                </a:solidFill>
                <a:latin typeface="Arial"/>
                <a:ea typeface="Arial"/>
                <a:cs typeface="Arial"/>
              </a:defRPr>
            </a:lvl7pPr>
            <a:lvl8pPr algn="ctr">
              <a:defRPr sz="2175" b="1">
                <a:solidFill>
                  <a:srgbClr val="2864A0"/>
                </a:solidFill>
                <a:latin typeface="Arial"/>
                <a:ea typeface="Arial"/>
                <a:cs typeface="Arial"/>
              </a:defRPr>
            </a:lvl8pPr>
            <a:lvl9pPr algn="ctr">
              <a:defRPr sz="2175" b="1">
                <a:solidFill>
                  <a:srgbClr val="2864A0"/>
                </a:solidFill>
                <a:latin typeface="Arial"/>
                <a:ea typeface="Arial"/>
                <a:cs typeface="Arial"/>
              </a:defRPr>
            </a:lvl9pPr>
          </a:lstStyle>
          <a:p xmlns:a="http://schemas.openxmlformats.org/drawingml/2006/main">
            <a:pPr algn="ctr">
              <a:defRPr sz="2175" b="1">
                <a:solidFill>
                  <a:srgbClr val="2864A0"/>
                </a:solidFill>
                <a:latin typeface="Arial"/>
                <a:ea typeface="Arial"/>
                <a:cs typeface="Arial"/>
              </a:defRPr>
            </a:pPr>
            <a:r>
              <a:rPr sz="2175" b="1">
                <a:solidFill>
                  <a:srgbClr val="2864A0"/>
                </a:solidFill>
                <a:latin typeface="Arial"/>
                <a:ea typeface="Arial"/>
                <a:cs typeface="Arial"/>
              </a:rPr>
              <a:t>Momentum PM</a:t>
            </a:r>
          </a:p>
        </p:txBody>
      </p:sp>
      <p:sp>
        <p:nvSpPr>
          <p:cNvPr id="8" name="Daily Pairs PM">
            <a:extLst xmlns:a="http://schemas.openxmlformats.org/drawingml/2006/main">
              <a:ext uri="{FF2B5EF4-FFF2-40B4-BE49-F238E27FC236}">
                <a16:creationId xmlns:a16="http://schemas.microsoft.com/office/drawing/2014/main" id="{0A88333E-34AE-4F4C-A18C-48EBBA5F0079}"/>
              </a:ext>
            </a:extLst>
          </p:cNvPr>
          <p:cNvSpPr>
            <a:spLocks xmlns:a="http://schemas.openxmlformats.org/drawingml/2006/main" noGrp="1"/>
          </p:cNvSpPr>
          <p:nvPr/>
        </p:nvSpPr>
        <p:spPr>
          <a:xfrm xmlns:a="http://schemas.openxmlformats.org/drawingml/2006/main">
            <a:off x="4572000" y="460057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087E8B"/>
                </a:solidFill>
                <a:latin typeface="Arial"/>
                <a:ea typeface="Arial"/>
                <a:cs typeface="Arial"/>
              </a:defRPr>
            </a:defPPr>
            <a:lvl1pPr algn="ctr">
              <a:defRPr sz="2175" b="1">
                <a:solidFill>
                  <a:srgbClr val="087E8B"/>
                </a:solidFill>
                <a:latin typeface="Arial"/>
                <a:ea typeface="Arial"/>
                <a:cs typeface="Arial"/>
              </a:defRPr>
            </a:lvl1pPr>
            <a:lvl2pPr algn="ctr">
              <a:defRPr sz="2175" b="1">
                <a:solidFill>
                  <a:srgbClr val="087E8B"/>
                </a:solidFill>
                <a:latin typeface="Arial"/>
                <a:ea typeface="Arial"/>
                <a:cs typeface="Arial"/>
              </a:defRPr>
            </a:lvl2pPr>
            <a:lvl3pPr algn="ctr">
              <a:defRPr sz="2175" b="1">
                <a:solidFill>
                  <a:srgbClr val="087E8B"/>
                </a:solidFill>
                <a:latin typeface="Arial"/>
                <a:ea typeface="Arial"/>
                <a:cs typeface="Arial"/>
              </a:defRPr>
            </a:lvl3pPr>
            <a:lvl4pPr algn="ctr">
              <a:defRPr sz="2175" b="1">
                <a:solidFill>
                  <a:srgbClr val="087E8B"/>
                </a:solidFill>
                <a:latin typeface="Arial"/>
                <a:ea typeface="Arial"/>
                <a:cs typeface="Arial"/>
              </a:defRPr>
            </a:lvl4pPr>
            <a:lvl5pPr algn="ctr">
              <a:defRPr sz="2175" b="1">
                <a:solidFill>
                  <a:srgbClr val="087E8B"/>
                </a:solidFill>
                <a:latin typeface="Arial"/>
                <a:ea typeface="Arial"/>
                <a:cs typeface="Arial"/>
              </a:defRPr>
            </a:lvl5pPr>
            <a:lvl6pPr algn="ctr">
              <a:defRPr sz="2175" b="1">
                <a:solidFill>
                  <a:srgbClr val="087E8B"/>
                </a:solidFill>
                <a:latin typeface="Arial"/>
                <a:ea typeface="Arial"/>
                <a:cs typeface="Arial"/>
              </a:defRPr>
            </a:lvl6pPr>
            <a:lvl7pPr algn="ctr">
              <a:defRPr sz="2175" b="1">
                <a:solidFill>
                  <a:srgbClr val="087E8B"/>
                </a:solidFill>
                <a:latin typeface="Arial"/>
                <a:ea typeface="Arial"/>
                <a:cs typeface="Arial"/>
              </a:defRPr>
            </a:lvl7pPr>
            <a:lvl8pPr algn="ctr">
              <a:defRPr sz="2175" b="1">
                <a:solidFill>
                  <a:srgbClr val="087E8B"/>
                </a:solidFill>
                <a:latin typeface="Arial"/>
                <a:ea typeface="Arial"/>
                <a:cs typeface="Arial"/>
              </a:defRPr>
            </a:lvl8pPr>
            <a:lvl9pPr algn="ctr">
              <a:defRPr sz="2175" b="1">
                <a:solidFill>
                  <a:srgbClr val="087E8B"/>
                </a:solidFill>
                <a:latin typeface="Arial"/>
                <a:ea typeface="Arial"/>
                <a:cs typeface="Arial"/>
              </a:defRPr>
            </a:lvl9pPr>
          </a:lstStyle>
          <a:p xmlns:a="http://schemas.openxmlformats.org/drawingml/2006/main">
            <a:pPr algn="ctr">
              <a:defRPr sz="2175" b="1">
                <a:solidFill>
                  <a:srgbClr val="087E8B"/>
                </a:solidFill>
                <a:latin typeface="Arial"/>
                <a:ea typeface="Arial"/>
                <a:cs typeface="Arial"/>
              </a:defRPr>
            </a:pPr>
            <a:r>
              <a:rPr sz="2175" b="1">
                <a:solidFill>
                  <a:srgbClr val="087E8B"/>
                </a:solidFill>
                <a:latin typeface="Arial"/>
                <a:ea typeface="Arial"/>
                <a:cs typeface="Arial"/>
              </a:rPr>
              <a:t>Daily Pairs PM</a:t>
            </a:r>
          </a:p>
        </p:txBody>
      </p:sp>
      <p:sp>
        <p:nvSpPr>
          <p:cNvPr id="9" name="Crypto PM">
            <a:extLst xmlns:a="http://schemas.openxmlformats.org/drawingml/2006/main">
              <a:ext uri="{FF2B5EF4-FFF2-40B4-BE49-F238E27FC236}">
                <a16:creationId xmlns:a16="http://schemas.microsoft.com/office/drawing/2014/main" id="{E7ACEF13-42E4-41B4-A740-E006CCB6BE36}"/>
              </a:ext>
            </a:extLst>
          </p:cNvPr>
          <p:cNvSpPr>
            <a:spLocks xmlns:a="http://schemas.openxmlformats.org/drawingml/2006/main" noGrp="1"/>
          </p:cNvSpPr>
          <p:nvPr/>
        </p:nvSpPr>
        <p:spPr>
          <a:xfrm xmlns:a="http://schemas.openxmlformats.org/drawingml/2006/main">
            <a:off x="8362950" y="460057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7757A1"/>
                </a:solidFill>
                <a:latin typeface="Arial"/>
                <a:ea typeface="Arial"/>
                <a:cs typeface="Arial"/>
              </a:defRPr>
            </a:defPPr>
            <a:lvl1pPr algn="ctr">
              <a:defRPr sz="2175" b="1">
                <a:solidFill>
                  <a:srgbClr val="7757A1"/>
                </a:solidFill>
                <a:latin typeface="Arial"/>
                <a:ea typeface="Arial"/>
                <a:cs typeface="Arial"/>
              </a:defRPr>
            </a:lvl1pPr>
            <a:lvl2pPr algn="ctr">
              <a:defRPr sz="2175" b="1">
                <a:solidFill>
                  <a:srgbClr val="7757A1"/>
                </a:solidFill>
                <a:latin typeface="Arial"/>
                <a:ea typeface="Arial"/>
                <a:cs typeface="Arial"/>
              </a:defRPr>
            </a:lvl2pPr>
            <a:lvl3pPr algn="ctr">
              <a:defRPr sz="2175" b="1">
                <a:solidFill>
                  <a:srgbClr val="7757A1"/>
                </a:solidFill>
                <a:latin typeface="Arial"/>
                <a:ea typeface="Arial"/>
                <a:cs typeface="Arial"/>
              </a:defRPr>
            </a:lvl3pPr>
            <a:lvl4pPr algn="ctr">
              <a:defRPr sz="2175" b="1">
                <a:solidFill>
                  <a:srgbClr val="7757A1"/>
                </a:solidFill>
                <a:latin typeface="Arial"/>
                <a:ea typeface="Arial"/>
                <a:cs typeface="Arial"/>
              </a:defRPr>
            </a:lvl4pPr>
            <a:lvl5pPr algn="ctr">
              <a:defRPr sz="2175" b="1">
                <a:solidFill>
                  <a:srgbClr val="7757A1"/>
                </a:solidFill>
                <a:latin typeface="Arial"/>
                <a:ea typeface="Arial"/>
                <a:cs typeface="Arial"/>
              </a:defRPr>
            </a:lvl5pPr>
            <a:lvl6pPr algn="ctr">
              <a:defRPr sz="2175" b="1">
                <a:solidFill>
                  <a:srgbClr val="7757A1"/>
                </a:solidFill>
                <a:latin typeface="Arial"/>
                <a:ea typeface="Arial"/>
                <a:cs typeface="Arial"/>
              </a:defRPr>
            </a:lvl6pPr>
            <a:lvl7pPr algn="ctr">
              <a:defRPr sz="2175" b="1">
                <a:solidFill>
                  <a:srgbClr val="7757A1"/>
                </a:solidFill>
                <a:latin typeface="Arial"/>
                <a:ea typeface="Arial"/>
                <a:cs typeface="Arial"/>
              </a:defRPr>
            </a:lvl7pPr>
            <a:lvl8pPr algn="ctr">
              <a:defRPr sz="2175" b="1">
                <a:solidFill>
                  <a:srgbClr val="7757A1"/>
                </a:solidFill>
                <a:latin typeface="Arial"/>
                <a:ea typeface="Arial"/>
                <a:cs typeface="Arial"/>
              </a:defRPr>
            </a:lvl8pPr>
            <a:lvl9pPr algn="ctr">
              <a:defRPr sz="2175" b="1">
                <a:solidFill>
                  <a:srgbClr val="7757A1"/>
                </a:solidFill>
                <a:latin typeface="Arial"/>
                <a:ea typeface="Arial"/>
                <a:cs typeface="Arial"/>
              </a:defRPr>
            </a:lvl9pPr>
          </a:lstStyle>
          <a:p xmlns:a="http://schemas.openxmlformats.org/drawingml/2006/main">
            <a:pPr algn="ctr">
              <a:defRPr sz="2175" b="1">
                <a:solidFill>
                  <a:srgbClr val="7757A1"/>
                </a:solidFill>
                <a:latin typeface="Arial"/>
                <a:ea typeface="Arial"/>
                <a:cs typeface="Arial"/>
              </a:defRPr>
            </a:pPr>
            <a:r>
              <a:rPr sz="2175" b="1">
                <a:solidFill>
                  <a:srgbClr val="7757A1"/>
                </a:solidFill>
                <a:latin typeface="Arial"/>
                <a:ea typeface="Arial"/>
                <a:cs typeface="Arial"/>
              </a:rPr>
              <a:t>Crypto PM</a:t>
            </a:r>
          </a:p>
        </p:txBody>
      </p:sp>
      <p:sp>
        <p:nvSpPr>
          <p:cNvPr id="15" name="Capital providers">
            <a:extLst xmlns:a="http://schemas.openxmlformats.org/drawingml/2006/main">
              <a:ext uri="{FF2B5EF4-FFF2-40B4-BE49-F238E27FC236}">
                <a16:creationId xmlns:a16="http://schemas.microsoft.com/office/drawing/2014/main" id="{A5999EDA-F033-4398-B461-5FD4C374F0DF}"/>
              </a:ext>
            </a:extLst>
          </p:cNvPr>
          <p:cNvSpPr>
            <a:spLocks xmlns:a="http://schemas.openxmlformats.org/drawingml/2006/main" noGrp="1"/>
          </p:cNvSpPr>
          <p:nvPr/>
        </p:nvSpPr>
        <p:spPr>
          <a:xfrm xmlns:a="http://schemas.openxmlformats.org/drawingml/2006/main">
            <a:off x="8705850" y="188595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16476"/>
                </a:solidFill>
                <a:latin typeface="Arial"/>
                <a:ea typeface="Arial"/>
                <a:cs typeface="Arial"/>
              </a:defRPr>
            </a:defPPr>
            <a:lvl1pPr algn="l">
              <a:defRPr sz="1725" b="0">
                <a:solidFill>
                  <a:srgbClr val="516476"/>
                </a:solidFill>
                <a:latin typeface="Arial"/>
                <a:ea typeface="Arial"/>
                <a:cs typeface="Arial"/>
              </a:defRPr>
            </a:lvl1pPr>
            <a:lvl2pPr algn="l">
              <a:defRPr sz="1725" b="0">
                <a:solidFill>
                  <a:srgbClr val="516476"/>
                </a:solidFill>
                <a:latin typeface="Arial"/>
                <a:ea typeface="Arial"/>
                <a:cs typeface="Arial"/>
              </a:defRPr>
            </a:lvl2pPr>
            <a:lvl3pPr algn="l">
              <a:defRPr sz="1725" b="0">
                <a:solidFill>
                  <a:srgbClr val="516476"/>
                </a:solidFill>
                <a:latin typeface="Arial"/>
                <a:ea typeface="Arial"/>
                <a:cs typeface="Arial"/>
              </a:defRPr>
            </a:lvl3pPr>
            <a:lvl4pPr algn="l">
              <a:defRPr sz="1725" b="0">
                <a:solidFill>
                  <a:srgbClr val="516476"/>
                </a:solidFill>
                <a:latin typeface="Arial"/>
                <a:ea typeface="Arial"/>
                <a:cs typeface="Arial"/>
              </a:defRPr>
            </a:lvl4pPr>
            <a:lvl5pPr algn="l">
              <a:defRPr sz="1725" b="0">
                <a:solidFill>
                  <a:srgbClr val="516476"/>
                </a:solidFill>
                <a:latin typeface="Arial"/>
                <a:ea typeface="Arial"/>
                <a:cs typeface="Arial"/>
              </a:defRPr>
            </a:lvl5pPr>
            <a:lvl6pPr algn="l">
              <a:defRPr sz="1725" b="0">
                <a:solidFill>
                  <a:srgbClr val="516476"/>
                </a:solidFill>
                <a:latin typeface="Arial"/>
                <a:ea typeface="Arial"/>
                <a:cs typeface="Arial"/>
              </a:defRPr>
            </a:lvl6pPr>
            <a:lvl7pPr algn="l">
              <a:defRPr sz="1725" b="0">
                <a:solidFill>
                  <a:srgbClr val="516476"/>
                </a:solidFill>
                <a:latin typeface="Arial"/>
                <a:ea typeface="Arial"/>
                <a:cs typeface="Arial"/>
              </a:defRPr>
            </a:lvl7pPr>
            <a:lvl8pPr algn="l">
              <a:defRPr sz="1725" b="0">
                <a:solidFill>
                  <a:srgbClr val="516476"/>
                </a:solidFill>
                <a:latin typeface="Arial"/>
                <a:ea typeface="Arial"/>
                <a:cs typeface="Arial"/>
              </a:defRPr>
            </a:lvl8pPr>
            <a:lvl9pPr algn="l">
              <a:defRPr sz="1725" b="0">
                <a:solidFill>
                  <a:srgbClr val="516476"/>
                </a:solidFill>
                <a:latin typeface="Arial"/>
                <a:ea typeface="Arial"/>
                <a:cs typeface="Arial"/>
              </a:defRPr>
            </a:lvl9pPr>
          </a:lstStyle>
          <a:p xmlns:a="http://schemas.openxmlformats.org/drawingml/2006/main">
            <a:pPr algn="l">
              <a:defRPr sz="1725" b="0">
                <a:solidFill>
                  <a:srgbClr val="516476"/>
                </a:solidFill>
                <a:latin typeface="Arial"/>
                <a:ea typeface="Arial"/>
                <a:cs typeface="Arial"/>
              </a:defRPr>
            </a:pPr>
            <a:r>
              <a:rPr sz="1725" b="0">
                <a:solidFill>
                  <a:srgbClr val="516476"/>
                </a:solidFill>
                <a:latin typeface="Arial"/>
                <a:ea typeface="Arial"/>
                <a:cs typeface="Arial"/>
              </a:rPr>
              <a:t>Capital providers</a:t>
            </a:r>
          </a:p>
        </p:txBody>
      </p:sp>
      <p:sp>
        <p:nvSpPr>
          <p:cNvPr id="16" name="Human team oversight">
            <a:extLst xmlns:a="http://schemas.openxmlformats.org/drawingml/2006/main">
              <a:ext uri="{FF2B5EF4-FFF2-40B4-BE49-F238E27FC236}">
                <a16:creationId xmlns:a16="http://schemas.microsoft.com/office/drawing/2014/main" id="{4C2D8156-470F-4539-B1C5-8ACE349B2DF0}"/>
              </a:ext>
            </a:extLst>
          </p:cNvPr>
          <p:cNvSpPr>
            <a:spLocks xmlns:a="http://schemas.openxmlformats.org/drawingml/2006/main" noGrp="1"/>
          </p:cNvSpPr>
          <p:nvPr/>
        </p:nvSpPr>
        <p:spPr>
          <a:xfrm xmlns:a="http://schemas.openxmlformats.org/drawingml/2006/main">
            <a:off x="8705850" y="2657475"/>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16476"/>
                </a:solidFill>
                <a:latin typeface="Arial"/>
                <a:ea typeface="Arial"/>
                <a:cs typeface="Arial"/>
              </a:defRPr>
            </a:defPPr>
            <a:lvl1pPr algn="l">
              <a:defRPr sz="1725" b="0">
                <a:solidFill>
                  <a:srgbClr val="516476"/>
                </a:solidFill>
                <a:latin typeface="Arial"/>
                <a:ea typeface="Arial"/>
                <a:cs typeface="Arial"/>
              </a:defRPr>
            </a:lvl1pPr>
            <a:lvl2pPr algn="l">
              <a:defRPr sz="1725" b="0">
                <a:solidFill>
                  <a:srgbClr val="516476"/>
                </a:solidFill>
                <a:latin typeface="Arial"/>
                <a:ea typeface="Arial"/>
                <a:cs typeface="Arial"/>
              </a:defRPr>
            </a:lvl2pPr>
            <a:lvl3pPr algn="l">
              <a:defRPr sz="1725" b="0">
                <a:solidFill>
                  <a:srgbClr val="516476"/>
                </a:solidFill>
                <a:latin typeface="Arial"/>
                <a:ea typeface="Arial"/>
                <a:cs typeface="Arial"/>
              </a:defRPr>
            </a:lvl3pPr>
            <a:lvl4pPr algn="l">
              <a:defRPr sz="1725" b="0">
                <a:solidFill>
                  <a:srgbClr val="516476"/>
                </a:solidFill>
                <a:latin typeface="Arial"/>
                <a:ea typeface="Arial"/>
                <a:cs typeface="Arial"/>
              </a:defRPr>
            </a:lvl4pPr>
            <a:lvl5pPr algn="l">
              <a:defRPr sz="1725" b="0">
                <a:solidFill>
                  <a:srgbClr val="516476"/>
                </a:solidFill>
                <a:latin typeface="Arial"/>
                <a:ea typeface="Arial"/>
                <a:cs typeface="Arial"/>
              </a:defRPr>
            </a:lvl5pPr>
            <a:lvl6pPr algn="l">
              <a:defRPr sz="1725" b="0">
                <a:solidFill>
                  <a:srgbClr val="516476"/>
                </a:solidFill>
                <a:latin typeface="Arial"/>
                <a:ea typeface="Arial"/>
                <a:cs typeface="Arial"/>
              </a:defRPr>
            </a:lvl6pPr>
            <a:lvl7pPr algn="l">
              <a:defRPr sz="1725" b="0">
                <a:solidFill>
                  <a:srgbClr val="516476"/>
                </a:solidFill>
                <a:latin typeface="Arial"/>
                <a:ea typeface="Arial"/>
                <a:cs typeface="Arial"/>
              </a:defRPr>
            </a:lvl7pPr>
            <a:lvl8pPr algn="l">
              <a:defRPr sz="1725" b="0">
                <a:solidFill>
                  <a:srgbClr val="516476"/>
                </a:solidFill>
                <a:latin typeface="Arial"/>
                <a:ea typeface="Arial"/>
                <a:cs typeface="Arial"/>
              </a:defRPr>
            </a:lvl8pPr>
            <a:lvl9pPr algn="l">
              <a:defRPr sz="1725" b="0">
                <a:solidFill>
                  <a:srgbClr val="516476"/>
                </a:solidFill>
                <a:latin typeface="Arial"/>
                <a:ea typeface="Arial"/>
                <a:cs typeface="Arial"/>
              </a:defRPr>
            </a:lvl9pPr>
          </a:lstStyle>
          <a:p xmlns:a="http://schemas.openxmlformats.org/drawingml/2006/main">
            <a:pPr algn="l">
              <a:defRPr sz="1725" b="0">
                <a:solidFill>
                  <a:srgbClr val="516476"/>
                </a:solidFill>
                <a:latin typeface="Arial"/>
                <a:ea typeface="Arial"/>
                <a:cs typeface="Arial"/>
              </a:defRPr>
            </a:pPr>
            <a:r>
              <a:rPr sz="1725" b="0">
                <a:solidFill>
                  <a:srgbClr val="516476"/>
                </a:solidFill>
                <a:latin typeface="Arial"/>
                <a:ea typeface="Arial"/>
                <a:cs typeface="Arial"/>
              </a:rPr>
              <a:t>Human team oversight</a:t>
            </a:r>
          </a:p>
        </p:txBody>
      </p:sp>
      <p:sp>
        <p:nvSpPr>
          <p:cNvPr id="17" name="Mandates and allocation">
            <a:extLst xmlns:a="http://schemas.openxmlformats.org/drawingml/2006/main">
              <a:ext uri="{FF2B5EF4-FFF2-40B4-BE49-F238E27FC236}">
                <a16:creationId xmlns:a16="http://schemas.microsoft.com/office/drawing/2014/main" id="{87EFB5FE-4D90-4E2B-9BB6-33C6349C8657}"/>
              </a:ext>
            </a:extLst>
          </p:cNvPr>
          <p:cNvSpPr>
            <a:spLocks xmlns:a="http://schemas.openxmlformats.org/drawingml/2006/main" noGrp="1"/>
          </p:cNvSpPr>
          <p:nvPr/>
        </p:nvSpPr>
        <p:spPr>
          <a:xfrm xmlns:a="http://schemas.openxmlformats.org/drawingml/2006/main">
            <a:off x="8705850" y="344805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16476"/>
                </a:solidFill>
                <a:latin typeface="Arial"/>
                <a:ea typeface="Arial"/>
                <a:cs typeface="Arial"/>
              </a:defRPr>
            </a:defPPr>
            <a:lvl1pPr algn="l">
              <a:defRPr sz="1725" b="0">
                <a:solidFill>
                  <a:srgbClr val="516476"/>
                </a:solidFill>
                <a:latin typeface="Arial"/>
                <a:ea typeface="Arial"/>
                <a:cs typeface="Arial"/>
              </a:defRPr>
            </a:lvl1pPr>
            <a:lvl2pPr algn="l">
              <a:defRPr sz="1725" b="0">
                <a:solidFill>
                  <a:srgbClr val="516476"/>
                </a:solidFill>
                <a:latin typeface="Arial"/>
                <a:ea typeface="Arial"/>
                <a:cs typeface="Arial"/>
              </a:defRPr>
            </a:lvl2pPr>
            <a:lvl3pPr algn="l">
              <a:defRPr sz="1725" b="0">
                <a:solidFill>
                  <a:srgbClr val="516476"/>
                </a:solidFill>
                <a:latin typeface="Arial"/>
                <a:ea typeface="Arial"/>
                <a:cs typeface="Arial"/>
              </a:defRPr>
            </a:lvl3pPr>
            <a:lvl4pPr algn="l">
              <a:defRPr sz="1725" b="0">
                <a:solidFill>
                  <a:srgbClr val="516476"/>
                </a:solidFill>
                <a:latin typeface="Arial"/>
                <a:ea typeface="Arial"/>
                <a:cs typeface="Arial"/>
              </a:defRPr>
            </a:lvl4pPr>
            <a:lvl5pPr algn="l">
              <a:defRPr sz="1725" b="0">
                <a:solidFill>
                  <a:srgbClr val="516476"/>
                </a:solidFill>
                <a:latin typeface="Arial"/>
                <a:ea typeface="Arial"/>
                <a:cs typeface="Arial"/>
              </a:defRPr>
            </a:lvl5pPr>
            <a:lvl6pPr algn="l">
              <a:defRPr sz="1725" b="0">
                <a:solidFill>
                  <a:srgbClr val="516476"/>
                </a:solidFill>
                <a:latin typeface="Arial"/>
                <a:ea typeface="Arial"/>
                <a:cs typeface="Arial"/>
              </a:defRPr>
            </a:lvl6pPr>
            <a:lvl7pPr algn="l">
              <a:defRPr sz="1725" b="0">
                <a:solidFill>
                  <a:srgbClr val="516476"/>
                </a:solidFill>
                <a:latin typeface="Arial"/>
                <a:ea typeface="Arial"/>
                <a:cs typeface="Arial"/>
              </a:defRPr>
            </a:lvl7pPr>
            <a:lvl8pPr algn="l">
              <a:defRPr sz="1725" b="0">
                <a:solidFill>
                  <a:srgbClr val="516476"/>
                </a:solidFill>
                <a:latin typeface="Arial"/>
                <a:ea typeface="Arial"/>
                <a:cs typeface="Arial"/>
              </a:defRPr>
            </a:lvl8pPr>
            <a:lvl9pPr algn="l">
              <a:defRPr sz="1725" b="0">
                <a:solidFill>
                  <a:srgbClr val="516476"/>
                </a:solidFill>
                <a:latin typeface="Arial"/>
                <a:ea typeface="Arial"/>
                <a:cs typeface="Arial"/>
              </a:defRPr>
            </a:lvl9pPr>
          </a:lstStyle>
          <a:p xmlns:a="http://schemas.openxmlformats.org/drawingml/2006/main">
            <a:pPr algn="l">
              <a:defRPr sz="1725" b="0">
                <a:solidFill>
                  <a:srgbClr val="516476"/>
                </a:solidFill>
                <a:latin typeface="Arial"/>
                <a:ea typeface="Arial"/>
                <a:cs typeface="Arial"/>
              </a:defRPr>
            </a:pPr>
            <a:r>
              <a:rPr sz="1725" b="0">
                <a:solidFill>
                  <a:srgbClr val="516476"/>
                </a:solidFill>
                <a:latin typeface="Arial"/>
                <a:ea typeface="Arial"/>
                <a:cs typeface="Arial"/>
              </a:rPr>
              <a:t>Mandates and allocation</a:t>
            </a:r>
          </a:p>
        </p:txBody>
      </p:sp>
      <p:sp>
        <p:nvSpPr>
          <p:cNvPr id="18" name="Independent coded risk approval precedes execution">
            <a:extLst xmlns:a="http://schemas.openxmlformats.org/drawingml/2006/main">
              <a:ext uri="{FF2B5EF4-FFF2-40B4-BE49-F238E27FC236}">
                <a16:creationId xmlns:a16="http://schemas.microsoft.com/office/drawing/2014/main" id="{55D2A938-DB46-4265-B1BC-821611BE01A1}"/>
              </a:ext>
            </a:extLst>
          </p:cNvPr>
          <p:cNvSpPr>
            <a:spLocks xmlns:a="http://schemas.openxmlformats.org/drawingml/2006/main" noGrp="1"/>
          </p:cNvSpPr>
          <p:nvPr/>
        </p:nvSpPr>
        <p:spPr>
          <a:xfrm xmlns:a="http://schemas.openxmlformats.org/drawingml/2006/main">
            <a:off x="685800" y="58007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B"/>
                </a:solidFill>
                <a:latin typeface="Arial"/>
                <a:ea typeface="Arial"/>
                <a:cs typeface="Arial"/>
              </a:defRPr>
            </a:defPPr>
            <a:lvl1pPr algn="l">
              <a:defRPr sz="2100" b="1">
                <a:solidFill>
                  <a:srgbClr val="087E8B"/>
                </a:solidFill>
                <a:latin typeface="Arial"/>
                <a:ea typeface="Arial"/>
                <a:cs typeface="Arial"/>
              </a:defRPr>
            </a:lvl1pPr>
            <a:lvl2pPr algn="l">
              <a:defRPr sz="2100" b="1">
                <a:solidFill>
                  <a:srgbClr val="087E8B"/>
                </a:solidFill>
                <a:latin typeface="Arial"/>
                <a:ea typeface="Arial"/>
                <a:cs typeface="Arial"/>
              </a:defRPr>
            </a:lvl2pPr>
            <a:lvl3pPr algn="l">
              <a:defRPr sz="2100" b="1">
                <a:solidFill>
                  <a:srgbClr val="087E8B"/>
                </a:solidFill>
                <a:latin typeface="Arial"/>
                <a:ea typeface="Arial"/>
                <a:cs typeface="Arial"/>
              </a:defRPr>
            </a:lvl3pPr>
            <a:lvl4pPr algn="l">
              <a:defRPr sz="2100" b="1">
                <a:solidFill>
                  <a:srgbClr val="087E8B"/>
                </a:solidFill>
                <a:latin typeface="Arial"/>
                <a:ea typeface="Arial"/>
                <a:cs typeface="Arial"/>
              </a:defRPr>
            </a:lvl4pPr>
            <a:lvl5pPr algn="l">
              <a:defRPr sz="2100" b="1">
                <a:solidFill>
                  <a:srgbClr val="087E8B"/>
                </a:solidFill>
                <a:latin typeface="Arial"/>
                <a:ea typeface="Arial"/>
                <a:cs typeface="Arial"/>
              </a:defRPr>
            </a:lvl5pPr>
            <a:lvl6pPr algn="l">
              <a:defRPr sz="2100" b="1">
                <a:solidFill>
                  <a:srgbClr val="087E8B"/>
                </a:solidFill>
                <a:latin typeface="Arial"/>
                <a:ea typeface="Arial"/>
                <a:cs typeface="Arial"/>
              </a:defRPr>
            </a:lvl6pPr>
            <a:lvl7pPr algn="l">
              <a:defRPr sz="2100" b="1">
                <a:solidFill>
                  <a:srgbClr val="087E8B"/>
                </a:solidFill>
                <a:latin typeface="Arial"/>
                <a:ea typeface="Arial"/>
                <a:cs typeface="Arial"/>
              </a:defRPr>
            </a:lvl7pPr>
            <a:lvl8pPr algn="l">
              <a:defRPr sz="2100" b="1">
                <a:solidFill>
                  <a:srgbClr val="087E8B"/>
                </a:solidFill>
                <a:latin typeface="Arial"/>
                <a:ea typeface="Arial"/>
                <a:cs typeface="Arial"/>
              </a:defRPr>
            </a:lvl8pPr>
            <a:lvl9pPr algn="l">
              <a:defRPr sz="2100" b="1">
                <a:solidFill>
                  <a:srgbClr val="087E8B"/>
                </a:solidFill>
                <a:latin typeface="Arial"/>
                <a:ea typeface="Arial"/>
                <a:cs typeface="Arial"/>
              </a:defRPr>
            </a:lvl9pPr>
          </a:lstStyle>
          <a:p xmlns:a="http://schemas.openxmlformats.org/drawingml/2006/main">
            <a:pPr algn="l">
              <a:defRPr sz="2100" b="1">
                <a:solidFill>
                  <a:srgbClr val="087E8B"/>
                </a:solidFill>
                <a:latin typeface="Arial"/>
                <a:ea typeface="Arial"/>
                <a:cs typeface="Arial"/>
              </a:defRPr>
            </a:pPr>
            <a:r>
              <a:rPr sz="2100" b="1">
                <a:solidFill>
                  <a:srgbClr val="087E8B"/>
                </a:solidFill>
                <a:latin typeface="Arial"/>
                <a:ea typeface="Arial"/>
                <a:cs typeface="Arial"/>
              </a:rPr>
              <a:t>Independent coded risk approval precedes execution</a:t>
            </a:r>
          </a:p>
        </p:txBody>
      </p:sp>
    </p:spTree>
    <p:extLst>
      <p:ext uri="{BB962C8B-B14F-4D97-AF65-F5344CB8AC3E}">
        <p14:creationId xmlns:p14="http://schemas.microsoft.com/office/powerpoint/2010/main" val="5809867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USD 5m paper-capital mandate">
            <a:extLst xmlns:a="http://schemas.openxmlformats.org/drawingml/2006/main">
              <a:ext uri="{FF2B5EF4-FFF2-40B4-BE49-F238E27FC236}">
                <a16:creationId xmlns:a16="http://schemas.microsoft.com/office/drawing/2014/main" id="{D0644BE9-3495-414C-98BB-13D41CA20B25}"/>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USD 5m paper-capital mandate</a:t>
            </a:r>
          </a:p>
        </p:txBody>
      </p:sp>
      <p:sp>
        <p:nvSpPr>
          <p:cNvPr id="2" name="Illustrative starting capital, subject to the course convention">
            <a:extLst xmlns:a="http://schemas.openxmlformats.org/drawingml/2006/main">
              <a:ext uri="{FF2B5EF4-FFF2-40B4-BE49-F238E27FC236}">
                <a16:creationId xmlns:a16="http://schemas.microsoft.com/office/drawing/2014/main" id="{6ECDA0F6-E20C-42E6-85CB-CA3C1BD9FE99}"/>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Illustrative starting capital, subject to the course convention</a:t>
            </a:r>
          </a:p>
        </p:txBody>
      </p:sp>
      <p:sp>
        <p:nvSpPr>
          <p:cNvPr id="3" name="04">
            <a:extLst xmlns:a="http://schemas.openxmlformats.org/drawingml/2006/main">
              <a:ext uri="{FF2B5EF4-FFF2-40B4-BE49-F238E27FC236}">
                <a16:creationId xmlns:a16="http://schemas.microsoft.com/office/drawing/2014/main" id="{05343B76-6A28-4053-B4A8-8828B45F8883}"/>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1BA3A93A-7206-4079-82DD-76804C40E36A}"/>
              </a:ext>
            </a:extLst>
          </p:cNvPr>
          <p:cNvGraphicFramePr/>
          <p:nvPr/>
        </p:nvGraphicFramePr>
        <p:xfrm>
          <a:off xmlns:a="http://schemas.openxmlformats.org/drawingml/2006/main" x="685800" y="1933575"/>
          <a:ext xmlns:a="http://schemas.openxmlformats.org/drawingml/2006/main" cx="5762625" cy="3352800"/>
        </p:xfrm>
        <a:graphic xmlns:a="http://schemas.openxmlformats.org/drawingml/2006/main">
          <a:graphicData uri="http://schemas.openxmlformats.org/drawingml/2006/table">
            <a:tbl>
              <a:tblPr firstRow="1" bandRow="0"/>
              <a:tblGrid>
                <a:gridCol w="2381250"/>
                <a:gridCol w="1809750"/>
                <a:gridCol w="1571625"/>
              </a:tblGrid>
              <a:tr h="558800">
                <a:tc>
                  <a:txBody>
                    <a:bodyPr>
                      <a:noAutofit/>
                    </a:bodyPr>
                    <a:lstStyle/>
                    <a:p>
                      <a:r>
                        <a:rPr sz="1800" b="1">
                          <a:solidFill>
                            <a:srgbClr val="162A3A"/>
                          </a:solidFill>
                          <a:latin typeface="Arial"/>
                          <a:ea typeface="Arial"/>
                          <a:cs typeface="Arial"/>
                        </a:rPr>
                        <a:t>Mandate</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USD</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Share</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558800">
                <a:tc>
                  <a:txBody>
                    <a:bodyPr>
                      <a:noAutofit/>
                    </a:bodyPr>
                    <a:lstStyle/>
                    <a:p>
                      <a:r>
                        <a:rPr sz="1800" b="0">
                          <a:solidFill>
                            <a:srgbClr val="162A3A"/>
                          </a:solidFill>
                          <a:latin typeface="Arial"/>
                          <a:ea typeface="Arial"/>
                          <a:cs typeface="Arial"/>
                        </a:rPr>
                        <a:t>Momentum PM</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1,500,000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30%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58800">
                <a:tc>
                  <a:txBody>
                    <a:bodyPr>
                      <a:noAutofit/>
                    </a:bodyPr>
                    <a:lstStyle/>
                    <a:p>
                      <a:r>
                        <a:rPr sz="1800" b="0">
                          <a:solidFill>
                            <a:srgbClr val="162A3A"/>
                          </a:solidFill>
                          <a:latin typeface="Arial"/>
                          <a:ea typeface="Arial"/>
                          <a:cs typeface="Arial"/>
                        </a:rPr>
                        <a:t>Pairs PM</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1,500,000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30%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58800">
                <a:tc>
                  <a:txBody>
                    <a:bodyPr>
                      <a:noAutofit/>
                    </a:bodyPr>
                    <a:lstStyle/>
                    <a:p>
                      <a:r>
                        <a:rPr sz="1800" b="0">
                          <a:solidFill>
                            <a:srgbClr val="162A3A"/>
                          </a:solidFill>
                          <a:latin typeface="Arial"/>
                          <a:ea typeface="Arial"/>
                          <a:cs typeface="Arial"/>
                        </a:rPr>
                        <a:t>Crypto PM</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1,500,000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30%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58800">
                <a:tc>
                  <a:txBody>
                    <a:bodyPr>
                      <a:noAutofit/>
                    </a:bodyPr>
                    <a:lstStyle/>
                    <a:p>
                      <a:r>
                        <a:rPr sz="1800" b="0">
                          <a:solidFill>
                            <a:srgbClr val="162A3A"/>
                          </a:solidFill>
                          <a:latin typeface="Arial"/>
                          <a:ea typeface="Arial"/>
                          <a:cs typeface="Arial"/>
                        </a:rPr>
                        <a:t>Central cash</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500,000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58800">
                <a:tc>
                  <a:txBody>
                    <a:bodyPr>
                      <a:noAutofit/>
                    </a:bodyPr>
                    <a:lstStyle/>
                    <a:p>
                      <a:r>
                        <a:rPr sz="1800" b="0">
                          <a:solidFill>
                            <a:srgbClr val="162A3A"/>
                          </a:solidFill>
                          <a:latin typeface="Arial"/>
                          <a:ea typeface="Arial"/>
                          <a:cs typeface="Arial"/>
                        </a:rPr>
                        <a:t>Total fund</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5,000,000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Initial capital, USD millions">
            <a:extLst xmlns:a="http://schemas.openxmlformats.org/drawingml/2006/main">
              <a:ext uri="{FF2B5EF4-FFF2-40B4-BE49-F238E27FC236}">
                <a16:creationId xmlns:a16="http://schemas.microsoft.com/office/drawing/2014/main" id="{9D06FFE8-152A-4B46-8D77-3282B138CBD3}"/>
              </a:ext>
            </a:extLst>
          </p:cNvPr>
          <p:cNvSpPr>
            <a:spLocks xmlns:a="http://schemas.openxmlformats.org/drawingml/2006/main" noGrp="1"/>
          </p:cNvSpPr>
          <p:nvPr/>
        </p:nvSpPr>
        <p:spPr>
          <a:xfrm xmlns:a="http://schemas.openxmlformats.org/drawingml/2006/main">
            <a:off x="7096125" y="1971675"/>
            <a:ext cx="4410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2A3A"/>
                </a:solidFill>
                <a:latin typeface="Arial"/>
                <a:ea typeface="Arial"/>
                <a:cs typeface="Arial"/>
              </a:defRPr>
            </a:defPPr>
            <a:lvl1pPr algn="l">
              <a:defRPr sz="1950" b="1">
                <a:solidFill>
                  <a:srgbClr val="162A3A"/>
                </a:solidFill>
                <a:latin typeface="Arial"/>
                <a:ea typeface="Arial"/>
                <a:cs typeface="Arial"/>
              </a:defRPr>
            </a:lvl1pPr>
            <a:lvl2pPr algn="l">
              <a:defRPr sz="1950" b="1">
                <a:solidFill>
                  <a:srgbClr val="162A3A"/>
                </a:solidFill>
                <a:latin typeface="Arial"/>
                <a:ea typeface="Arial"/>
                <a:cs typeface="Arial"/>
              </a:defRPr>
            </a:lvl2pPr>
            <a:lvl3pPr algn="l">
              <a:defRPr sz="1950" b="1">
                <a:solidFill>
                  <a:srgbClr val="162A3A"/>
                </a:solidFill>
                <a:latin typeface="Arial"/>
                <a:ea typeface="Arial"/>
                <a:cs typeface="Arial"/>
              </a:defRPr>
            </a:lvl3pPr>
            <a:lvl4pPr algn="l">
              <a:defRPr sz="1950" b="1">
                <a:solidFill>
                  <a:srgbClr val="162A3A"/>
                </a:solidFill>
                <a:latin typeface="Arial"/>
                <a:ea typeface="Arial"/>
                <a:cs typeface="Arial"/>
              </a:defRPr>
            </a:lvl4pPr>
            <a:lvl5pPr algn="l">
              <a:defRPr sz="1950" b="1">
                <a:solidFill>
                  <a:srgbClr val="162A3A"/>
                </a:solidFill>
                <a:latin typeface="Arial"/>
                <a:ea typeface="Arial"/>
                <a:cs typeface="Arial"/>
              </a:defRPr>
            </a:lvl5pPr>
            <a:lvl6pPr algn="l">
              <a:defRPr sz="1950" b="1">
                <a:solidFill>
                  <a:srgbClr val="162A3A"/>
                </a:solidFill>
                <a:latin typeface="Arial"/>
                <a:ea typeface="Arial"/>
                <a:cs typeface="Arial"/>
              </a:defRPr>
            </a:lvl6pPr>
            <a:lvl7pPr algn="l">
              <a:defRPr sz="1950" b="1">
                <a:solidFill>
                  <a:srgbClr val="162A3A"/>
                </a:solidFill>
                <a:latin typeface="Arial"/>
                <a:ea typeface="Arial"/>
                <a:cs typeface="Arial"/>
              </a:defRPr>
            </a:lvl7pPr>
            <a:lvl8pPr algn="l">
              <a:defRPr sz="1950" b="1">
                <a:solidFill>
                  <a:srgbClr val="162A3A"/>
                </a:solidFill>
                <a:latin typeface="Arial"/>
                <a:ea typeface="Arial"/>
                <a:cs typeface="Arial"/>
              </a:defRPr>
            </a:lvl8pPr>
            <a:lvl9pPr algn="l">
              <a:defRPr sz="1950" b="1">
                <a:solidFill>
                  <a:srgbClr val="162A3A"/>
                </a:solidFill>
                <a:latin typeface="Arial"/>
                <a:ea typeface="Arial"/>
                <a:cs typeface="Arial"/>
              </a:defRPr>
            </a:lvl9pPr>
          </a:lstStyle>
          <a:p xmlns:a="http://schemas.openxmlformats.org/drawingml/2006/main">
            <a:pPr algn="l">
              <a:defRPr sz="1950" b="1">
                <a:solidFill>
                  <a:srgbClr val="162A3A"/>
                </a:solidFill>
                <a:latin typeface="Arial"/>
                <a:ea typeface="Arial"/>
                <a:cs typeface="Arial"/>
              </a:defRPr>
            </a:pPr>
            <a:r>
              <a:rPr sz="1950" b="1">
                <a:solidFill>
                  <a:srgbClr val="162A3A"/>
                </a:solidFill>
                <a:latin typeface="Arial"/>
                <a:ea typeface="Arial"/>
                <a:cs typeface="Arial"/>
              </a:rPr>
              <a:t>Initial capital, USD millions</a:t>
            </a:r>
          </a:p>
        </p:txBody>
      </p:sp>
      <p:graphicFrame>
        <p:nvGraphicFramePr>
          <p:cNvPr id="6" name="Chart">
            <a:extLst xmlns:a="http://schemas.openxmlformats.org/drawingml/2006/main">
              <a:ext uri="{FF2B5EF4-FFF2-40B4-BE49-F238E27FC236}">
                <a16:creationId xmlns:a16="http://schemas.microsoft.com/office/drawing/2014/main" id="{2B304667-EEAB-442B-AF8A-46FEF6977EEF}"/>
              </a:ext>
            </a:extLst>
          </p:cNvPr>
          <p:cNvGraphicFramePr/>
          <p:nvPr/>
        </p:nvGraphicFramePr>
        <p:xfrm>
          <a:off xmlns:a="http://schemas.openxmlformats.org/drawingml/2006/main" x="7000875" y="2543175"/>
          <a:ext xmlns:a="http://schemas.openxmlformats.org/drawingml/2006/main" cx="4505325" cy="2714625"/>
        </p:xfrm>
        <a:graphic xmlns:a="http://schemas.openxmlformats.org/drawingml/2006/main">
          <a:graphicData uri="http://schemas.openxmlformats.org/drawingml/2006/chart">
            <c:chart xmlns:r="http://schemas.openxmlformats.org/officeDocument/2006/relationships" xmlns:c="http://schemas.openxmlformats.org/drawingml/2006/chart" r:id="Re220c1edeb9a4129"/>
          </a:graphicData>
        </a:graphic>
      </p:graphicFrame>
      <p:sp>
        <p:nvSpPr>
          <p:cNvPr id="7" name="Initial budgets stay fixed. Returns cause each PM’s fund weight to drift.">
            <a:extLst xmlns:a="http://schemas.openxmlformats.org/drawingml/2006/main">
              <a:ext uri="{FF2B5EF4-FFF2-40B4-BE49-F238E27FC236}">
                <a16:creationId xmlns:a16="http://schemas.microsoft.com/office/drawing/2014/main" id="{37D0370F-506F-4E4F-9D99-0BFF115F718E}"/>
              </a:ext>
            </a:extLst>
          </p:cNvPr>
          <p:cNvSpPr>
            <a:spLocks xmlns:a="http://schemas.openxmlformats.org/drawingml/2006/main" noGrp="1"/>
          </p:cNvSpPr>
          <p:nvPr/>
        </p:nvSpPr>
        <p:spPr>
          <a:xfrm xmlns:a="http://schemas.openxmlformats.org/drawingml/2006/main">
            <a:off x="685800" y="56578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vl1pPr algn="l">
              <a:defRPr sz="1950" b="0">
                <a:solidFill>
                  <a:srgbClr val="162A3A"/>
                </a:solidFill>
                <a:latin typeface="Arial"/>
                <a:ea typeface="Arial"/>
                <a:cs typeface="Arial"/>
              </a:defRPr>
            </a:lvl1pPr>
            <a:lvl2pPr algn="l">
              <a:defRPr sz="1950" b="0">
                <a:solidFill>
                  <a:srgbClr val="162A3A"/>
                </a:solidFill>
                <a:latin typeface="Arial"/>
                <a:ea typeface="Arial"/>
                <a:cs typeface="Arial"/>
              </a:defRPr>
            </a:lvl2pPr>
            <a:lvl3pPr algn="l">
              <a:defRPr sz="1950" b="0">
                <a:solidFill>
                  <a:srgbClr val="162A3A"/>
                </a:solidFill>
                <a:latin typeface="Arial"/>
                <a:ea typeface="Arial"/>
                <a:cs typeface="Arial"/>
              </a:defRPr>
            </a:lvl3pPr>
            <a:lvl4pPr algn="l">
              <a:defRPr sz="1950" b="0">
                <a:solidFill>
                  <a:srgbClr val="162A3A"/>
                </a:solidFill>
                <a:latin typeface="Arial"/>
                <a:ea typeface="Arial"/>
                <a:cs typeface="Arial"/>
              </a:defRPr>
            </a:lvl4pPr>
            <a:lvl5pPr algn="l">
              <a:defRPr sz="1950" b="0">
                <a:solidFill>
                  <a:srgbClr val="162A3A"/>
                </a:solidFill>
                <a:latin typeface="Arial"/>
                <a:ea typeface="Arial"/>
                <a:cs typeface="Arial"/>
              </a:defRPr>
            </a:lvl5pPr>
            <a:lvl6pPr algn="l">
              <a:defRPr sz="1950" b="0">
                <a:solidFill>
                  <a:srgbClr val="162A3A"/>
                </a:solidFill>
                <a:latin typeface="Arial"/>
                <a:ea typeface="Arial"/>
                <a:cs typeface="Arial"/>
              </a:defRPr>
            </a:lvl6pPr>
            <a:lvl7pPr algn="l">
              <a:defRPr sz="1950" b="0">
                <a:solidFill>
                  <a:srgbClr val="162A3A"/>
                </a:solidFill>
                <a:latin typeface="Arial"/>
                <a:ea typeface="Arial"/>
                <a:cs typeface="Arial"/>
              </a:defRPr>
            </a:lvl7pPr>
            <a:lvl8pPr algn="l">
              <a:defRPr sz="1950" b="0">
                <a:solidFill>
                  <a:srgbClr val="162A3A"/>
                </a:solidFill>
                <a:latin typeface="Arial"/>
                <a:ea typeface="Arial"/>
                <a:cs typeface="Arial"/>
              </a:defRPr>
            </a:lvl8pPr>
            <a:lvl9pPr algn="l">
              <a:defRPr sz="1950" b="0">
                <a:solidFill>
                  <a:srgbClr val="162A3A"/>
                </a:solidFill>
                <a:latin typeface="Arial"/>
                <a:ea typeface="Arial"/>
                <a:cs typeface="Arial"/>
              </a:defRPr>
            </a:lvl9pPr>
          </a:lstStyle>
          <a:p xmlns:a="http://schemas.openxmlformats.org/drawingml/2006/main">
            <a:pPr algn="l">
              <a:defRPr sz="1950" b="0">
                <a:solidFill>
                  <a:srgbClr val="162A3A"/>
                </a:solidFill>
                <a:latin typeface="Arial"/>
                <a:ea typeface="Arial"/>
                <a:cs typeface="Arial"/>
              </a:defRPr>
            </a:pPr>
            <a:r>
              <a:rPr sz="1950" b="0">
                <a:solidFill>
                  <a:srgbClr val="162A3A"/>
                </a:solidFill>
                <a:latin typeface="Arial"/>
                <a:ea typeface="Arial"/>
                <a:cs typeface="Arial"/>
              </a:rPr>
              <a:t>Initial budgets stay fixed. Returns cause each PM’s fund weight to drift.</a:t>
            </a:r>
          </a:p>
        </p:txBody>
      </p:sp>
      <p:sp>
        <p:nvSpPr>
          <p:cNvPr id="8" name="Current prototype: momentum capital stays in cash until its engine connects.">
            <a:extLst xmlns:a="http://schemas.openxmlformats.org/drawingml/2006/main">
              <a:ext uri="{FF2B5EF4-FFF2-40B4-BE49-F238E27FC236}">
                <a16:creationId xmlns:a16="http://schemas.microsoft.com/office/drawing/2014/main" id="{3652888C-5558-4B09-8E14-E0354D5B1D22}"/>
              </a:ext>
            </a:extLst>
          </p:cNvPr>
          <p:cNvSpPr>
            <a:spLocks xmlns:a="http://schemas.openxmlformats.org/drawingml/2006/main" noGrp="1"/>
          </p:cNvSpPr>
          <p:nvPr/>
        </p:nvSpPr>
        <p:spPr>
          <a:xfrm xmlns:a="http://schemas.openxmlformats.org/drawingml/2006/main">
            <a:off x="685800" y="61245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16476"/>
                </a:solidFill>
                <a:latin typeface="Arial"/>
                <a:ea typeface="Arial"/>
                <a:cs typeface="Arial"/>
              </a:defRPr>
            </a:defPPr>
            <a:lvl1pPr algn="l">
              <a:defRPr sz="1725" b="0">
                <a:solidFill>
                  <a:srgbClr val="516476"/>
                </a:solidFill>
                <a:latin typeface="Arial"/>
                <a:ea typeface="Arial"/>
                <a:cs typeface="Arial"/>
              </a:defRPr>
            </a:lvl1pPr>
            <a:lvl2pPr algn="l">
              <a:defRPr sz="1725" b="0">
                <a:solidFill>
                  <a:srgbClr val="516476"/>
                </a:solidFill>
                <a:latin typeface="Arial"/>
                <a:ea typeface="Arial"/>
                <a:cs typeface="Arial"/>
              </a:defRPr>
            </a:lvl2pPr>
            <a:lvl3pPr algn="l">
              <a:defRPr sz="1725" b="0">
                <a:solidFill>
                  <a:srgbClr val="516476"/>
                </a:solidFill>
                <a:latin typeface="Arial"/>
                <a:ea typeface="Arial"/>
                <a:cs typeface="Arial"/>
              </a:defRPr>
            </a:lvl3pPr>
            <a:lvl4pPr algn="l">
              <a:defRPr sz="1725" b="0">
                <a:solidFill>
                  <a:srgbClr val="516476"/>
                </a:solidFill>
                <a:latin typeface="Arial"/>
                <a:ea typeface="Arial"/>
                <a:cs typeface="Arial"/>
              </a:defRPr>
            </a:lvl4pPr>
            <a:lvl5pPr algn="l">
              <a:defRPr sz="1725" b="0">
                <a:solidFill>
                  <a:srgbClr val="516476"/>
                </a:solidFill>
                <a:latin typeface="Arial"/>
                <a:ea typeface="Arial"/>
                <a:cs typeface="Arial"/>
              </a:defRPr>
            </a:lvl5pPr>
            <a:lvl6pPr algn="l">
              <a:defRPr sz="1725" b="0">
                <a:solidFill>
                  <a:srgbClr val="516476"/>
                </a:solidFill>
                <a:latin typeface="Arial"/>
                <a:ea typeface="Arial"/>
                <a:cs typeface="Arial"/>
              </a:defRPr>
            </a:lvl6pPr>
            <a:lvl7pPr algn="l">
              <a:defRPr sz="1725" b="0">
                <a:solidFill>
                  <a:srgbClr val="516476"/>
                </a:solidFill>
                <a:latin typeface="Arial"/>
                <a:ea typeface="Arial"/>
                <a:cs typeface="Arial"/>
              </a:defRPr>
            </a:lvl7pPr>
            <a:lvl8pPr algn="l">
              <a:defRPr sz="1725" b="0">
                <a:solidFill>
                  <a:srgbClr val="516476"/>
                </a:solidFill>
                <a:latin typeface="Arial"/>
                <a:ea typeface="Arial"/>
                <a:cs typeface="Arial"/>
              </a:defRPr>
            </a:lvl8pPr>
            <a:lvl9pPr algn="l">
              <a:defRPr sz="1725" b="0">
                <a:solidFill>
                  <a:srgbClr val="516476"/>
                </a:solidFill>
                <a:latin typeface="Arial"/>
                <a:ea typeface="Arial"/>
                <a:cs typeface="Arial"/>
              </a:defRPr>
            </a:lvl9pPr>
          </a:lstStyle>
          <a:p xmlns:a="http://schemas.openxmlformats.org/drawingml/2006/main">
            <a:pPr algn="l">
              <a:defRPr sz="1725" b="0">
                <a:solidFill>
                  <a:srgbClr val="516476"/>
                </a:solidFill>
                <a:latin typeface="Arial"/>
                <a:ea typeface="Arial"/>
                <a:cs typeface="Arial"/>
              </a:defRPr>
            </a:pPr>
            <a:r>
              <a:rPr sz="1725" b="0">
                <a:solidFill>
                  <a:srgbClr val="516476"/>
                </a:solidFill>
                <a:latin typeface="Arial"/>
                <a:ea typeface="Arial"/>
                <a:cs typeface="Arial"/>
              </a:rPr>
              <a:t>Current prototype: momentum capital stays in cash until its engine connects.</a:t>
            </a:r>
          </a:p>
        </p:txBody>
      </p:sp>
    </p:spTree>
    <p:extLst>
      <p:ext uri="{BB962C8B-B14F-4D97-AF65-F5344CB8AC3E}">
        <p14:creationId xmlns:p14="http://schemas.microsoft.com/office/powerpoint/2010/main" val="50020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he three PM mandates">
            <a:extLst xmlns:a="http://schemas.openxmlformats.org/drawingml/2006/main">
              <a:ext uri="{FF2B5EF4-FFF2-40B4-BE49-F238E27FC236}">
                <a16:creationId xmlns:a16="http://schemas.microsoft.com/office/drawing/2014/main" id="{80568CDC-136F-46D0-9002-3866A813461B}"/>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The three PM mandates</a:t>
            </a:r>
          </a:p>
        </p:txBody>
      </p:sp>
      <p:sp>
        <p:nvSpPr>
          <p:cNvPr id="2" name="Each PM owns its strategy and an attributable virtual portfolio">
            <a:extLst xmlns:a="http://schemas.openxmlformats.org/drawingml/2006/main">
              <a:ext uri="{FF2B5EF4-FFF2-40B4-BE49-F238E27FC236}">
                <a16:creationId xmlns:a16="http://schemas.microsoft.com/office/drawing/2014/main" id="{65F1E695-44E2-4C3C-ABA4-8313D659CAB5}"/>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Each PM owns its strategy and an attributable virtual portfolio</a:t>
            </a:r>
          </a:p>
        </p:txBody>
      </p:sp>
      <p:sp>
        <p:nvSpPr>
          <p:cNvPr id="3" name="05">
            <a:extLst xmlns:a="http://schemas.openxmlformats.org/drawingml/2006/main">
              <a:ext uri="{FF2B5EF4-FFF2-40B4-BE49-F238E27FC236}">
                <a16:creationId xmlns:a16="http://schemas.microsoft.com/office/drawing/2014/main" id="{5329D5E2-5A57-46FB-9ED2-CB30CFC5636F}"/>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9037CF22-C105-4DA5-8A6F-4C57C23723EB}"/>
              </a:ext>
            </a:extLst>
          </p:cNvPr>
          <p:cNvGraphicFramePr/>
          <p:nvPr/>
        </p:nvGraphicFramePr>
        <p:xfrm>
          <a:off xmlns:a="http://schemas.openxmlformats.org/drawingml/2006/main" x="685800" y="1952625"/>
          <a:ext xmlns:a="http://schemas.openxmlformats.org/drawingml/2006/main" cx="10820400" cy="3105150"/>
        </p:xfrm>
        <a:graphic xmlns:a="http://schemas.openxmlformats.org/drawingml/2006/main">
          <a:graphicData uri="http://schemas.openxmlformats.org/drawingml/2006/table">
            <a:tbl>
              <a:tblPr firstRow="1" bandRow="0"/>
              <a:tblGrid>
                <a:gridCol w="2381250"/>
                <a:gridCol w="5295900"/>
                <a:gridCol w="3143250"/>
              </a:tblGrid>
              <a:tr h="776288">
                <a:tc>
                  <a:txBody>
                    <a:bodyPr>
                      <a:noAutofit/>
                    </a:bodyPr>
                    <a:lstStyle/>
                    <a:p>
                      <a:r>
                        <a:rPr sz="1875" b="1">
                          <a:solidFill>
                            <a:srgbClr val="162A3A"/>
                          </a:solidFill>
                          <a:latin typeface="Arial"/>
                          <a:ea typeface="Arial"/>
                          <a:cs typeface="Arial"/>
                        </a:rPr>
                        <a:t>PM</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Investment approach</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Current status</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776288">
                <a:tc>
                  <a:txBody>
                    <a:bodyPr>
                      <a:noAutofit/>
                    </a:bodyPr>
                    <a:lstStyle/>
                    <a:p>
                      <a:r>
                        <a:rPr sz="1875" b="0">
                          <a:solidFill>
                            <a:srgbClr val="162A3A"/>
                          </a:solidFill>
                          <a:latin typeface="Arial"/>
                          <a:ea typeface="Arial"/>
                          <a:cs typeface="Arial"/>
                        </a:rPr>
                        <a:t>Equity momentum</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Teammate stock-selection rule</a:t>
                      </a:r>
                    </a:p>
                    <a:p>
                      <a:r>
                        <a:rPr sz="1875" b="0">
                          <a:solidFill>
                            <a:srgbClr val="162A3A"/>
                          </a:solidFill>
                          <a:latin typeface="Arial"/>
                          <a:ea typeface="Arial"/>
                          <a:cs typeface="Arial"/>
                        </a:rPr>
                        <a:t>Universe and cadence to confirm</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Integration pending</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76288">
                <a:tc>
                  <a:txBody>
                    <a:bodyPr>
                      <a:noAutofit/>
                    </a:bodyPr>
                    <a:lstStyle/>
                    <a:p>
                      <a:r>
                        <a:rPr sz="1875" b="0">
                          <a:solidFill>
                            <a:srgbClr val="162A3A"/>
                          </a:solidFill>
                          <a:latin typeface="Arial"/>
                          <a:ea typeface="Arial"/>
                          <a:cs typeface="Arial"/>
                        </a:rPr>
                        <a:t>Daily pairs</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Teammate Kalman hedge estimate</a:t>
                      </a:r>
                    </a:p>
                    <a:p>
                      <a:r>
                        <a:rPr sz="1875" b="0">
                          <a:solidFill>
                            <a:srgbClr val="162A3A"/>
                          </a:solidFill>
                          <a:latin typeface="Arial"/>
                          <a:ea typeface="Arial"/>
                          <a:cs typeface="Arial"/>
                        </a:rPr>
                        <a:t>and mean-reverting spread forecast</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Adapter connected</a:t>
                      </a:r>
                    </a:p>
                    <a:p>
                      <a:r>
                        <a:rPr sz="1875" b="0">
                          <a:solidFill>
                            <a:srgbClr val="162A3A"/>
                          </a:solidFill>
                          <a:latin typeface="Arial"/>
                          <a:ea typeface="Arial"/>
                          <a:cs typeface="Arial"/>
                        </a:rPr>
                        <a:t>V/MA research setup</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76288">
                <a:tc>
                  <a:txBody>
                    <a:bodyPr>
                      <a:noAutofit/>
                    </a:bodyPr>
                    <a:lstStyle/>
                    <a:p>
                      <a:r>
                        <a:rPr sz="1875" b="0">
                          <a:solidFill>
                            <a:srgbClr val="162A3A"/>
                          </a:solidFill>
                          <a:latin typeface="Arial"/>
                          <a:ea typeface="Arial"/>
                          <a:cs typeface="Arial"/>
                        </a:rPr>
                        <a:t>Crypto</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Existing crypto signal engine</a:t>
                      </a:r>
                    </a:p>
                    <a:p>
                      <a:r>
                        <a:rPr sz="1875" b="0">
                          <a:solidFill>
                            <a:srgbClr val="162A3A"/>
                          </a:solidFill>
                          <a:latin typeface="Arial"/>
                          <a:ea typeface="Arial"/>
                          <a:cs typeface="Arial"/>
                        </a:rPr>
                        <a:t>Long exposure or cash</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Adapter connected</a:t>
                      </a:r>
                    </a:p>
                    <a:p>
                      <a:r>
                        <a:rPr sz="1875" b="0">
                          <a:solidFill>
                            <a:srgbClr val="162A3A"/>
                          </a:solidFill>
                          <a:latin typeface="Arial"/>
                          <a:ea typeface="Arial"/>
                          <a:cs typeface="Arial"/>
                        </a:rPr>
                        <a:t>Daily baseline separate</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Common PM output: target holdings, timestamps, model version and evidence">
            <a:extLst xmlns:a="http://schemas.openxmlformats.org/drawingml/2006/main">
              <a:ext uri="{FF2B5EF4-FFF2-40B4-BE49-F238E27FC236}">
                <a16:creationId xmlns:a16="http://schemas.microsoft.com/office/drawing/2014/main" id="{4F4EE00C-F814-43B6-B36F-D5693644F0D5}"/>
              </a:ext>
            </a:extLst>
          </p:cNvPr>
          <p:cNvSpPr>
            <a:spLocks xmlns:a="http://schemas.openxmlformats.org/drawingml/2006/main" noGrp="1"/>
          </p:cNvSpPr>
          <p:nvPr/>
        </p:nvSpPr>
        <p:spPr>
          <a:xfrm xmlns:a="http://schemas.openxmlformats.org/drawingml/2006/main">
            <a:off x="685800" y="55149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B"/>
                </a:solidFill>
                <a:latin typeface="Arial"/>
                <a:ea typeface="Arial"/>
                <a:cs typeface="Arial"/>
              </a:defRPr>
            </a:defPPr>
            <a:lvl1pPr algn="l">
              <a:defRPr sz="2100" b="1">
                <a:solidFill>
                  <a:srgbClr val="087E8B"/>
                </a:solidFill>
                <a:latin typeface="Arial"/>
                <a:ea typeface="Arial"/>
                <a:cs typeface="Arial"/>
              </a:defRPr>
            </a:lvl1pPr>
            <a:lvl2pPr algn="l">
              <a:defRPr sz="2100" b="1">
                <a:solidFill>
                  <a:srgbClr val="087E8B"/>
                </a:solidFill>
                <a:latin typeface="Arial"/>
                <a:ea typeface="Arial"/>
                <a:cs typeface="Arial"/>
              </a:defRPr>
            </a:lvl2pPr>
            <a:lvl3pPr algn="l">
              <a:defRPr sz="2100" b="1">
                <a:solidFill>
                  <a:srgbClr val="087E8B"/>
                </a:solidFill>
                <a:latin typeface="Arial"/>
                <a:ea typeface="Arial"/>
                <a:cs typeface="Arial"/>
              </a:defRPr>
            </a:lvl3pPr>
            <a:lvl4pPr algn="l">
              <a:defRPr sz="2100" b="1">
                <a:solidFill>
                  <a:srgbClr val="087E8B"/>
                </a:solidFill>
                <a:latin typeface="Arial"/>
                <a:ea typeface="Arial"/>
                <a:cs typeface="Arial"/>
              </a:defRPr>
            </a:lvl4pPr>
            <a:lvl5pPr algn="l">
              <a:defRPr sz="2100" b="1">
                <a:solidFill>
                  <a:srgbClr val="087E8B"/>
                </a:solidFill>
                <a:latin typeface="Arial"/>
                <a:ea typeface="Arial"/>
                <a:cs typeface="Arial"/>
              </a:defRPr>
            </a:lvl5pPr>
            <a:lvl6pPr algn="l">
              <a:defRPr sz="2100" b="1">
                <a:solidFill>
                  <a:srgbClr val="087E8B"/>
                </a:solidFill>
                <a:latin typeface="Arial"/>
                <a:ea typeface="Arial"/>
                <a:cs typeface="Arial"/>
              </a:defRPr>
            </a:lvl6pPr>
            <a:lvl7pPr algn="l">
              <a:defRPr sz="2100" b="1">
                <a:solidFill>
                  <a:srgbClr val="087E8B"/>
                </a:solidFill>
                <a:latin typeface="Arial"/>
                <a:ea typeface="Arial"/>
                <a:cs typeface="Arial"/>
              </a:defRPr>
            </a:lvl7pPr>
            <a:lvl8pPr algn="l">
              <a:defRPr sz="2100" b="1">
                <a:solidFill>
                  <a:srgbClr val="087E8B"/>
                </a:solidFill>
                <a:latin typeface="Arial"/>
                <a:ea typeface="Arial"/>
                <a:cs typeface="Arial"/>
              </a:defRPr>
            </a:lvl8pPr>
            <a:lvl9pPr algn="l">
              <a:defRPr sz="2100" b="1">
                <a:solidFill>
                  <a:srgbClr val="087E8B"/>
                </a:solidFill>
                <a:latin typeface="Arial"/>
                <a:ea typeface="Arial"/>
                <a:cs typeface="Arial"/>
              </a:defRPr>
            </a:lvl9pPr>
          </a:lstStyle>
          <a:p xmlns:a="http://schemas.openxmlformats.org/drawingml/2006/main">
            <a:pPr algn="l">
              <a:defRPr sz="2100" b="1">
                <a:solidFill>
                  <a:srgbClr val="087E8B"/>
                </a:solidFill>
                <a:latin typeface="Arial"/>
                <a:ea typeface="Arial"/>
                <a:cs typeface="Arial"/>
              </a:defRPr>
            </a:pPr>
            <a:r>
              <a:rPr sz="2100" b="1">
                <a:solidFill>
                  <a:srgbClr val="087E8B"/>
                </a:solidFill>
                <a:latin typeface="Arial"/>
                <a:ea typeface="Arial"/>
                <a:cs typeface="Arial"/>
              </a:rPr>
              <a:t>Common PM output: target holdings, timestamps, model version and evidence</a:t>
            </a:r>
          </a:p>
        </p:txBody>
      </p:sp>
    </p:spTree>
    <p:extLst>
      <p:ext uri="{BB962C8B-B14F-4D97-AF65-F5344CB8AC3E}">
        <p14:creationId xmlns:p14="http://schemas.microsoft.com/office/powerpoint/2010/main" val="14119242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multi-agent AI role">
            <a:extLst xmlns:a="http://schemas.openxmlformats.org/drawingml/2006/main">
              <a:ext uri="{FF2B5EF4-FFF2-40B4-BE49-F238E27FC236}">
                <a16:creationId xmlns:a16="http://schemas.microsoft.com/office/drawing/2014/main" id="{FAEAC2C2-CBBE-493D-856C-E083F8B53595}"/>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The multi-agent AI role</a:t>
            </a:r>
          </a:p>
        </p:txBody>
      </p:sp>
      <p:sp>
        <p:nvSpPr>
          <p:cNvPr id="2" name="Separate PM contexts, diagnostic tools and evidence-linked explanations">
            <a:extLst xmlns:a="http://schemas.openxmlformats.org/drawingml/2006/main">
              <a:ext uri="{FF2B5EF4-FFF2-40B4-BE49-F238E27FC236}">
                <a16:creationId xmlns:a16="http://schemas.microsoft.com/office/drawing/2014/main" id="{ED7E911B-BC37-404F-84FF-636AF256F155}"/>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Separate PM contexts, diagnostic tools and evidence-linked explanations</a:t>
            </a:r>
          </a:p>
        </p:txBody>
      </p:sp>
      <p:sp>
        <p:nvSpPr>
          <p:cNvPr id="3" name="06">
            <a:extLst xmlns:a="http://schemas.openxmlformats.org/drawingml/2006/main">
              <a:ext uri="{FF2B5EF4-FFF2-40B4-BE49-F238E27FC236}">
                <a16:creationId xmlns:a16="http://schemas.microsoft.com/office/drawing/2014/main" id="{C0ED4D71-C035-4EBF-B4ED-7C5EC1E93169}"/>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6651F9C6-2385-42AE-8B78-952551166462}"/>
              </a:ext>
            </a:extLst>
          </p:cNvPr>
          <p:cNvGraphicFramePr/>
          <p:nvPr/>
        </p:nvGraphicFramePr>
        <p:xfrm>
          <a:off xmlns:a="http://schemas.openxmlformats.org/drawingml/2006/main" x="685800" y="1952625"/>
          <a:ext xmlns:a="http://schemas.openxmlformats.org/drawingml/2006/main" cx="10820400" cy="3105150"/>
        </p:xfrm>
        <a:graphic xmlns:a="http://schemas.openxmlformats.org/drawingml/2006/main">
          <a:graphicData uri="http://schemas.openxmlformats.org/drawingml/2006/table">
            <a:tbl>
              <a:tblPr firstRow="1" bandRow="0"/>
              <a:tblGrid>
                <a:gridCol w="2466975"/>
                <a:gridCol w="4219575"/>
                <a:gridCol w="4133850"/>
              </a:tblGrid>
              <a:tr h="776288">
                <a:tc>
                  <a:txBody>
                    <a:bodyPr>
                      <a:noAutofit/>
                    </a:bodyPr>
                    <a:lstStyle/>
                    <a:p>
                      <a:r>
                        <a:rPr sz="1875" b="1">
                          <a:solidFill>
                            <a:srgbClr val="162A3A"/>
                          </a:solidFill>
                          <a:latin typeface="Arial"/>
                          <a:ea typeface="Arial"/>
                          <a:cs typeface="Arial"/>
                        </a:rPr>
                        <a:t>AI representative</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Questions it investigates</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Investor-facing memo</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776288">
                <a:tc>
                  <a:txBody>
                    <a:bodyPr>
                      <a:noAutofit/>
                    </a:bodyPr>
                    <a:lstStyle/>
                    <a:p>
                      <a:r>
                        <a:rPr sz="1875" b="0">
                          <a:solidFill>
                            <a:srgbClr val="162A3A"/>
                          </a:solidFill>
                          <a:latin typeface="Arial"/>
                          <a:ea typeface="Arial"/>
                          <a:cs typeface="Arial"/>
                        </a:rPr>
                        <a:t>Momentum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Rankings, concentration</a:t>
                      </a:r>
                    </a:p>
                    <a:p>
                      <a:r>
                        <a:rPr sz="1875" b="0">
                          <a:solidFill>
                            <a:srgbClr val="162A3A"/>
                          </a:solidFill>
                          <a:latin typeface="Arial"/>
                          <a:ea typeface="Arial"/>
                          <a:cs typeface="Arial"/>
                        </a:rPr>
                        <a:t>and proposed holdings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Why these stocks?</a:t>
                      </a:r>
                    </a:p>
                    <a:p>
                      <a:r>
                        <a:rPr sz="1875" b="0">
                          <a:solidFill>
                            <a:srgbClr val="162A3A"/>
                          </a:solidFill>
                          <a:latin typeface="Arial"/>
                          <a:ea typeface="Arial"/>
                          <a:cs typeface="Arial"/>
                        </a:rPr>
                        <a:t>Where is exposure concentrated?</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76288">
                <a:tc>
                  <a:txBody>
                    <a:bodyPr>
                      <a:noAutofit/>
                    </a:bodyPr>
                    <a:lstStyle/>
                    <a:p>
                      <a:r>
                        <a:rPr sz="1875" b="0">
                          <a:solidFill>
                            <a:srgbClr val="162A3A"/>
                          </a:solidFill>
                          <a:latin typeface="Arial"/>
                          <a:ea typeface="Arial"/>
                          <a:cs typeface="Arial"/>
                        </a:rPr>
                        <a:t>Pairs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Spread signal, hedge ratio</a:t>
                      </a:r>
                    </a:p>
                    <a:p>
                      <a:r>
                        <a:rPr sz="1875" b="0">
                          <a:solidFill>
                            <a:srgbClr val="162A3A"/>
                          </a:solidFill>
                          <a:latin typeface="Arial"/>
                          <a:ea typeface="Arial"/>
                          <a:cs typeface="Arial"/>
                        </a:rPr>
                        <a:t>and model health</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Why this linked trade?</a:t>
                      </a:r>
                    </a:p>
                    <a:p>
                      <a:r>
                        <a:rPr sz="1875" b="0">
                          <a:solidFill>
                            <a:srgbClr val="162A3A"/>
                          </a:solidFill>
                          <a:latin typeface="Arial"/>
                          <a:ea typeface="Arial"/>
                          <a:cs typeface="Arial"/>
                        </a:rPr>
                        <a:t>What could invalidate the spread?</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76288">
                <a:tc>
                  <a:txBody>
                    <a:bodyPr>
                      <a:noAutofit/>
                    </a:bodyPr>
                    <a:lstStyle/>
                    <a:p>
                      <a:r>
                        <a:rPr sz="1875" b="0">
                          <a:solidFill>
                            <a:srgbClr val="162A3A"/>
                          </a:solidFill>
                          <a:latin typeface="Arial"/>
                          <a:ea typeface="Arial"/>
                          <a:cs typeface="Arial"/>
                        </a:rPr>
                        <a:t>Crypto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Signal qualification, costs</a:t>
                      </a:r>
                    </a:p>
                    <a:p>
                      <a:r>
                        <a:rPr sz="1875" b="0">
                          <a:solidFill>
                            <a:srgbClr val="162A3A"/>
                          </a:solidFill>
                          <a:latin typeface="Arial"/>
                          <a:ea typeface="Arial"/>
                          <a:cs typeface="Arial"/>
                        </a:rPr>
                        <a:t>and volatility</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Why take exposure or hold cash?</a:t>
                      </a:r>
                    </a:p>
                    <a:p>
                      <a:r>
                        <a:rPr sz="1875" b="0">
                          <a:solidFill>
                            <a:srgbClr val="162A3A"/>
                          </a:solidFill>
                          <a:latin typeface="Arial"/>
                          <a:ea typeface="Arial"/>
                          <a:cs typeface="Arial"/>
                        </a:rPr>
                        <a:t>Which inputs need review?</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Planned AI committee chair compares PM memos and records unresolved issues">
            <a:extLst xmlns:a="http://schemas.openxmlformats.org/drawingml/2006/main">
              <a:ext uri="{FF2B5EF4-FFF2-40B4-BE49-F238E27FC236}">
                <a16:creationId xmlns:a16="http://schemas.microsoft.com/office/drawing/2014/main" id="{1F007138-7E67-4383-8F17-CFCBFBB7205F}"/>
              </a:ext>
            </a:extLst>
          </p:cNvPr>
          <p:cNvSpPr>
            <a:spLocks xmlns:a="http://schemas.openxmlformats.org/drawingml/2006/main" noGrp="1"/>
          </p:cNvSpPr>
          <p:nvPr/>
        </p:nvSpPr>
        <p:spPr>
          <a:xfrm xmlns:a="http://schemas.openxmlformats.org/drawingml/2006/main">
            <a:off x="685800" y="54006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E8B"/>
                </a:solidFill>
                <a:latin typeface="Arial"/>
                <a:ea typeface="Arial"/>
                <a:cs typeface="Arial"/>
              </a:defRPr>
            </a:defPPr>
            <a:lvl1pPr algn="l">
              <a:defRPr sz="2025" b="1">
                <a:solidFill>
                  <a:srgbClr val="087E8B"/>
                </a:solidFill>
                <a:latin typeface="Arial"/>
                <a:ea typeface="Arial"/>
                <a:cs typeface="Arial"/>
              </a:defRPr>
            </a:lvl1pPr>
            <a:lvl2pPr algn="l">
              <a:defRPr sz="2025" b="1">
                <a:solidFill>
                  <a:srgbClr val="087E8B"/>
                </a:solidFill>
                <a:latin typeface="Arial"/>
                <a:ea typeface="Arial"/>
                <a:cs typeface="Arial"/>
              </a:defRPr>
            </a:lvl2pPr>
            <a:lvl3pPr algn="l">
              <a:defRPr sz="2025" b="1">
                <a:solidFill>
                  <a:srgbClr val="087E8B"/>
                </a:solidFill>
                <a:latin typeface="Arial"/>
                <a:ea typeface="Arial"/>
                <a:cs typeface="Arial"/>
              </a:defRPr>
            </a:lvl3pPr>
            <a:lvl4pPr algn="l">
              <a:defRPr sz="2025" b="1">
                <a:solidFill>
                  <a:srgbClr val="087E8B"/>
                </a:solidFill>
                <a:latin typeface="Arial"/>
                <a:ea typeface="Arial"/>
                <a:cs typeface="Arial"/>
              </a:defRPr>
            </a:lvl4pPr>
            <a:lvl5pPr algn="l">
              <a:defRPr sz="2025" b="1">
                <a:solidFill>
                  <a:srgbClr val="087E8B"/>
                </a:solidFill>
                <a:latin typeface="Arial"/>
                <a:ea typeface="Arial"/>
                <a:cs typeface="Arial"/>
              </a:defRPr>
            </a:lvl5pPr>
            <a:lvl6pPr algn="l">
              <a:defRPr sz="2025" b="1">
                <a:solidFill>
                  <a:srgbClr val="087E8B"/>
                </a:solidFill>
                <a:latin typeface="Arial"/>
                <a:ea typeface="Arial"/>
                <a:cs typeface="Arial"/>
              </a:defRPr>
            </a:lvl6pPr>
            <a:lvl7pPr algn="l">
              <a:defRPr sz="2025" b="1">
                <a:solidFill>
                  <a:srgbClr val="087E8B"/>
                </a:solidFill>
                <a:latin typeface="Arial"/>
                <a:ea typeface="Arial"/>
                <a:cs typeface="Arial"/>
              </a:defRPr>
            </a:lvl7pPr>
            <a:lvl8pPr algn="l">
              <a:defRPr sz="2025" b="1">
                <a:solidFill>
                  <a:srgbClr val="087E8B"/>
                </a:solidFill>
                <a:latin typeface="Arial"/>
                <a:ea typeface="Arial"/>
                <a:cs typeface="Arial"/>
              </a:defRPr>
            </a:lvl8pPr>
            <a:lvl9pPr algn="l">
              <a:defRPr sz="2025" b="1">
                <a:solidFill>
                  <a:srgbClr val="087E8B"/>
                </a:solidFill>
                <a:latin typeface="Arial"/>
                <a:ea typeface="Arial"/>
                <a:cs typeface="Arial"/>
              </a:defRPr>
            </a:lvl9pPr>
          </a:lstStyle>
          <a:p xmlns:a="http://schemas.openxmlformats.org/drawingml/2006/main">
            <a:pPr algn="l">
              <a:defRPr sz="2025" b="1">
                <a:solidFill>
                  <a:srgbClr val="087E8B"/>
                </a:solidFill>
                <a:latin typeface="Arial"/>
                <a:ea typeface="Arial"/>
                <a:cs typeface="Arial"/>
              </a:defRPr>
            </a:pPr>
            <a:r>
              <a:rPr sz="2025" b="1">
                <a:solidFill>
                  <a:srgbClr val="087E8B"/>
                </a:solidFill>
                <a:latin typeface="Arial"/>
                <a:ea typeface="Arial"/>
                <a:cs typeface="Arial"/>
              </a:rPr>
              <a:t>Planned AI committee chair compares PM memos and records unresolved issues</a:t>
            </a:r>
          </a:p>
        </p:txBody>
      </p:sp>
      <p:sp>
        <p:nvSpPr>
          <p:cNvPr id="6" name="Current tools and imported replies exist. Automatic model calls remain pending.">
            <a:extLst xmlns:a="http://schemas.openxmlformats.org/drawingml/2006/main">
              <a:ext uri="{FF2B5EF4-FFF2-40B4-BE49-F238E27FC236}">
                <a16:creationId xmlns:a16="http://schemas.microsoft.com/office/drawing/2014/main" id="{580260D8-C563-4863-85C0-4745A12A4A0B}"/>
              </a:ext>
            </a:extLst>
          </p:cNvPr>
          <p:cNvSpPr>
            <a:spLocks xmlns:a="http://schemas.openxmlformats.org/drawingml/2006/main" noGrp="1"/>
          </p:cNvSpPr>
          <p:nvPr/>
        </p:nvSpPr>
        <p:spPr>
          <a:xfrm xmlns:a="http://schemas.openxmlformats.org/drawingml/2006/main">
            <a:off x="685800" y="61245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16476"/>
                </a:solidFill>
                <a:latin typeface="Arial"/>
                <a:ea typeface="Arial"/>
                <a:cs typeface="Arial"/>
              </a:defRPr>
            </a:defPPr>
            <a:lvl1pPr algn="l">
              <a:defRPr sz="1725" b="0">
                <a:solidFill>
                  <a:srgbClr val="516476"/>
                </a:solidFill>
                <a:latin typeface="Arial"/>
                <a:ea typeface="Arial"/>
                <a:cs typeface="Arial"/>
              </a:defRPr>
            </a:lvl1pPr>
            <a:lvl2pPr algn="l">
              <a:defRPr sz="1725" b="0">
                <a:solidFill>
                  <a:srgbClr val="516476"/>
                </a:solidFill>
                <a:latin typeface="Arial"/>
                <a:ea typeface="Arial"/>
                <a:cs typeface="Arial"/>
              </a:defRPr>
            </a:lvl2pPr>
            <a:lvl3pPr algn="l">
              <a:defRPr sz="1725" b="0">
                <a:solidFill>
                  <a:srgbClr val="516476"/>
                </a:solidFill>
                <a:latin typeface="Arial"/>
                <a:ea typeface="Arial"/>
                <a:cs typeface="Arial"/>
              </a:defRPr>
            </a:lvl3pPr>
            <a:lvl4pPr algn="l">
              <a:defRPr sz="1725" b="0">
                <a:solidFill>
                  <a:srgbClr val="516476"/>
                </a:solidFill>
                <a:latin typeface="Arial"/>
                <a:ea typeface="Arial"/>
                <a:cs typeface="Arial"/>
              </a:defRPr>
            </a:lvl4pPr>
            <a:lvl5pPr algn="l">
              <a:defRPr sz="1725" b="0">
                <a:solidFill>
                  <a:srgbClr val="516476"/>
                </a:solidFill>
                <a:latin typeface="Arial"/>
                <a:ea typeface="Arial"/>
                <a:cs typeface="Arial"/>
              </a:defRPr>
            </a:lvl5pPr>
            <a:lvl6pPr algn="l">
              <a:defRPr sz="1725" b="0">
                <a:solidFill>
                  <a:srgbClr val="516476"/>
                </a:solidFill>
                <a:latin typeface="Arial"/>
                <a:ea typeface="Arial"/>
                <a:cs typeface="Arial"/>
              </a:defRPr>
            </a:lvl6pPr>
            <a:lvl7pPr algn="l">
              <a:defRPr sz="1725" b="0">
                <a:solidFill>
                  <a:srgbClr val="516476"/>
                </a:solidFill>
                <a:latin typeface="Arial"/>
                <a:ea typeface="Arial"/>
                <a:cs typeface="Arial"/>
              </a:defRPr>
            </a:lvl7pPr>
            <a:lvl8pPr algn="l">
              <a:defRPr sz="1725" b="0">
                <a:solidFill>
                  <a:srgbClr val="516476"/>
                </a:solidFill>
                <a:latin typeface="Arial"/>
                <a:ea typeface="Arial"/>
                <a:cs typeface="Arial"/>
              </a:defRPr>
            </a:lvl8pPr>
            <a:lvl9pPr algn="l">
              <a:defRPr sz="1725" b="0">
                <a:solidFill>
                  <a:srgbClr val="516476"/>
                </a:solidFill>
                <a:latin typeface="Arial"/>
                <a:ea typeface="Arial"/>
                <a:cs typeface="Arial"/>
              </a:defRPr>
            </a:lvl9pPr>
          </a:lstStyle>
          <a:p xmlns:a="http://schemas.openxmlformats.org/drawingml/2006/main">
            <a:pPr algn="l">
              <a:defRPr sz="1725" b="0">
                <a:solidFill>
                  <a:srgbClr val="516476"/>
                </a:solidFill>
                <a:latin typeface="Arial"/>
                <a:ea typeface="Arial"/>
                <a:cs typeface="Arial"/>
              </a:defRPr>
            </a:pPr>
            <a:r>
              <a:rPr sz="1725" b="0">
                <a:solidFill>
                  <a:srgbClr val="516476"/>
                </a:solidFill>
                <a:latin typeface="Arial"/>
                <a:ea typeface="Arial"/>
                <a:cs typeface="Arial"/>
              </a:rPr>
              <a:t>Current tools and imported replies exist. Automatic model calls remain pending.</a:t>
            </a:r>
          </a:p>
        </p:txBody>
      </p:sp>
    </p:spTree>
    <p:extLst>
      <p:ext uri="{BB962C8B-B14F-4D97-AF65-F5344CB8AC3E}">
        <p14:creationId xmlns:p14="http://schemas.microsoft.com/office/powerpoint/2010/main" val="18628133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he Investment Committee meeting">
            <a:extLst xmlns:a="http://schemas.openxmlformats.org/drawingml/2006/main">
              <a:ext uri="{FF2B5EF4-FFF2-40B4-BE49-F238E27FC236}">
                <a16:creationId xmlns:a16="http://schemas.microsoft.com/office/drawing/2014/main" id="{F34904E9-EF52-425B-B00E-6A2A5BD9A266}"/>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The Investment Committee meeting</a:t>
            </a:r>
          </a:p>
        </p:txBody>
      </p:sp>
      <p:sp>
        <p:nvSpPr>
          <p:cNvPr id="2" name="Illustrative demonstration sequence, to replace with actual saved tool traces">
            <a:extLst xmlns:a="http://schemas.openxmlformats.org/drawingml/2006/main">
              <a:ext uri="{FF2B5EF4-FFF2-40B4-BE49-F238E27FC236}">
                <a16:creationId xmlns:a16="http://schemas.microsoft.com/office/drawing/2014/main" id="{BED14CC1-FC28-447F-B5F7-436D0A10838C}"/>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Illustrative demonstration sequence, to replace with actual saved tool traces</a:t>
            </a:r>
          </a:p>
        </p:txBody>
      </p:sp>
      <p:sp>
        <p:nvSpPr>
          <p:cNvPr id="3" name="07">
            <a:extLst xmlns:a="http://schemas.openxmlformats.org/drawingml/2006/main">
              <a:ext uri="{FF2B5EF4-FFF2-40B4-BE49-F238E27FC236}">
                <a16:creationId xmlns:a16="http://schemas.microsoft.com/office/drawing/2014/main" id="{ECF71B9D-1C7F-4100-896B-4D9388FFC0E0}"/>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45EA59CD-9012-4591-BB21-7C5590FFF7B9}"/>
              </a:ext>
            </a:extLst>
          </p:cNvPr>
          <p:cNvGraphicFramePr/>
          <p:nvPr/>
        </p:nvGraphicFramePr>
        <p:xfrm>
          <a:off xmlns:a="http://schemas.openxmlformats.org/drawingml/2006/main" x="685800" y="1933575"/>
          <a:ext xmlns:a="http://schemas.openxmlformats.org/drawingml/2006/main" cx="10820400" cy="3514725"/>
        </p:xfrm>
        <a:graphic xmlns:a="http://schemas.openxmlformats.org/drawingml/2006/main">
          <a:graphicData uri="http://schemas.openxmlformats.org/drawingml/2006/table">
            <a:tbl>
              <a:tblPr firstRow="1" bandRow="0"/>
              <a:tblGrid>
                <a:gridCol w="2667000"/>
                <a:gridCol w="4143375"/>
                <a:gridCol w="4010025"/>
              </a:tblGrid>
              <a:tr h="702945">
                <a:tc>
                  <a:txBody>
                    <a:bodyPr>
                      <a:noAutofit/>
                    </a:bodyPr>
                    <a:lstStyle/>
                    <a:p>
                      <a:r>
                        <a:rPr sz="1875" b="1">
                          <a:solidFill>
                            <a:srgbClr val="162A3A"/>
                          </a:solidFill>
                          <a:latin typeface="Arial"/>
                          <a:ea typeface="Arial"/>
                          <a:cs typeface="Arial"/>
                        </a:rPr>
                        <a:t>Participant</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Review question</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Evidence shown</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702945">
                <a:tc>
                  <a:txBody>
                    <a:bodyPr>
                      <a:noAutofit/>
                    </a:bodyPr>
                    <a:lstStyle/>
                    <a:p>
                      <a:r>
                        <a:rPr sz="1875" b="0">
                          <a:solidFill>
                            <a:srgbClr val="162A3A"/>
                          </a:solidFill>
                          <a:latin typeface="Arial"/>
                          <a:ea typeface="Arial"/>
                          <a:cs typeface="Arial"/>
                        </a:rPr>
                        <a:t>Pairs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Do both legs preserve</a:t>
                      </a:r>
                    </a:p>
                    <a:p>
                      <a:r>
                        <a:rPr sz="1875" b="0">
                          <a:solidFill>
                            <a:srgbClr val="162A3A"/>
                          </a:solidFill>
                          <a:latin typeface="Arial"/>
                          <a:ea typeface="Arial"/>
                          <a:cs typeface="Arial"/>
                        </a:rPr>
                        <a:t>the intended hedge?</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Signed target legs and</a:t>
                      </a:r>
                    </a:p>
                    <a:p>
                      <a:r>
                        <a:rPr sz="1875" b="0">
                          <a:solidFill>
                            <a:srgbClr val="162A3A"/>
                          </a:solidFill>
                          <a:latin typeface="Arial"/>
                          <a:ea typeface="Arial"/>
                          <a:cs typeface="Arial"/>
                        </a:rPr>
                        <a:t>hedge-ratio diagnostics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02945">
                <a:tc>
                  <a:txBody>
                    <a:bodyPr>
                      <a:noAutofit/>
                    </a:bodyPr>
                    <a:lstStyle/>
                    <a:p>
                      <a:r>
                        <a:rPr sz="1875" b="0">
                          <a:solidFill>
                            <a:srgbClr val="162A3A"/>
                          </a:solidFill>
                          <a:latin typeface="Arial"/>
                          <a:ea typeface="Arial"/>
                          <a:cs typeface="Arial"/>
                        </a:rPr>
                        <a:t>Crypto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Why does the engine</a:t>
                      </a:r>
                    </a:p>
                    <a:p>
                      <a:r>
                        <a:rPr sz="1875" b="0">
                          <a:solidFill>
                            <a:srgbClr val="162A3A"/>
                          </a:solidFill>
                          <a:latin typeface="Arial"/>
                          <a:ea typeface="Arial"/>
                          <a:cs typeface="Arial"/>
                        </a:rPr>
                        <a:t>propose exposure or cash?</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Signal qualification and</a:t>
                      </a:r>
                    </a:p>
                    <a:p>
                      <a:r>
                        <a:rPr sz="1875" b="0">
                          <a:solidFill>
                            <a:srgbClr val="162A3A"/>
                          </a:solidFill>
                          <a:latin typeface="Arial"/>
                          <a:ea typeface="Arial"/>
                          <a:cs typeface="Arial"/>
                        </a:rPr>
                        <a:t>local risk verdict</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02945">
                <a:tc>
                  <a:txBody>
                    <a:bodyPr>
                      <a:noAutofit/>
                    </a:bodyPr>
                    <a:lstStyle/>
                    <a:p>
                      <a:r>
                        <a:rPr sz="1875" b="0">
                          <a:solidFill>
                            <a:srgbClr val="162A3A"/>
                          </a:solidFill>
                          <a:latin typeface="Arial"/>
                          <a:ea typeface="Arial"/>
                          <a:cs typeface="Arial"/>
                        </a:rPr>
                        <a:t>Committee / CIO</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Where do PM proposals</a:t>
                      </a:r>
                    </a:p>
                    <a:p>
                      <a:r>
                        <a:rPr sz="1875" b="0">
                          <a:solidFill>
                            <a:srgbClr val="162A3A"/>
                          </a:solidFill>
                          <a:latin typeface="Arial"/>
                          <a:ea typeface="Arial"/>
                          <a:cs typeface="Arial"/>
                        </a:rPr>
                        <a:t>share fund exposure?</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Combined gross exposure</a:t>
                      </a:r>
                    </a:p>
                    <a:p>
                      <a:r>
                        <a:rPr sz="1875" b="0">
                          <a:solidFill>
                            <a:srgbClr val="162A3A"/>
                          </a:solidFill>
                          <a:latin typeface="Arial"/>
                          <a:ea typeface="Arial"/>
                          <a:cs typeface="Arial"/>
                        </a:rPr>
                        <a:t>and symbol limits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02945">
                <a:tc>
                  <a:txBody>
                    <a:bodyPr>
                      <a:noAutofit/>
                    </a:bodyPr>
                    <a:lstStyle/>
                    <a:p>
                      <a:r>
                        <a:rPr sz="1875" b="0">
                          <a:solidFill>
                            <a:srgbClr val="162A3A"/>
                          </a:solidFill>
                          <a:latin typeface="Arial"/>
                          <a:ea typeface="Arial"/>
                          <a:cs typeface="Arial"/>
                        </a:rPr>
                        <a:t>Risk controller</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Does the proposal satisfy</a:t>
                      </a:r>
                    </a:p>
                    <a:p>
                      <a:r>
                        <a:rPr sz="1875" b="0">
                          <a:solidFill>
                            <a:srgbClr val="162A3A"/>
                          </a:solidFill>
                          <a:latin typeface="Arial"/>
                          <a:ea typeface="Arial"/>
                          <a:cs typeface="Arial"/>
                        </a:rPr>
                        <a:t>the approved policy?</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Coded approval or rejection</a:t>
                      </a:r>
                    </a:p>
                    <a:p>
                      <a:r>
                        <a:rPr sz="1875" b="0">
                          <a:solidFill>
                            <a:srgbClr val="162A3A"/>
                          </a:solidFill>
                          <a:latin typeface="Arial"/>
                          <a:ea typeface="Arial"/>
                          <a:cs typeface="Arial"/>
                        </a:rPr>
                        <a:t>with a saved reason</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The Board reviews policy and exceptions. The ledger preserves each decision.">
            <a:extLst xmlns:a="http://schemas.openxmlformats.org/drawingml/2006/main">
              <a:ext uri="{FF2B5EF4-FFF2-40B4-BE49-F238E27FC236}">
                <a16:creationId xmlns:a16="http://schemas.microsoft.com/office/drawing/2014/main" id="{419BB667-041A-4A3D-850C-83F04DF5C951}"/>
              </a:ext>
            </a:extLst>
          </p:cNvPr>
          <p:cNvSpPr>
            <a:spLocks xmlns:a="http://schemas.openxmlformats.org/drawingml/2006/main" noGrp="1"/>
          </p:cNvSpPr>
          <p:nvPr/>
        </p:nvSpPr>
        <p:spPr>
          <a:xfrm xmlns:a="http://schemas.openxmlformats.org/drawingml/2006/main">
            <a:off x="685800" y="58864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E8B"/>
                </a:solidFill>
                <a:latin typeface="Arial"/>
                <a:ea typeface="Arial"/>
                <a:cs typeface="Arial"/>
              </a:defRPr>
            </a:defPPr>
            <a:lvl1pPr algn="l">
              <a:defRPr sz="1950" b="1">
                <a:solidFill>
                  <a:srgbClr val="087E8B"/>
                </a:solidFill>
                <a:latin typeface="Arial"/>
                <a:ea typeface="Arial"/>
                <a:cs typeface="Arial"/>
              </a:defRPr>
            </a:lvl1pPr>
            <a:lvl2pPr algn="l">
              <a:defRPr sz="1950" b="1">
                <a:solidFill>
                  <a:srgbClr val="087E8B"/>
                </a:solidFill>
                <a:latin typeface="Arial"/>
                <a:ea typeface="Arial"/>
                <a:cs typeface="Arial"/>
              </a:defRPr>
            </a:lvl2pPr>
            <a:lvl3pPr algn="l">
              <a:defRPr sz="1950" b="1">
                <a:solidFill>
                  <a:srgbClr val="087E8B"/>
                </a:solidFill>
                <a:latin typeface="Arial"/>
                <a:ea typeface="Arial"/>
                <a:cs typeface="Arial"/>
              </a:defRPr>
            </a:lvl3pPr>
            <a:lvl4pPr algn="l">
              <a:defRPr sz="1950" b="1">
                <a:solidFill>
                  <a:srgbClr val="087E8B"/>
                </a:solidFill>
                <a:latin typeface="Arial"/>
                <a:ea typeface="Arial"/>
                <a:cs typeface="Arial"/>
              </a:defRPr>
            </a:lvl4pPr>
            <a:lvl5pPr algn="l">
              <a:defRPr sz="1950" b="1">
                <a:solidFill>
                  <a:srgbClr val="087E8B"/>
                </a:solidFill>
                <a:latin typeface="Arial"/>
                <a:ea typeface="Arial"/>
                <a:cs typeface="Arial"/>
              </a:defRPr>
            </a:lvl5pPr>
            <a:lvl6pPr algn="l">
              <a:defRPr sz="1950" b="1">
                <a:solidFill>
                  <a:srgbClr val="087E8B"/>
                </a:solidFill>
                <a:latin typeface="Arial"/>
                <a:ea typeface="Arial"/>
                <a:cs typeface="Arial"/>
              </a:defRPr>
            </a:lvl6pPr>
            <a:lvl7pPr algn="l">
              <a:defRPr sz="1950" b="1">
                <a:solidFill>
                  <a:srgbClr val="087E8B"/>
                </a:solidFill>
                <a:latin typeface="Arial"/>
                <a:ea typeface="Arial"/>
                <a:cs typeface="Arial"/>
              </a:defRPr>
            </a:lvl7pPr>
            <a:lvl8pPr algn="l">
              <a:defRPr sz="1950" b="1">
                <a:solidFill>
                  <a:srgbClr val="087E8B"/>
                </a:solidFill>
                <a:latin typeface="Arial"/>
                <a:ea typeface="Arial"/>
                <a:cs typeface="Arial"/>
              </a:defRPr>
            </a:lvl8pPr>
            <a:lvl9pPr algn="l">
              <a:defRPr sz="1950" b="1">
                <a:solidFill>
                  <a:srgbClr val="087E8B"/>
                </a:solidFill>
                <a:latin typeface="Arial"/>
                <a:ea typeface="Arial"/>
                <a:cs typeface="Arial"/>
              </a:defRPr>
            </a:lvl9pPr>
          </a:lstStyle>
          <a:p xmlns:a="http://schemas.openxmlformats.org/drawingml/2006/main">
            <a:pPr algn="l">
              <a:defRPr sz="1950" b="1">
                <a:solidFill>
                  <a:srgbClr val="087E8B"/>
                </a:solidFill>
                <a:latin typeface="Arial"/>
                <a:ea typeface="Arial"/>
                <a:cs typeface="Arial"/>
              </a:defRPr>
            </a:pPr>
            <a:r>
              <a:rPr sz="1950" b="1">
                <a:solidFill>
                  <a:srgbClr val="087E8B"/>
                </a:solidFill>
                <a:latin typeface="Arial"/>
                <a:ea typeface="Arial"/>
                <a:cs typeface="Arial"/>
              </a:rPr>
              <a:t>The Board reviews policy and exceptions. The ledger preserves each decision.</a:t>
            </a:r>
          </a:p>
        </p:txBody>
      </p:sp>
    </p:spTree>
    <p:extLst>
      <p:ext uri="{BB962C8B-B14F-4D97-AF65-F5344CB8AC3E}">
        <p14:creationId xmlns:p14="http://schemas.microsoft.com/office/powerpoint/2010/main" val="21134985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he daily pairs decision cycle">
            <a:extLst xmlns:a="http://schemas.openxmlformats.org/drawingml/2006/main">
              <a:ext uri="{FF2B5EF4-FFF2-40B4-BE49-F238E27FC236}">
                <a16:creationId xmlns:a16="http://schemas.microsoft.com/office/drawing/2014/main" id="{4775359F-BF15-40E9-BD54-C8D409D2055C}"/>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The daily pairs decision cycle</a:t>
            </a:r>
          </a:p>
        </p:txBody>
      </p:sp>
      <p:sp>
        <p:nvSpPr>
          <p:cNvPr id="2" name="Daily frequency is confirmed. Exact signal and fill timing still needs agreement">
            <a:extLst xmlns:a="http://schemas.openxmlformats.org/drawingml/2006/main">
              <a:ext uri="{FF2B5EF4-FFF2-40B4-BE49-F238E27FC236}">
                <a16:creationId xmlns:a16="http://schemas.microsoft.com/office/drawing/2014/main" id="{7F26E557-92B7-463A-BAD0-582C279CDA98}"/>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Daily frequency is confirmed. Exact signal and fill timing still needs agreement.</a:t>
            </a:r>
          </a:p>
        </p:txBody>
      </p:sp>
      <p:sp>
        <p:nvSpPr>
          <p:cNvPr id="3" name="08">
            <a:extLst xmlns:a="http://schemas.openxmlformats.org/drawingml/2006/main">
              <a:ext uri="{FF2B5EF4-FFF2-40B4-BE49-F238E27FC236}">
                <a16:creationId xmlns:a16="http://schemas.microsoft.com/office/drawing/2014/main" id="{888D10B3-A435-4767-81CA-A374C505F3F5}"/>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BC18C55E-0838-413B-A0E5-E3149FCA9E02}"/>
              </a:ext>
            </a:extLst>
          </p:cNvPr>
          <p:cNvGraphicFramePr/>
          <p:nvPr/>
        </p:nvGraphicFramePr>
        <p:xfrm>
          <a:off xmlns:a="http://schemas.openxmlformats.org/drawingml/2006/main" x="685800" y="1933575"/>
          <a:ext xmlns:a="http://schemas.openxmlformats.org/drawingml/2006/main" cx="10820400" cy="3619500"/>
        </p:xfrm>
        <a:graphic xmlns:a="http://schemas.openxmlformats.org/drawingml/2006/main">
          <a:graphicData uri="http://schemas.openxmlformats.org/drawingml/2006/table">
            <a:tbl>
              <a:tblPr firstRow="1" bandRow="0"/>
              <a:tblGrid>
                <a:gridCol w="2647950"/>
                <a:gridCol w="3381375"/>
                <a:gridCol w="4791075"/>
              </a:tblGrid>
              <a:tr h="603250">
                <a:tc>
                  <a:txBody>
                    <a:bodyPr>
                      <a:noAutofit/>
                    </a:bodyPr>
                    <a:lstStyle/>
                    <a:p>
                      <a:r>
                        <a:rPr sz="1800" b="1">
                          <a:solidFill>
                            <a:srgbClr val="162A3A"/>
                          </a:solidFill>
                          <a:latin typeface="Arial"/>
                          <a:ea typeface="Arial"/>
                          <a:cs typeface="Arial"/>
                        </a:rPr>
                        <a:t>Time</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Owner</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Output</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603250">
                <a:tc>
                  <a:txBody>
                    <a:bodyPr>
                      <a:noAutofit/>
                    </a:bodyPr>
                    <a:lstStyle/>
                    <a:p>
                      <a:r>
                        <a:rPr sz="1800" b="0">
                          <a:solidFill>
                            <a:srgbClr val="162A3A"/>
                          </a:solidFill>
                          <a:latin typeface="Arial"/>
                          <a:ea typeface="Arial"/>
                          <a:cs typeface="Arial"/>
                        </a:rPr>
                        <a:t>After session t close</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Data and Pairs PM</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Validated closes and linked target legs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03250">
                <a:tc>
                  <a:txBody>
                    <a:bodyPr>
                      <a:noAutofit/>
                    </a:bodyPr>
                    <a:lstStyle/>
                    <a:p>
                      <a:r>
                        <a:rPr sz="1800" b="0">
                          <a:solidFill>
                            <a:srgbClr val="162A3A"/>
                          </a:solidFill>
                          <a:latin typeface="Arial"/>
                          <a:ea typeface="Arial"/>
                          <a:cs typeface="Arial"/>
                        </a:rPr>
                        <a:t>Before execution</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Investment Committee / CIO</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Mandate policy and combined exposure</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03250">
                <a:tc>
                  <a:txBody>
                    <a:bodyPr>
                      <a:noAutofit/>
                    </a:bodyPr>
                    <a:lstStyle/>
                    <a:p>
                      <a:r>
                        <a:rPr sz="1800" b="0">
                          <a:solidFill>
                            <a:srgbClr val="162A3A"/>
                          </a:solidFill>
                          <a:latin typeface="Arial"/>
                          <a:ea typeface="Arial"/>
                          <a:cs typeface="Arial"/>
                        </a:rPr>
                        <a:t>Before execution</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Independent risk controller</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Approval or rejection with reasons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03250">
                <a:tc>
                  <a:txBody>
                    <a:bodyPr>
                      <a:noAutofit/>
                    </a:bodyPr>
                    <a:lstStyle/>
                    <a:p>
                      <a:r>
                        <a:rPr sz="1800" b="0">
                          <a:solidFill>
                            <a:srgbClr val="162A3A"/>
                          </a:solidFill>
                          <a:latin typeface="Arial"/>
                          <a:ea typeface="Arial"/>
                          <a:cs typeface="Arial"/>
                        </a:rPr>
                        <a:t>Next eligible session</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Proposed paper-fill adapter</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Costed fills, subject to borrow and leg handling</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03250">
                <a:tc>
                  <a:txBody>
                    <a:bodyPr>
                      <a:noAutofit/>
                    </a:bodyPr>
                    <a:lstStyle/>
                    <a:p>
                      <a:r>
                        <a:rPr sz="1800" b="0">
                          <a:solidFill>
                            <a:srgbClr val="162A3A"/>
                          </a:solidFill>
                          <a:latin typeface="Arial"/>
                          <a:ea typeface="Arial"/>
                          <a:cs typeface="Arial"/>
                        </a:rPr>
                        <a:t>After valuation</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Accounting and PM reporting</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Fund NAV, closing-price CSV and memos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Current integration records intentions and zero fills">
            <a:extLst xmlns:a="http://schemas.openxmlformats.org/drawingml/2006/main">
              <a:ext uri="{FF2B5EF4-FFF2-40B4-BE49-F238E27FC236}">
                <a16:creationId xmlns:a16="http://schemas.microsoft.com/office/drawing/2014/main" id="{F07C98B9-190F-4E82-936E-174FB75A6BDF}"/>
              </a:ext>
            </a:extLst>
          </p:cNvPr>
          <p:cNvSpPr>
            <a:spLocks xmlns:a="http://schemas.openxmlformats.org/drawingml/2006/main" noGrp="1"/>
          </p:cNvSpPr>
          <p:nvPr/>
        </p:nvSpPr>
        <p:spPr>
          <a:xfrm xmlns:a="http://schemas.openxmlformats.org/drawingml/2006/main">
            <a:off x="685800" y="58959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B"/>
                </a:solidFill>
                <a:latin typeface="Arial"/>
                <a:ea typeface="Arial"/>
                <a:cs typeface="Arial"/>
              </a:defRPr>
            </a:defPPr>
            <a:lvl1pPr algn="l">
              <a:defRPr sz="2175" b="1">
                <a:solidFill>
                  <a:srgbClr val="087E8B"/>
                </a:solidFill>
                <a:latin typeface="Arial"/>
                <a:ea typeface="Arial"/>
                <a:cs typeface="Arial"/>
              </a:defRPr>
            </a:lvl1pPr>
            <a:lvl2pPr algn="l">
              <a:defRPr sz="2175" b="1">
                <a:solidFill>
                  <a:srgbClr val="087E8B"/>
                </a:solidFill>
                <a:latin typeface="Arial"/>
                <a:ea typeface="Arial"/>
                <a:cs typeface="Arial"/>
              </a:defRPr>
            </a:lvl2pPr>
            <a:lvl3pPr algn="l">
              <a:defRPr sz="2175" b="1">
                <a:solidFill>
                  <a:srgbClr val="087E8B"/>
                </a:solidFill>
                <a:latin typeface="Arial"/>
                <a:ea typeface="Arial"/>
                <a:cs typeface="Arial"/>
              </a:defRPr>
            </a:lvl3pPr>
            <a:lvl4pPr algn="l">
              <a:defRPr sz="2175" b="1">
                <a:solidFill>
                  <a:srgbClr val="087E8B"/>
                </a:solidFill>
                <a:latin typeface="Arial"/>
                <a:ea typeface="Arial"/>
                <a:cs typeface="Arial"/>
              </a:defRPr>
            </a:lvl4pPr>
            <a:lvl5pPr algn="l">
              <a:defRPr sz="2175" b="1">
                <a:solidFill>
                  <a:srgbClr val="087E8B"/>
                </a:solidFill>
                <a:latin typeface="Arial"/>
                <a:ea typeface="Arial"/>
                <a:cs typeface="Arial"/>
              </a:defRPr>
            </a:lvl5pPr>
            <a:lvl6pPr algn="l">
              <a:defRPr sz="2175" b="1">
                <a:solidFill>
                  <a:srgbClr val="087E8B"/>
                </a:solidFill>
                <a:latin typeface="Arial"/>
                <a:ea typeface="Arial"/>
                <a:cs typeface="Arial"/>
              </a:defRPr>
            </a:lvl6pPr>
            <a:lvl7pPr algn="l">
              <a:defRPr sz="2175" b="1">
                <a:solidFill>
                  <a:srgbClr val="087E8B"/>
                </a:solidFill>
                <a:latin typeface="Arial"/>
                <a:ea typeface="Arial"/>
                <a:cs typeface="Arial"/>
              </a:defRPr>
            </a:lvl7pPr>
            <a:lvl8pPr algn="l">
              <a:defRPr sz="2175" b="1">
                <a:solidFill>
                  <a:srgbClr val="087E8B"/>
                </a:solidFill>
                <a:latin typeface="Arial"/>
                <a:ea typeface="Arial"/>
                <a:cs typeface="Arial"/>
              </a:defRPr>
            </a:lvl8pPr>
            <a:lvl9pPr algn="l">
              <a:defRPr sz="2175" b="1">
                <a:solidFill>
                  <a:srgbClr val="087E8B"/>
                </a:solidFill>
                <a:latin typeface="Arial"/>
                <a:ea typeface="Arial"/>
                <a:cs typeface="Arial"/>
              </a:defRPr>
            </a:lvl9pPr>
          </a:lstStyle>
          <a:p xmlns:a="http://schemas.openxmlformats.org/drawingml/2006/main">
            <a:pPr algn="l">
              <a:defRPr sz="2175" b="1">
                <a:solidFill>
                  <a:srgbClr val="087E8B"/>
                </a:solidFill>
                <a:latin typeface="Arial"/>
                <a:ea typeface="Arial"/>
                <a:cs typeface="Arial"/>
              </a:defRPr>
            </a:pPr>
            <a:r>
              <a:rPr sz="2175" b="1">
                <a:solidFill>
                  <a:srgbClr val="087E8B"/>
                </a:solidFill>
                <a:latin typeface="Arial"/>
                <a:ea typeface="Arial"/>
                <a:cs typeface="Arial"/>
              </a:rPr>
              <a:t>Current integration records intentions and zero fills</a:t>
            </a:r>
          </a:p>
        </p:txBody>
      </p:sp>
    </p:spTree>
    <p:extLst>
      <p:ext uri="{BB962C8B-B14F-4D97-AF65-F5344CB8AC3E}">
        <p14:creationId xmlns:p14="http://schemas.microsoft.com/office/powerpoint/2010/main" val="10076327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dependent risk and fund accounting">
            <a:extLst xmlns:a="http://schemas.openxmlformats.org/drawingml/2006/main">
              <a:ext uri="{FF2B5EF4-FFF2-40B4-BE49-F238E27FC236}">
                <a16:creationId xmlns:a16="http://schemas.microsoft.com/office/drawing/2014/main" id="{7B1B9737-FC6D-4C66-AD04-CAD7F19238B9}"/>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Independent risk and fund accounting</a:t>
            </a:r>
          </a:p>
        </p:txBody>
      </p:sp>
      <p:sp>
        <p:nvSpPr>
          <p:cNvPr id="2" name="The committee works within a declared risk policy">
            <a:extLst xmlns:a="http://schemas.openxmlformats.org/drawingml/2006/main">
              <a:ext uri="{FF2B5EF4-FFF2-40B4-BE49-F238E27FC236}">
                <a16:creationId xmlns:a16="http://schemas.microsoft.com/office/drawing/2014/main" id="{70DF6360-92C4-4EA7-9CB6-A4E041F1807C}"/>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The committee works within a declared risk policy</a:t>
            </a:r>
          </a:p>
        </p:txBody>
      </p:sp>
      <p:sp>
        <p:nvSpPr>
          <p:cNvPr id="3" name="09">
            <a:extLst xmlns:a="http://schemas.openxmlformats.org/drawingml/2006/main">
              <a:ext uri="{FF2B5EF4-FFF2-40B4-BE49-F238E27FC236}">
                <a16:creationId xmlns:a16="http://schemas.microsoft.com/office/drawing/2014/main" id="{5B38E081-06F4-4713-A8AE-D2AE884BD621}"/>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09</a:t>
            </a:r>
          </a:p>
        </p:txBody>
      </p:sp>
      <p:sp>
        <p:nvSpPr>
          <p:cNvPr id="4" name="Current coded controls">
            <a:extLst xmlns:a="http://schemas.openxmlformats.org/drawingml/2006/main">
              <a:ext uri="{FF2B5EF4-FFF2-40B4-BE49-F238E27FC236}">
                <a16:creationId xmlns:a16="http://schemas.microsoft.com/office/drawing/2014/main" id="{87C2C5D9-DAF1-4047-8ED9-69F3AAF93382}"/>
              </a:ext>
            </a:extLst>
          </p:cNvPr>
          <p:cNvSpPr>
            <a:spLocks xmlns:a="http://schemas.openxmlformats.org/drawingml/2006/main" noGrp="1"/>
          </p:cNvSpPr>
          <p:nvPr/>
        </p:nvSpPr>
        <p:spPr>
          <a:xfrm xmlns:a="http://schemas.openxmlformats.org/drawingml/2006/main">
            <a:off x="685800" y="19812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A3A"/>
                </a:solidFill>
                <a:latin typeface="Arial"/>
                <a:ea typeface="Arial"/>
                <a:cs typeface="Arial"/>
              </a:defRPr>
            </a:defPPr>
            <a:lvl1pPr algn="l">
              <a:defRPr sz="2325" b="1">
                <a:solidFill>
                  <a:srgbClr val="162A3A"/>
                </a:solidFill>
                <a:latin typeface="Arial"/>
                <a:ea typeface="Arial"/>
                <a:cs typeface="Arial"/>
              </a:defRPr>
            </a:lvl1pPr>
            <a:lvl2pPr algn="l">
              <a:defRPr sz="2325" b="1">
                <a:solidFill>
                  <a:srgbClr val="162A3A"/>
                </a:solidFill>
                <a:latin typeface="Arial"/>
                <a:ea typeface="Arial"/>
                <a:cs typeface="Arial"/>
              </a:defRPr>
            </a:lvl2pPr>
            <a:lvl3pPr algn="l">
              <a:defRPr sz="2325" b="1">
                <a:solidFill>
                  <a:srgbClr val="162A3A"/>
                </a:solidFill>
                <a:latin typeface="Arial"/>
                <a:ea typeface="Arial"/>
                <a:cs typeface="Arial"/>
              </a:defRPr>
            </a:lvl3pPr>
            <a:lvl4pPr algn="l">
              <a:defRPr sz="2325" b="1">
                <a:solidFill>
                  <a:srgbClr val="162A3A"/>
                </a:solidFill>
                <a:latin typeface="Arial"/>
                <a:ea typeface="Arial"/>
                <a:cs typeface="Arial"/>
              </a:defRPr>
            </a:lvl4pPr>
            <a:lvl5pPr algn="l">
              <a:defRPr sz="2325" b="1">
                <a:solidFill>
                  <a:srgbClr val="162A3A"/>
                </a:solidFill>
                <a:latin typeface="Arial"/>
                <a:ea typeface="Arial"/>
                <a:cs typeface="Arial"/>
              </a:defRPr>
            </a:lvl5pPr>
            <a:lvl6pPr algn="l">
              <a:defRPr sz="2325" b="1">
                <a:solidFill>
                  <a:srgbClr val="162A3A"/>
                </a:solidFill>
                <a:latin typeface="Arial"/>
                <a:ea typeface="Arial"/>
                <a:cs typeface="Arial"/>
              </a:defRPr>
            </a:lvl6pPr>
            <a:lvl7pPr algn="l">
              <a:defRPr sz="2325" b="1">
                <a:solidFill>
                  <a:srgbClr val="162A3A"/>
                </a:solidFill>
                <a:latin typeface="Arial"/>
                <a:ea typeface="Arial"/>
                <a:cs typeface="Arial"/>
              </a:defRPr>
            </a:lvl7pPr>
            <a:lvl8pPr algn="l">
              <a:defRPr sz="2325" b="1">
                <a:solidFill>
                  <a:srgbClr val="162A3A"/>
                </a:solidFill>
                <a:latin typeface="Arial"/>
                <a:ea typeface="Arial"/>
                <a:cs typeface="Arial"/>
              </a:defRPr>
            </a:lvl8pPr>
            <a:lvl9pPr algn="l">
              <a:defRPr sz="2325" b="1">
                <a:solidFill>
                  <a:srgbClr val="162A3A"/>
                </a:solidFill>
                <a:latin typeface="Arial"/>
                <a:ea typeface="Arial"/>
                <a:cs typeface="Arial"/>
              </a:defRPr>
            </a:lvl9pPr>
          </a:lstStyle>
          <a:p xmlns:a="http://schemas.openxmlformats.org/drawingml/2006/main">
            <a:pPr algn="l">
              <a:defRPr sz="2325" b="1">
                <a:solidFill>
                  <a:srgbClr val="162A3A"/>
                </a:solidFill>
                <a:latin typeface="Arial"/>
                <a:ea typeface="Arial"/>
                <a:cs typeface="Arial"/>
              </a:defRPr>
            </a:pPr>
            <a:r>
              <a:rPr sz="2325" b="1">
                <a:solidFill>
                  <a:srgbClr val="162A3A"/>
                </a:solidFill>
                <a:latin typeface="Arial"/>
                <a:ea typeface="Arial"/>
                <a:cs typeface="Arial"/>
              </a:rPr>
              <a:t>Current coded controls</a:t>
            </a:r>
          </a:p>
        </p:txBody>
      </p:sp>
      <p:sp>
        <p:nvSpPr>
          <p:cNvPr id="5" name="">
            <a:extLst xmlns:a="http://schemas.openxmlformats.org/drawingml/2006/main">
              <a:ext uri="{FF2B5EF4-FFF2-40B4-BE49-F238E27FC236}">
                <a16:creationId xmlns:a16="http://schemas.microsoft.com/office/drawing/2014/main" id="{788AFB0A-0E89-476E-A164-D0A1428869FB}"/>
              </a:ext>
            </a:extLst>
          </p:cNvPr>
          <p:cNvSpPr>
            <a:spLocks xmlns:a="http://schemas.openxmlformats.org/drawingml/2006/main" noGrp="1"/>
          </p:cNvSpPr>
          <p:nvPr/>
        </p:nvSpPr>
        <p:spPr>
          <a:xfrm xmlns:a="http://schemas.openxmlformats.org/drawingml/2006/main">
            <a:off x="685800" y="2609850"/>
            <a:ext cx="504825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A3A"/>
                </a:solidFill>
                <a:latin typeface="Arial"/>
                <a:ea typeface="Arial"/>
                <a:cs typeface="Arial"/>
              </a:defRPr>
            </a:defPPr>
            <a:lvl1pPr algn="l">
              <a:defRPr sz="2025" b="0">
                <a:solidFill>
                  <a:srgbClr val="162A3A"/>
                </a:solidFill>
                <a:latin typeface="Arial"/>
                <a:ea typeface="Arial"/>
                <a:cs typeface="Arial"/>
              </a:defRPr>
            </a:lvl1pPr>
            <a:lvl2pPr algn="l">
              <a:defRPr sz="2025" b="0">
                <a:solidFill>
                  <a:srgbClr val="162A3A"/>
                </a:solidFill>
                <a:latin typeface="Arial"/>
                <a:ea typeface="Arial"/>
                <a:cs typeface="Arial"/>
              </a:defRPr>
            </a:lvl2pPr>
            <a:lvl3pPr algn="l">
              <a:defRPr sz="2025" b="0">
                <a:solidFill>
                  <a:srgbClr val="162A3A"/>
                </a:solidFill>
                <a:latin typeface="Arial"/>
                <a:ea typeface="Arial"/>
                <a:cs typeface="Arial"/>
              </a:defRPr>
            </a:lvl3pPr>
            <a:lvl4pPr algn="l">
              <a:defRPr sz="2025" b="0">
                <a:solidFill>
                  <a:srgbClr val="162A3A"/>
                </a:solidFill>
                <a:latin typeface="Arial"/>
                <a:ea typeface="Arial"/>
                <a:cs typeface="Arial"/>
              </a:defRPr>
            </a:lvl4pPr>
            <a:lvl5pPr algn="l">
              <a:defRPr sz="2025" b="0">
                <a:solidFill>
                  <a:srgbClr val="162A3A"/>
                </a:solidFill>
                <a:latin typeface="Arial"/>
                <a:ea typeface="Arial"/>
                <a:cs typeface="Arial"/>
              </a:defRPr>
            </a:lvl5pPr>
            <a:lvl6pPr algn="l">
              <a:defRPr sz="2025" b="0">
                <a:solidFill>
                  <a:srgbClr val="162A3A"/>
                </a:solidFill>
                <a:latin typeface="Arial"/>
                <a:ea typeface="Arial"/>
                <a:cs typeface="Arial"/>
              </a:defRPr>
            </a:lvl6pPr>
            <a:lvl7pPr algn="l">
              <a:defRPr sz="2025" b="0">
                <a:solidFill>
                  <a:srgbClr val="162A3A"/>
                </a:solidFill>
                <a:latin typeface="Arial"/>
                <a:ea typeface="Arial"/>
                <a:cs typeface="Arial"/>
              </a:defRPr>
            </a:lvl7pPr>
            <a:lvl8pPr algn="l">
              <a:defRPr sz="2025" b="0">
                <a:solidFill>
                  <a:srgbClr val="162A3A"/>
                </a:solidFill>
                <a:latin typeface="Arial"/>
                <a:ea typeface="Arial"/>
                <a:cs typeface="Arial"/>
              </a:defRPr>
            </a:lvl8pPr>
            <a:lvl9pPr algn="l">
              <a:defRPr sz="2025" b="0">
                <a:solidFill>
                  <a:srgbClr val="162A3A"/>
                </a:solidFill>
                <a:latin typeface="Arial"/>
                <a:ea typeface="Arial"/>
                <a:cs typeface="Arial"/>
              </a:defRPr>
            </a:lvl9pPr>
          </a:lstStyle>
          <a:p xmlns:a="http://schemas.openxmlformats.org/drawingml/2006/main">
            <a:pPr marL="228600" indent="-114300" algn="l">
              <a:spcAft>
                <a:spcPts val="1300"/>
              </a:spcAft>
              <a:buChar char="•"/>
              <a:defRPr sz="2025" b="0">
                <a:solidFill>
                  <a:srgbClr val="162A3A"/>
                </a:solidFill>
                <a:latin typeface="Arial"/>
                <a:ea typeface="Arial"/>
                <a:cs typeface="Arial"/>
              </a:defRPr>
            </a:pPr>
            <a:r>
              <a:t>80% fund gross-exposure limit</a:t>
            </a:r>
          </a:p>
          <a:p xmlns:a="http://schemas.openxmlformats.org/drawingml/2006/main">
            <a:pPr marL="228600" indent="-114300" algn="l">
              <a:spcAft>
                <a:spcPts val="1300"/>
              </a:spcAft>
              <a:buChar char="•"/>
              <a:defRPr sz="2025" b="0">
                <a:solidFill>
                  <a:srgbClr val="162A3A"/>
                </a:solidFill>
                <a:latin typeface="Arial"/>
                <a:ea typeface="Arial"/>
                <a:cs typeface="Arial"/>
              </a:defRPr>
            </a:pPr>
            <a:r>
              <a:t>20% gross exposure per symbol</a:t>
            </a:r>
          </a:p>
          <a:p xmlns:a="http://schemas.openxmlformats.org/drawingml/2006/main">
            <a:pPr marL="228600" indent="-114300" algn="l">
              <a:spcAft>
                <a:spcPts val="1300"/>
              </a:spcAft>
              <a:buChar char="•"/>
              <a:defRPr sz="2025" b="0">
                <a:solidFill>
                  <a:srgbClr val="162A3A"/>
                </a:solidFill>
                <a:latin typeface="Arial"/>
                <a:ea typeface="Arial"/>
                <a:cs typeface="Arial"/>
              </a:defRPr>
            </a:pPr>
            <a:r>
              <a:t>Linked scaling preserves each pair’s hedge</a:t>
            </a:r>
          </a:p>
          <a:p xmlns:a="http://schemas.openxmlformats.org/drawingml/2006/main">
            <a:pPr marL="228600" indent="-114300" algn="l">
              <a:spcAft>
                <a:spcPts val="1300"/>
              </a:spcAft>
              <a:buChar char="•"/>
              <a:defRPr sz="2025" b="0">
                <a:solidFill>
                  <a:srgbClr val="162A3A"/>
                </a:solidFill>
                <a:latin typeface="Arial"/>
                <a:ea typeface="Arial"/>
                <a:cs typeface="Arial"/>
              </a:defRPr>
            </a:pPr>
            <a:r>
              <a:t>25% fund drawdown breaker stays latched</a:t>
            </a:r>
          </a:p>
        </p:txBody>
      </p:sp>
      <p:sp>
        <p:nvSpPr>
          <p:cNvPr id="6" name="Accounting still to complete">
            <a:extLst xmlns:a="http://schemas.openxmlformats.org/drawingml/2006/main">
              <a:ext uri="{FF2B5EF4-FFF2-40B4-BE49-F238E27FC236}">
                <a16:creationId xmlns:a16="http://schemas.microsoft.com/office/drawing/2014/main" id="{3D8D8704-9FE5-4069-BC3D-E876170EDA55}"/>
              </a:ext>
            </a:extLst>
          </p:cNvPr>
          <p:cNvSpPr>
            <a:spLocks xmlns:a="http://schemas.openxmlformats.org/drawingml/2006/main" noGrp="1"/>
          </p:cNvSpPr>
          <p:nvPr/>
        </p:nvSpPr>
        <p:spPr>
          <a:xfrm xmlns:a="http://schemas.openxmlformats.org/drawingml/2006/main">
            <a:off x="6457950" y="19812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A3A"/>
                </a:solidFill>
                <a:latin typeface="Arial"/>
                <a:ea typeface="Arial"/>
                <a:cs typeface="Arial"/>
              </a:defRPr>
            </a:defPPr>
            <a:lvl1pPr algn="l">
              <a:defRPr sz="2325" b="1">
                <a:solidFill>
                  <a:srgbClr val="162A3A"/>
                </a:solidFill>
                <a:latin typeface="Arial"/>
                <a:ea typeface="Arial"/>
                <a:cs typeface="Arial"/>
              </a:defRPr>
            </a:lvl1pPr>
            <a:lvl2pPr algn="l">
              <a:defRPr sz="2325" b="1">
                <a:solidFill>
                  <a:srgbClr val="162A3A"/>
                </a:solidFill>
                <a:latin typeface="Arial"/>
                <a:ea typeface="Arial"/>
                <a:cs typeface="Arial"/>
              </a:defRPr>
            </a:lvl2pPr>
            <a:lvl3pPr algn="l">
              <a:defRPr sz="2325" b="1">
                <a:solidFill>
                  <a:srgbClr val="162A3A"/>
                </a:solidFill>
                <a:latin typeface="Arial"/>
                <a:ea typeface="Arial"/>
                <a:cs typeface="Arial"/>
              </a:defRPr>
            </a:lvl3pPr>
            <a:lvl4pPr algn="l">
              <a:defRPr sz="2325" b="1">
                <a:solidFill>
                  <a:srgbClr val="162A3A"/>
                </a:solidFill>
                <a:latin typeface="Arial"/>
                <a:ea typeface="Arial"/>
                <a:cs typeface="Arial"/>
              </a:defRPr>
            </a:lvl4pPr>
            <a:lvl5pPr algn="l">
              <a:defRPr sz="2325" b="1">
                <a:solidFill>
                  <a:srgbClr val="162A3A"/>
                </a:solidFill>
                <a:latin typeface="Arial"/>
                <a:ea typeface="Arial"/>
                <a:cs typeface="Arial"/>
              </a:defRPr>
            </a:lvl5pPr>
            <a:lvl6pPr algn="l">
              <a:defRPr sz="2325" b="1">
                <a:solidFill>
                  <a:srgbClr val="162A3A"/>
                </a:solidFill>
                <a:latin typeface="Arial"/>
                <a:ea typeface="Arial"/>
                <a:cs typeface="Arial"/>
              </a:defRPr>
            </a:lvl6pPr>
            <a:lvl7pPr algn="l">
              <a:defRPr sz="2325" b="1">
                <a:solidFill>
                  <a:srgbClr val="162A3A"/>
                </a:solidFill>
                <a:latin typeface="Arial"/>
                <a:ea typeface="Arial"/>
                <a:cs typeface="Arial"/>
              </a:defRPr>
            </a:lvl7pPr>
            <a:lvl8pPr algn="l">
              <a:defRPr sz="2325" b="1">
                <a:solidFill>
                  <a:srgbClr val="162A3A"/>
                </a:solidFill>
                <a:latin typeface="Arial"/>
                <a:ea typeface="Arial"/>
                <a:cs typeface="Arial"/>
              </a:defRPr>
            </a:lvl8pPr>
            <a:lvl9pPr algn="l">
              <a:defRPr sz="2325" b="1">
                <a:solidFill>
                  <a:srgbClr val="162A3A"/>
                </a:solidFill>
                <a:latin typeface="Arial"/>
                <a:ea typeface="Arial"/>
                <a:cs typeface="Arial"/>
              </a:defRPr>
            </a:lvl9pPr>
          </a:lstStyle>
          <a:p xmlns:a="http://schemas.openxmlformats.org/drawingml/2006/main">
            <a:pPr algn="l">
              <a:defRPr sz="2325" b="1">
                <a:solidFill>
                  <a:srgbClr val="162A3A"/>
                </a:solidFill>
                <a:latin typeface="Arial"/>
                <a:ea typeface="Arial"/>
                <a:cs typeface="Arial"/>
              </a:defRPr>
            </a:pPr>
            <a:r>
              <a:rPr sz="2325" b="1">
                <a:solidFill>
                  <a:srgbClr val="162A3A"/>
                </a:solidFill>
                <a:latin typeface="Arial"/>
                <a:ea typeface="Arial"/>
                <a:cs typeface="Arial"/>
              </a:rPr>
              <a:t>Accounting still to complete</a:t>
            </a:r>
          </a:p>
        </p:txBody>
      </p:sp>
      <p:sp>
        <p:nvSpPr>
          <p:cNvPr id="7" name="">
            <a:extLst xmlns:a="http://schemas.openxmlformats.org/drawingml/2006/main">
              <a:ext uri="{FF2B5EF4-FFF2-40B4-BE49-F238E27FC236}">
                <a16:creationId xmlns:a16="http://schemas.microsoft.com/office/drawing/2014/main" id="{C3CD5336-28BB-484D-9930-B9083764A5F8}"/>
              </a:ext>
            </a:extLst>
          </p:cNvPr>
          <p:cNvSpPr>
            <a:spLocks xmlns:a="http://schemas.openxmlformats.org/drawingml/2006/main" noGrp="1"/>
          </p:cNvSpPr>
          <p:nvPr/>
        </p:nvSpPr>
        <p:spPr>
          <a:xfrm xmlns:a="http://schemas.openxmlformats.org/drawingml/2006/main">
            <a:off x="6457950" y="2609850"/>
            <a:ext cx="504825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A3A"/>
                </a:solidFill>
                <a:latin typeface="Arial"/>
                <a:ea typeface="Arial"/>
                <a:cs typeface="Arial"/>
              </a:defRPr>
            </a:defPPr>
            <a:lvl1pPr algn="l">
              <a:defRPr sz="2025" b="0">
                <a:solidFill>
                  <a:srgbClr val="162A3A"/>
                </a:solidFill>
                <a:latin typeface="Arial"/>
                <a:ea typeface="Arial"/>
                <a:cs typeface="Arial"/>
              </a:defRPr>
            </a:lvl1pPr>
            <a:lvl2pPr algn="l">
              <a:defRPr sz="2025" b="0">
                <a:solidFill>
                  <a:srgbClr val="162A3A"/>
                </a:solidFill>
                <a:latin typeface="Arial"/>
                <a:ea typeface="Arial"/>
                <a:cs typeface="Arial"/>
              </a:defRPr>
            </a:lvl2pPr>
            <a:lvl3pPr algn="l">
              <a:defRPr sz="2025" b="0">
                <a:solidFill>
                  <a:srgbClr val="162A3A"/>
                </a:solidFill>
                <a:latin typeface="Arial"/>
                <a:ea typeface="Arial"/>
                <a:cs typeface="Arial"/>
              </a:defRPr>
            </a:lvl3pPr>
            <a:lvl4pPr algn="l">
              <a:defRPr sz="2025" b="0">
                <a:solidFill>
                  <a:srgbClr val="162A3A"/>
                </a:solidFill>
                <a:latin typeface="Arial"/>
                <a:ea typeface="Arial"/>
                <a:cs typeface="Arial"/>
              </a:defRPr>
            </a:lvl4pPr>
            <a:lvl5pPr algn="l">
              <a:defRPr sz="2025" b="0">
                <a:solidFill>
                  <a:srgbClr val="162A3A"/>
                </a:solidFill>
                <a:latin typeface="Arial"/>
                <a:ea typeface="Arial"/>
                <a:cs typeface="Arial"/>
              </a:defRPr>
            </a:lvl5pPr>
            <a:lvl6pPr algn="l">
              <a:defRPr sz="2025" b="0">
                <a:solidFill>
                  <a:srgbClr val="162A3A"/>
                </a:solidFill>
                <a:latin typeface="Arial"/>
                <a:ea typeface="Arial"/>
                <a:cs typeface="Arial"/>
              </a:defRPr>
            </a:lvl6pPr>
            <a:lvl7pPr algn="l">
              <a:defRPr sz="2025" b="0">
                <a:solidFill>
                  <a:srgbClr val="162A3A"/>
                </a:solidFill>
                <a:latin typeface="Arial"/>
                <a:ea typeface="Arial"/>
                <a:cs typeface="Arial"/>
              </a:defRPr>
            </a:lvl7pPr>
            <a:lvl8pPr algn="l">
              <a:defRPr sz="2025" b="0">
                <a:solidFill>
                  <a:srgbClr val="162A3A"/>
                </a:solidFill>
                <a:latin typeface="Arial"/>
                <a:ea typeface="Arial"/>
                <a:cs typeface="Arial"/>
              </a:defRPr>
            </a:lvl8pPr>
            <a:lvl9pPr algn="l">
              <a:defRPr sz="2025" b="0">
                <a:solidFill>
                  <a:srgbClr val="162A3A"/>
                </a:solidFill>
                <a:latin typeface="Arial"/>
                <a:ea typeface="Arial"/>
                <a:cs typeface="Arial"/>
              </a:defRPr>
            </a:lvl9pPr>
          </a:lstStyle>
          <a:p xmlns:a="http://schemas.openxmlformats.org/drawingml/2006/main">
            <a:pPr marL="228600" indent="-114300" algn="l">
              <a:spcAft>
                <a:spcPts val="1300"/>
              </a:spcAft>
              <a:buChar char="•"/>
              <a:defRPr sz="2025" b="0">
                <a:solidFill>
                  <a:srgbClr val="162A3A"/>
                </a:solidFill>
                <a:latin typeface="Arial"/>
                <a:ea typeface="Arial"/>
                <a:cs typeface="Arial"/>
              </a:defRPr>
            </a:pPr>
            <a:r>
              <a:t>Confirm holdings before valuing the account</a:t>
            </a:r>
          </a:p>
          <a:p xmlns:a="http://schemas.openxmlformats.org/drawingml/2006/main">
            <a:pPr marL="228600" indent="-114300" algn="l">
              <a:spcAft>
                <a:spcPts val="1300"/>
              </a:spcAft>
              <a:buChar char="•"/>
              <a:defRPr sz="2025" b="0">
                <a:solidFill>
                  <a:srgbClr val="162A3A"/>
                </a:solidFill>
                <a:latin typeface="Arial"/>
                <a:ea typeface="Arial"/>
                <a:cs typeface="Arial"/>
              </a:defRPr>
            </a:pPr>
            <a:r>
              <a:t>Add costed fills and short-position financing</a:t>
            </a:r>
          </a:p>
          <a:p xmlns:a="http://schemas.openxmlformats.org/drawingml/2006/main">
            <a:pPr marL="228600" indent="-114300" algn="l">
              <a:spcAft>
                <a:spcPts val="1300"/>
              </a:spcAft>
              <a:buChar char="•"/>
              <a:defRPr sz="2025" b="0">
                <a:solidFill>
                  <a:srgbClr val="162A3A"/>
                </a:solidFill>
                <a:latin typeface="Arial"/>
                <a:ea typeface="Arial"/>
                <a:cs typeface="Arial"/>
              </a:defRPr>
            </a:pPr>
            <a:r>
              <a:t>Reconcile PM P&amp;L with consolidated fund NAV</a:t>
            </a:r>
          </a:p>
          <a:p xmlns:a="http://schemas.openxmlformats.org/drawingml/2006/main">
            <a:pPr marL="228600" indent="-114300" algn="l">
              <a:spcAft>
                <a:spcPts val="1300"/>
              </a:spcAft>
              <a:buChar char="•"/>
              <a:defRPr sz="2025" b="0">
                <a:solidFill>
                  <a:srgbClr val="162A3A"/>
                </a:solidFill>
                <a:latin typeface="Arial"/>
                <a:ea typeface="Arial"/>
                <a:cs typeface="Arial"/>
              </a:defRPr>
            </a:pPr>
            <a:r>
              <a:t>Record capital transfers separately from return</a:t>
            </a:r>
          </a:p>
        </p:txBody>
      </p:sp>
      <p:sp>
        <p:nvSpPr>
          <p:cNvPr id="8" name="Fund NAV = sum of PM NAVs + central cash">
            <a:extLst xmlns:a="http://schemas.openxmlformats.org/drawingml/2006/main">
              <a:ext uri="{FF2B5EF4-FFF2-40B4-BE49-F238E27FC236}">
                <a16:creationId xmlns:a16="http://schemas.microsoft.com/office/drawing/2014/main" id="{E9B2BB29-B258-49A7-86E3-E7D37A26D305}"/>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xmlns:a="http://schemas.openxmlformats.org/drawingml/2006/main">
            <a:pPr algn="l">
              <a:defRPr sz="2325" b="1">
                <a:solidFill>
                  <a:srgbClr val="087E8B"/>
                </a:solidFill>
                <a:latin typeface="Arial"/>
                <a:ea typeface="Arial"/>
                <a:cs typeface="Arial"/>
              </a:defRPr>
            </a:pPr>
            <a:r>
              <a:rPr sz="2325" b="1">
                <a:solidFill>
                  <a:srgbClr val="087E8B"/>
                </a:solidFill>
                <a:latin typeface="Arial"/>
                <a:ea typeface="Arial"/>
                <a:cs typeface="Arial"/>
              </a:rPr>
              <a:t>Fund NAV = sum of PM NAVs + central cash</a:t>
            </a:r>
          </a:p>
        </p:txBody>
      </p:sp>
    </p:spTree>
    <p:extLst>
      <p:ext uri="{BB962C8B-B14F-4D97-AF65-F5344CB8AC3E}">
        <p14:creationId xmlns:p14="http://schemas.microsoft.com/office/powerpoint/2010/main" val="16333025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istorical crypto evidence">
            <a:extLst xmlns:a="http://schemas.openxmlformats.org/drawingml/2006/main">
              <a:ext uri="{FF2B5EF4-FFF2-40B4-BE49-F238E27FC236}">
                <a16:creationId xmlns:a16="http://schemas.microsoft.com/office/drawing/2014/main" id="{2871B812-0145-4DDB-B642-DE73BC2285AB}"/>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Historical crypto evidence</a:t>
            </a:r>
          </a:p>
        </p:txBody>
      </p:sp>
      <p:sp>
        <p:nvSpPr>
          <p:cNvPr id="2" name="Separate daily baseline, 1 January 2024 to 31 July 2026 validation">
            <a:extLst xmlns:a="http://schemas.openxmlformats.org/drawingml/2006/main">
              <a:ext uri="{FF2B5EF4-FFF2-40B4-BE49-F238E27FC236}">
                <a16:creationId xmlns:a16="http://schemas.microsoft.com/office/drawing/2014/main" id="{03B750A2-4BED-4655-A4E1-26E28F1BEBDA}"/>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Separate daily baseline, 1 January 2024 to 31 July 2026 validation</a:t>
            </a:r>
          </a:p>
        </p:txBody>
      </p:sp>
      <p:sp>
        <p:nvSpPr>
          <p:cNvPr id="3" name="10">
            <a:extLst xmlns:a="http://schemas.openxmlformats.org/drawingml/2006/main">
              <a:ext uri="{FF2B5EF4-FFF2-40B4-BE49-F238E27FC236}">
                <a16:creationId xmlns:a16="http://schemas.microsoft.com/office/drawing/2014/main" id="{3F6B6D8E-739C-4195-92E9-59B8F5B0D167}"/>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10</a:t>
            </a:r>
          </a:p>
        </p:txBody>
      </p:sp>
      <p:sp>
        <p:nvSpPr>
          <p:cNvPr id="4" name="Total return, percent">
            <a:extLst xmlns:a="http://schemas.openxmlformats.org/drawingml/2006/main">
              <a:ext uri="{FF2B5EF4-FFF2-40B4-BE49-F238E27FC236}">
                <a16:creationId xmlns:a16="http://schemas.microsoft.com/office/drawing/2014/main" id="{D000AD07-96A8-4F06-9AA5-1968C4680247}"/>
              </a:ext>
            </a:extLst>
          </p:cNvPr>
          <p:cNvSpPr>
            <a:spLocks xmlns:a="http://schemas.openxmlformats.org/drawingml/2006/main" noGrp="1"/>
          </p:cNvSpPr>
          <p:nvPr/>
        </p:nvSpPr>
        <p:spPr>
          <a:xfrm xmlns:a="http://schemas.openxmlformats.org/drawingml/2006/main">
            <a:off x="685800" y="1924050"/>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2A3A"/>
                </a:solidFill>
                <a:latin typeface="Arial"/>
                <a:ea typeface="Arial"/>
                <a:cs typeface="Arial"/>
              </a:defRPr>
            </a:defPPr>
            <a:lvl1pPr algn="l">
              <a:defRPr sz="2100" b="1">
                <a:solidFill>
                  <a:srgbClr val="162A3A"/>
                </a:solidFill>
                <a:latin typeface="Arial"/>
                <a:ea typeface="Arial"/>
                <a:cs typeface="Arial"/>
              </a:defRPr>
            </a:lvl1pPr>
            <a:lvl2pPr algn="l">
              <a:defRPr sz="2100" b="1">
                <a:solidFill>
                  <a:srgbClr val="162A3A"/>
                </a:solidFill>
                <a:latin typeface="Arial"/>
                <a:ea typeface="Arial"/>
                <a:cs typeface="Arial"/>
              </a:defRPr>
            </a:lvl2pPr>
            <a:lvl3pPr algn="l">
              <a:defRPr sz="2100" b="1">
                <a:solidFill>
                  <a:srgbClr val="162A3A"/>
                </a:solidFill>
                <a:latin typeface="Arial"/>
                <a:ea typeface="Arial"/>
                <a:cs typeface="Arial"/>
              </a:defRPr>
            </a:lvl3pPr>
            <a:lvl4pPr algn="l">
              <a:defRPr sz="2100" b="1">
                <a:solidFill>
                  <a:srgbClr val="162A3A"/>
                </a:solidFill>
                <a:latin typeface="Arial"/>
                <a:ea typeface="Arial"/>
                <a:cs typeface="Arial"/>
              </a:defRPr>
            </a:lvl4pPr>
            <a:lvl5pPr algn="l">
              <a:defRPr sz="2100" b="1">
                <a:solidFill>
                  <a:srgbClr val="162A3A"/>
                </a:solidFill>
                <a:latin typeface="Arial"/>
                <a:ea typeface="Arial"/>
                <a:cs typeface="Arial"/>
              </a:defRPr>
            </a:lvl5pPr>
            <a:lvl6pPr algn="l">
              <a:defRPr sz="2100" b="1">
                <a:solidFill>
                  <a:srgbClr val="162A3A"/>
                </a:solidFill>
                <a:latin typeface="Arial"/>
                <a:ea typeface="Arial"/>
                <a:cs typeface="Arial"/>
              </a:defRPr>
            </a:lvl6pPr>
            <a:lvl7pPr algn="l">
              <a:defRPr sz="2100" b="1">
                <a:solidFill>
                  <a:srgbClr val="162A3A"/>
                </a:solidFill>
                <a:latin typeface="Arial"/>
                <a:ea typeface="Arial"/>
                <a:cs typeface="Arial"/>
              </a:defRPr>
            </a:lvl7pPr>
            <a:lvl8pPr algn="l">
              <a:defRPr sz="2100" b="1">
                <a:solidFill>
                  <a:srgbClr val="162A3A"/>
                </a:solidFill>
                <a:latin typeface="Arial"/>
                <a:ea typeface="Arial"/>
                <a:cs typeface="Arial"/>
              </a:defRPr>
            </a:lvl8pPr>
            <a:lvl9pPr algn="l">
              <a:defRPr sz="2100" b="1">
                <a:solidFill>
                  <a:srgbClr val="162A3A"/>
                </a:solidFill>
                <a:latin typeface="Arial"/>
                <a:ea typeface="Arial"/>
                <a:cs typeface="Arial"/>
              </a:defRPr>
            </a:lvl9pPr>
          </a:lstStyle>
          <a:p xmlns:a="http://schemas.openxmlformats.org/drawingml/2006/main">
            <a:pPr algn="l">
              <a:defRPr sz="2100" b="1">
                <a:solidFill>
                  <a:srgbClr val="162A3A"/>
                </a:solidFill>
                <a:latin typeface="Arial"/>
                <a:ea typeface="Arial"/>
                <a:cs typeface="Arial"/>
              </a:defRPr>
            </a:pPr>
            <a:r>
              <a:rPr sz="2100" b="1">
                <a:solidFill>
                  <a:srgbClr val="162A3A"/>
                </a:solidFill>
                <a:latin typeface="Arial"/>
                <a:ea typeface="Arial"/>
                <a:cs typeface="Arial"/>
              </a:rPr>
              <a:t>Total return, percent</a:t>
            </a:r>
          </a:p>
        </p:txBody>
      </p:sp>
      <p:graphicFrame>
        <p:nvGraphicFramePr>
          <p:cNvPr id="5" name="Chart">
            <a:extLst xmlns:a="http://schemas.openxmlformats.org/drawingml/2006/main">
              <a:ext uri="{FF2B5EF4-FFF2-40B4-BE49-F238E27FC236}">
                <a16:creationId xmlns:a16="http://schemas.microsoft.com/office/drawing/2014/main" id="{38CD7F46-1E48-4202-A03B-B76AFA169CC3}"/>
              </a:ext>
            </a:extLst>
          </p:cNvPr>
          <p:cNvGraphicFramePr/>
          <p:nvPr/>
        </p:nvGraphicFramePr>
        <p:xfrm>
          <a:off xmlns:a="http://schemas.openxmlformats.org/drawingml/2006/main" x="685800" y="2552700"/>
          <a:ext xmlns:a="http://schemas.openxmlformats.org/drawingml/2006/main" cx="6572250" cy="2581275"/>
        </p:xfrm>
        <a:graphic xmlns:a="http://schemas.openxmlformats.org/drawingml/2006/main">
          <a:graphicData uri="http://schemas.openxmlformats.org/drawingml/2006/chart">
            <c:chart xmlns:r="http://schemas.openxmlformats.org/officeDocument/2006/relationships" xmlns:c="http://schemas.openxmlformats.org/drawingml/2006/chart" r:id="R53ea5c7255564259"/>
          </a:graphicData>
        </a:graphic>
      </p:graphicFrame>
      <p:sp>
        <p:nvSpPr>
          <p:cNvPr id="6" name="Baseline risk">
            <a:extLst xmlns:a="http://schemas.openxmlformats.org/drawingml/2006/main">
              <a:ext uri="{FF2B5EF4-FFF2-40B4-BE49-F238E27FC236}">
                <a16:creationId xmlns:a16="http://schemas.microsoft.com/office/drawing/2014/main" id="{513AC3F2-889B-4135-BF8C-EB7802D24D5D}"/>
              </a:ext>
            </a:extLst>
          </p:cNvPr>
          <p:cNvSpPr>
            <a:spLocks xmlns:a="http://schemas.openxmlformats.org/drawingml/2006/main" noGrp="1"/>
          </p:cNvSpPr>
          <p:nvPr/>
        </p:nvSpPr>
        <p:spPr>
          <a:xfrm xmlns:a="http://schemas.openxmlformats.org/drawingml/2006/main">
            <a:off x="8077200" y="1933575"/>
            <a:ext cx="342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vl1pPr algn="l">
              <a:defRPr sz="2250" b="1">
                <a:solidFill>
                  <a:srgbClr val="162A3A"/>
                </a:solidFill>
                <a:latin typeface="Arial"/>
                <a:ea typeface="Arial"/>
                <a:cs typeface="Arial"/>
              </a:defRPr>
            </a:lvl1pPr>
            <a:lvl2pPr algn="l">
              <a:defRPr sz="2250" b="1">
                <a:solidFill>
                  <a:srgbClr val="162A3A"/>
                </a:solidFill>
                <a:latin typeface="Arial"/>
                <a:ea typeface="Arial"/>
                <a:cs typeface="Arial"/>
              </a:defRPr>
            </a:lvl2pPr>
            <a:lvl3pPr algn="l">
              <a:defRPr sz="2250" b="1">
                <a:solidFill>
                  <a:srgbClr val="162A3A"/>
                </a:solidFill>
                <a:latin typeface="Arial"/>
                <a:ea typeface="Arial"/>
                <a:cs typeface="Arial"/>
              </a:defRPr>
            </a:lvl3pPr>
            <a:lvl4pPr algn="l">
              <a:defRPr sz="2250" b="1">
                <a:solidFill>
                  <a:srgbClr val="162A3A"/>
                </a:solidFill>
                <a:latin typeface="Arial"/>
                <a:ea typeface="Arial"/>
                <a:cs typeface="Arial"/>
              </a:defRPr>
            </a:lvl4pPr>
            <a:lvl5pPr algn="l">
              <a:defRPr sz="2250" b="1">
                <a:solidFill>
                  <a:srgbClr val="162A3A"/>
                </a:solidFill>
                <a:latin typeface="Arial"/>
                <a:ea typeface="Arial"/>
                <a:cs typeface="Arial"/>
              </a:defRPr>
            </a:lvl5pPr>
            <a:lvl6pPr algn="l">
              <a:defRPr sz="2250" b="1">
                <a:solidFill>
                  <a:srgbClr val="162A3A"/>
                </a:solidFill>
                <a:latin typeface="Arial"/>
                <a:ea typeface="Arial"/>
                <a:cs typeface="Arial"/>
              </a:defRPr>
            </a:lvl6pPr>
            <a:lvl7pPr algn="l">
              <a:defRPr sz="2250" b="1">
                <a:solidFill>
                  <a:srgbClr val="162A3A"/>
                </a:solidFill>
                <a:latin typeface="Arial"/>
                <a:ea typeface="Arial"/>
                <a:cs typeface="Arial"/>
              </a:defRPr>
            </a:lvl7pPr>
            <a:lvl8pPr algn="l">
              <a:defRPr sz="2250" b="1">
                <a:solidFill>
                  <a:srgbClr val="162A3A"/>
                </a:solidFill>
                <a:latin typeface="Arial"/>
                <a:ea typeface="Arial"/>
                <a:cs typeface="Arial"/>
              </a:defRPr>
            </a:lvl8pPr>
            <a:lvl9pPr algn="l">
              <a:defRPr sz="2250" b="1">
                <a:solidFill>
                  <a:srgbClr val="162A3A"/>
                </a:solidFill>
                <a:latin typeface="Arial"/>
                <a:ea typeface="Arial"/>
                <a:cs typeface="Arial"/>
              </a:defRPr>
            </a:lvl9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Baseline risk</a:t>
            </a:r>
          </a:p>
        </p:txBody>
      </p:sp>
      <p:sp>
        <p:nvSpPr>
          <p:cNvPr id="7" name="−23.78%">
            <a:extLst xmlns:a="http://schemas.openxmlformats.org/drawingml/2006/main">
              <a:ext uri="{FF2B5EF4-FFF2-40B4-BE49-F238E27FC236}">
                <a16:creationId xmlns:a16="http://schemas.microsoft.com/office/drawing/2014/main" id="{EEB719D1-C664-4036-8F73-A942641668B7}"/>
              </a:ext>
            </a:extLst>
          </p:cNvPr>
          <p:cNvSpPr>
            <a:spLocks xmlns:a="http://schemas.openxmlformats.org/drawingml/2006/main" noGrp="1"/>
          </p:cNvSpPr>
          <p:nvPr/>
        </p:nvSpPr>
        <p:spPr>
          <a:xfrm xmlns:a="http://schemas.openxmlformats.org/drawingml/2006/main">
            <a:off x="8077200" y="26193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87E8B"/>
                </a:solidFill>
                <a:latin typeface="Arial"/>
                <a:ea typeface="Arial"/>
                <a:cs typeface="Arial"/>
              </a:defRPr>
            </a:defPPr>
            <a:lvl1pPr algn="l">
              <a:defRPr sz="3900" b="1">
                <a:solidFill>
                  <a:srgbClr val="087E8B"/>
                </a:solidFill>
                <a:latin typeface="Arial"/>
                <a:ea typeface="Arial"/>
                <a:cs typeface="Arial"/>
              </a:defRPr>
            </a:lvl1pPr>
            <a:lvl2pPr algn="l">
              <a:defRPr sz="3900" b="1">
                <a:solidFill>
                  <a:srgbClr val="087E8B"/>
                </a:solidFill>
                <a:latin typeface="Arial"/>
                <a:ea typeface="Arial"/>
                <a:cs typeface="Arial"/>
              </a:defRPr>
            </a:lvl2pPr>
            <a:lvl3pPr algn="l">
              <a:defRPr sz="3900" b="1">
                <a:solidFill>
                  <a:srgbClr val="087E8B"/>
                </a:solidFill>
                <a:latin typeface="Arial"/>
                <a:ea typeface="Arial"/>
                <a:cs typeface="Arial"/>
              </a:defRPr>
            </a:lvl3pPr>
            <a:lvl4pPr algn="l">
              <a:defRPr sz="3900" b="1">
                <a:solidFill>
                  <a:srgbClr val="087E8B"/>
                </a:solidFill>
                <a:latin typeface="Arial"/>
                <a:ea typeface="Arial"/>
                <a:cs typeface="Arial"/>
              </a:defRPr>
            </a:lvl4pPr>
            <a:lvl5pPr algn="l">
              <a:defRPr sz="3900" b="1">
                <a:solidFill>
                  <a:srgbClr val="087E8B"/>
                </a:solidFill>
                <a:latin typeface="Arial"/>
                <a:ea typeface="Arial"/>
                <a:cs typeface="Arial"/>
              </a:defRPr>
            </a:lvl5pPr>
            <a:lvl6pPr algn="l">
              <a:defRPr sz="3900" b="1">
                <a:solidFill>
                  <a:srgbClr val="087E8B"/>
                </a:solidFill>
                <a:latin typeface="Arial"/>
                <a:ea typeface="Arial"/>
                <a:cs typeface="Arial"/>
              </a:defRPr>
            </a:lvl6pPr>
            <a:lvl7pPr algn="l">
              <a:defRPr sz="3900" b="1">
                <a:solidFill>
                  <a:srgbClr val="087E8B"/>
                </a:solidFill>
                <a:latin typeface="Arial"/>
                <a:ea typeface="Arial"/>
                <a:cs typeface="Arial"/>
              </a:defRPr>
            </a:lvl7pPr>
            <a:lvl8pPr algn="l">
              <a:defRPr sz="3900" b="1">
                <a:solidFill>
                  <a:srgbClr val="087E8B"/>
                </a:solidFill>
                <a:latin typeface="Arial"/>
                <a:ea typeface="Arial"/>
                <a:cs typeface="Arial"/>
              </a:defRPr>
            </a:lvl8pPr>
            <a:lvl9pPr algn="l">
              <a:defRPr sz="3900" b="1">
                <a:solidFill>
                  <a:srgbClr val="087E8B"/>
                </a:solidFill>
                <a:latin typeface="Arial"/>
                <a:ea typeface="Arial"/>
                <a:cs typeface="Arial"/>
              </a:defRPr>
            </a:lvl9pPr>
          </a:lstStyle>
          <a:p xmlns:a="http://schemas.openxmlformats.org/drawingml/2006/main">
            <a:pPr algn="l">
              <a:defRPr sz="3900" b="1">
                <a:solidFill>
                  <a:srgbClr val="087E8B"/>
                </a:solidFill>
                <a:latin typeface="Arial"/>
                <a:ea typeface="Arial"/>
                <a:cs typeface="Arial"/>
              </a:defRPr>
            </a:pPr>
            <a:r>
              <a:rPr sz="3900" b="1">
                <a:solidFill>
                  <a:srgbClr val="087E8B"/>
                </a:solidFill>
                <a:latin typeface="Arial"/>
                <a:ea typeface="Arial"/>
                <a:cs typeface="Arial"/>
              </a:rPr>
              <a:t>−23.78%</a:t>
            </a:r>
          </a:p>
        </p:txBody>
      </p:sp>
      <p:sp>
        <p:nvSpPr>
          <p:cNvPr id="8" name="Maximum drawdown">
            <a:extLst xmlns:a="http://schemas.openxmlformats.org/drawingml/2006/main">
              <a:ext uri="{FF2B5EF4-FFF2-40B4-BE49-F238E27FC236}">
                <a16:creationId xmlns:a16="http://schemas.microsoft.com/office/drawing/2014/main" id="{4C659032-A913-41EE-B26A-BB885EAE5800}"/>
              </a:ext>
            </a:extLst>
          </p:cNvPr>
          <p:cNvSpPr>
            <a:spLocks xmlns:a="http://schemas.openxmlformats.org/drawingml/2006/main" noGrp="1"/>
          </p:cNvSpPr>
          <p:nvPr/>
        </p:nvSpPr>
        <p:spPr>
          <a:xfrm xmlns:a="http://schemas.openxmlformats.org/drawingml/2006/main">
            <a:off x="8077200" y="33242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Maximum drawdown</a:t>
            </a:r>
          </a:p>
        </p:txBody>
      </p:sp>
      <p:sp>
        <p:nvSpPr>
          <p:cNvPr id="9" name="0.32">
            <a:extLst xmlns:a="http://schemas.openxmlformats.org/drawingml/2006/main">
              <a:ext uri="{FF2B5EF4-FFF2-40B4-BE49-F238E27FC236}">
                <a16:creationId xmlns:a16="http://schemas.microsoft.com/office/drawing/2014/main" id="{4846641D-6264-4FAF-BD0B-473916E00DA5}"/>
              </a:ext>
            </a:extLst>
          </p:cNvPr>
          <p:cNvSpPr>
            <a:spLocks xmlns:a="http://schemas.openxmlformats.org/drawingml/2006/main" noGrp="1"/>
          </p:cNvSpPr>
          <p:nvPr/>
        </p:nvSpPr>
        <p:spPr>
          <a:xfrm xmlns:a="http://schemas.openxmlformats.org/drawingml/2006/main">
            <a:off x="8077200" y="4029075"/>
            <a:ext cx="3429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62A3A"/>
                </a:solidFill>
                <a:latin typeface="Arial"/>
                <a:ea typeface="Arial"/>
                <a:cs typeface="Arial"/>
              </a:defRPr>
            </a:defPPr>
            <a:lvl1pPr algn="l">
              <a:defRPr sz="3675" b="1">
                <a:solidFill>
                  <a:srgbClr val="162A3A"/>
                </a:solidFill>
                <a:latin typeface="Arial"/>
                <a:ea typeface="Arial"/>
                <a:cs typeface="Arial"/>
              </a:defRPr>
            </a:lvl1pPr>
            <a:lvl2pPr algn="l">
              <a:defRPr sz="3675" b="1">
                <a:solidFill>
                  <a:srgbClr val="162A3A"/>
                </a:solidFill>
                <a:latin typeface="Arial"/>
                <a:ea typeface="Arial"/>
                <a:cs typeface="Arial"/>
              </a:defRPr>
            </a:lvl2pPr>
            <a:lvl3pPr algn="l">
              <a:defRPr sz="3675" b="1">
                <a:solidFill>
                  <a:srgbClr val="162A3A"/>
                </a:solidFill>
                <a:latin typeface="Arial"/>
                <a:ea typeface="Arial"/>
                <a:cs typeface="Arial"/>
              </a:defRPr>
            </a:lvl3pPr>
            <a:lvl4pPr algn="l">
              <a:defRPr sz="3675" b="1">
                <a:solidFill>
                  <a:srgbClr val="162A3A"/>
                </a:solidFill>
                <a:latin typeface="Arial"/>
                <a:ea typeface="Arial"/>
                <a:cs typeface="Arial"/>
              </a:defRPr>
            </a:lvl4pPr>
            <a:lvl5pPr algn="l">
              <a:defRPr sz="3675" b="1">
                <a:solidFill>
                  <a:srgbClr val="162A3A"/>
                </a:solidFill>
                <a:latin typeface="Arial"/>
                <a:ea typeface="Arial"/>
                <a:cs typeface="Arial"/>
              </a:defRPr>
            </a:lvl5pPr>
            <a:lvl6pPr algn="l">
              <a:defRPr sz="3675" b="1">
                <a:solidFill>
                  <a:srgbClr val="162A3A"/>
                </a:solidFill>
                <a:latin typeface="Arial"/>
                <a:ea typeface="Arial"/>
                <a:cs typeface="Arial"/>
              </a:defRPr>
            </a:lvl6pPr>
            <a:lvl7pPr algn="l">
              <a:defRPr sz="3675" b="1">
                <a:solidFill>
                  <a:srgbClr val="162A3A"/>
                </a:solidFill>
                <a:latin typeface="Arial"/>
                <a:ea typeface="Arial"/>
                <a:cs typeface="Arial"/>
              </a:defRPr>
            </a:lvl7pPr>
            <a:lvl8pPr algn="l">
              <a:defRPr sz="3675" b="1">
                <a:solidFill>
                  <a:srgbClr val="162A3A"/>
                </a:solidFill>
                <a:latin typeface="Arial"/>
                <a:ea typeface="Arial"/>
                <a:cs typeface="Arial"/>
              </a:defRPr>
            </a:lvl8pPr>
            <a:lvl9pPr algn="l">
              <a:defRPr sz="3675" b="1">
                <a:solidFill>
                  <a:srgbClr val="162A3A"/>
                </a:solidFill>
                <a:latin typeface="Arial"/>
                <a:ea typeface="Arial"/>
                <a:cs typeface="Arial"/>
              </a:defRPr>
            </a:lvl9pPr>
          </a:lstStyle>
          <a:p xmlns:a="http://schemas.openxmlformats.org/drawingml/2006/main">
            <a:pPr algn="l">
              <a:defRPr sz="3675" b="1">
                <a:solidFill>
                  <a:srgbClr val="162A3A"/>
                </a:solidFill>
                <a:latin typeface="Arial"/>
                <a:ea typeface="Arial"/>
                <a:cs typeface="Arial"/>
              </a:defRPr>
            </a:pPr>
            <a:r>
              <a:rPr sz="3675" b="1">
                <a:solidFill>
                  <a:srgbClr val="162A3A"/>
                </a:solidFill>
                <a:latin typeface="Arial"/>
                <a:ea typeface="Arial"/>
                <a:cs typeface="Arial"/>
              </a:rPr>
              <a:t>0.32</a:t>
            </a:r>
          </a:p>
        </p:txBody>
      </p:sp>
      <p:sp>
        <p:nvSpPr>
          <p:cNvPr id="10" name="Sharpe, zero risk-free rate">
            <a:extLst xmlns:a="http://schemas.openxmlformats.org/drawingml/2006/main">
              <a:ext uri="{FF2B5EF4-FFF2-40B4-BE49-F238E27FC236}">
                <a16:creationId xmlns:a16="http://schemas.microsoft.com/office/drawing/2014/main" id="{4CE684AF-BF5E-43BB-A4FE-44BEC2D29B23}"/>
              </a:ext>
            </a:extLst>
          </p:cNvPr>
          <p:cNvSpPr>
            <a:spLocks xmlns:a="http://schemas.openxmlformats.org/drawingml/2006/main" noGrp="1"/>
          </p:cNvSpPr>
          <p:nvPr/>
        </p:nvSpPr>
        <p:spPr>
          <a:xfrm xmlns:a="http://schemas.openxmlformats.org/drawingml/2006/main">
            <a:off x="8077200" y="467677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Sharpe, zero risk-free rate</a:t>
            </a:r>
          </a:p>
        </p:txBody>
      </p:sp>
      <p:sp>
        <p:nvSpPr>
          <p:cNvPr id="11" name="10 bps turnover cost model. The baseline trails both reported benchmarks.">
            <a:extLst xmlns:a="http://schemas.openxmlformats.org/drawingml/2006/main">
              <a:ext uri="{FF2B5EF4-FFF2-40B4-BE49-F238E27FC236}">
                <a16:creationId xmlns:a16="http://schemas.microsoft.com/office/drawing/2014/main" id="{B8A3BC88-38D5-4938-B230-28DC51E8C577}"/>
              </a:ext>
            </a:extLst>
          </p:cNvPr>
          <p:cNvSpPr>
            <a:spLocks xmlns:a="http://schemas.openxmlformats.org/drawingml/2006/main" noGrp="1"/>
          </p:cNvSpPr>
          <p:nvPr/>
        </p:nvSpPr>
        <p:spPr>
          <a:xfrm xmlns:a="http://schemas.openxmlformats.org/drawingml/2006/main">
            <a:off x="685800" y="55340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62A3A"/>
                </a:solidFill>
                <a:latin typeface="Arial"/>
                <a:ea typeface="Arial"/>
                <a:cs typeface="Arial"/>
              </a:defRPr>
            </a:defPPr>
            <a:lvl1pPr algn="l">
              <a:defRPr sz="1875" b="1">
                <a:solidFill>
                  <a:srgbClr val="162A3A"/>
                </a:solidFill>
                <a:latin typeface="Arial"/>
                <a:ea typeface="Arial"/>
                <a:cs typeface="Arial"/>
              </a:defRPr>
            </a:lvl1pPr>
            <a:lvl2pPr algn="l">
              <a:defRPr sz="1875" b="1">
                <a:solidFill>
                  <a:srgbClr val="162A3A"/>
                </a:solidFill>
                <a:latin typeface="Arial"/>
                <a:ea typeface="Arial"/>
                <a:cs typeface="Arial"/>
              </a:defRPr>
            </a:lvl2pPr>
            <a:lvl3pPr algn="l">
              <a:defRPr sz="1875" b="1">
                <a:solidFill>
                  <a:srgbClr val="162A3A"/>
                </a:solidFill>
                <a:latin typeface="Arial"/>
                <a:ea typeface="Arial"/>
                <a:cs typeface="Arial"/>
              </a:defRPr>
            </a:lvl3pPr>
            <a:lvl4pPr algn="l">
              <a:defRPr sz="1875" b="1">
                <a:solidFill>
                  <a:srgbClr val="162A3A"/>
                </a:solidFill>
                <a:latin typeface="Arial"/>
                <a:ea typeface="Arial"/>
                <a:cs typeface="Arial"/>
              </a:defRPr>
            </a:lvl4pPr>
            <a:lvl5pPr algn="l">
              <a:defRPr sz="1875" b="1">
                <a:solidFill>
                  <a:srgbClr val="162A3A"/>
                </a:solidFill>
                <a:latin typeface="Arial"/>
                <a:ea typeface="Arial"/>
                <a:cs typeface="Arial"/>
              </a:defRPr>
            </a:lvl5pPr>
            <a:lvl6pPr algn="l">
              <a:defRPr sz="1875" b="1">
                <a:solidFill>
                  <a:srgbClr val="162A3A"/>
                </a:solidFill>
                <a:latin typeface="Arial"/>
                <a:ea typeface="Arial"/>
                <a:cs typeface="Arial"/>
              </a:defRPr>
            </a:lvl6pPr>
            <a:lvl7pPr algn="l">
              <a:defRPr sz="1875" b="1">
                <a:solidFill>
                  <a:srgbClr val="162A3A"/>
                </a:solidFill>
                <a:latin typeface="Arial"/>
                <a:ea typeface="Arial"/>
                <a:cs typeface="Arial"/>
              </a:defRPr>
            </a:lvl7pPr>
            <a:lvl8pPr algn="l">
              <a:defRPr sz="1875" b="1">
                <a:solidFill>
                  <a:srgbClr val="162A3A"/>
                </a:solidFill>
                <a:latin typeface="Arial"/>
                <a:ea typeface="Arial"/>
                <a:cs typeface="Arial"/>
              </a:defRPr>
            </a:lvl8pPr>
            <a:lvl9pPr algn="l">
              <a:defRPr sz="1875" b="1">
                <a:solidFill>
                  <a:srgbClr val="162A3A"/>
                </a:solidFill>
                <a:latin typeface="Arial"/>
                <a:ea typeface="Arial"/>
                <a:cs typeface="Arial"/>
              </a:defRPr>
            </a:lvl9pPr>
          </a:lstStyle>
          <a:p xmlns:a="http://schemas.openxmlformats.org/drawingml/2006/main">
            <a:pPr algn="l">
              <a:defRPr sz="1875" b="1">
                <a:solidFill>
                  <a:srgbClr val="162A3A"/>
                </a:solidFill>
                <a:latin typeface="Arial"/>
                <a:ea typeface="Arial"/>
                <a:cs typeface="Arial"/>
              </a:defRPr>
            </a:pPr>
            <a:r>
              <a:rPr sz="1875" b="1">
                <a:solidFill>
                  <a:srgbClr val="162A3A"/>
                </a:solidFill>
                <a:latin typeface="Arial"/>
                <a:ea typeface="Arial"/>
                <a:cs typeface="Arial"/>
              </a:rPr>
              <a:t>10 bps turnover cost model. The baseline trails both reported benchmarks.</a:t>
            </a:r>
          </a:p>
        </p:txBody>
      </p:sp>
      <p:sp>
        <p:nvSpPr>
          <p:cNvPr id="12" name="Historical baseline evidence does not establish integrated-fund or October perfo">
            <a:extLst xmlns:a="http://schemas.openxmlformats.org/drawingml/2006/main">
              <a:ext uri="{FF2B5EF4-FFF2-40B4-BE49-F238E27FC236}">
                <a16:creationId xmlns:a16="http://schemas.microsoft.com/office/drawing/2014/main" id="{5729D305-E22D-49E5-AB9D-DF92D2398723}"/>
              </a:ext>
            </a:extLst>
          </p:cNvPr>
          <p:cNvSpPr>
            <a:spLocks xmlns:a="http://schemas.openxmlformats.org/drawingml/2006/main" noGrp="1"/>
          </p:cNvSpPr>
          <p:nvPr/>
        </p:nvSpPr>
        <p:spPr>
          <a:xfrm xmlns:a="http://schemas.openxmlformats.org/drawingml/2006/main">
            <a:off x="685800" y="60579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16476"/>
                </a:solidFill>
                <a:latin typeface="Arial"/>
                <a:ea typeface="Arial"/>
                <a:cs typeface="Arial"/>
              </a:defRPr>
            </a:defPPr>
            <a:lvl1pPr algn="l">
              <a:defRPr sz="1725" b="0">
                <a:solidFill>
                  <a:srgbClr val="516476"/>
                </a:solidFill>
                <a:latin typeface="Arial"/>
                <a:ea typeface="Arial"/>
                <a:cs typeface="Arial"/>
              </a:defRPr>
            </a:lvl1pPr>
            <a:lvl2pPr algn="l">
              <a:defRPr sz="1725" b="0">
                <a:solidFill>
                  <a:srgbClr val="516476"/>
                </a:solidFill>
                <a:latin typeface="Arial"/>
                <a:ea typeface="Arial"/>
                <a:cs typeface="Arial"/>
              </a:defRPr>
            </a:lvl2pPr>
            <a:lvl3pPr algn="l">
              <a:defRPr sz="1725" b="0">
                <a:solidFill>
                  <a:srgbClr val="516476"/>
                </a:solidFill>
                <a:latin typeface="Arial"/>
                <a:ea typeface="Arial"/>
                <a:cs typeface="Arial"/>
              </a:defRPr>
            </a:lvl3pPr>
            <a:lvl4pPr algn="l">
              <a:defRPr sz="1725" b="0">
                <a:solidFill>
                  <a:srgbClr val="516476"/>
                </a:solidFill>
                <a:latin typeface="Arial"/>
                <a:ea typeface="Arial"/>
                <a:cs typeface="Arial"/>
              </a:defRPr>
            </a:lvl4pPr>
            <a:lvl5pPr algn="l">
              <a:defRPr sz="1725" b="0">
                <a:solidFill>
                  <a:srgbClr val="516476"/>
                </a:solidFill>
                <a:latin typeface="Arial"/>
                <a:ea typeface="Arial"/>
                <a:cs typeface="Arial"/>
              </a:defRPr>
            </a:lvl5pPr>
            <a:lvl6pPr algn="l">
              <a:defRPr sz="1725" b="0">
                <a:solidFill>
                  <a:srgbClr val="516476"/>
                </a:solidFill>
                <a:latin typeface="Arial"/>
                <a:ea typeface="Arial"/>
                <a:cs typeface="Arial"/>
              </a:defRPr>
            </a:lvl6pPr>
            <a:lvl7pPr algn="l">
              <a:defRPr sz="1725" b="0">
                <a:solidFill>
                  <a:srgbClr val="516476"/>
                </a:solidFill>
                <a:latin typeface="Arial"/>
                <a:ea typeface="Arial"/>
                <a:cs typeface="Arial"/>
              </a:defRPr>
            </a:lvl7pPr>
            <a:lvl8pPr algn="l">
              <a:defRPr sz="1725" b="0">
                <a:solidFill>
                  <a:srgbClr val="516476"/>
                </a:solidFill>
                <a:latin typeface="Arial"/>
                <a:ea typeface="Arial"/>
                <a:cs typeface="Arial"/>
              </a:defRPr>
            </a:lvl8pPr>
            <a:lvl9pPr algn="l">
              <a:defRPr sz="1725" b="0">
                <a:solidFill>
                  <a:srgbClr val="516476"/>
                </a:solidFill>
                <a:latin typeface="Arial"/>
                <a:ea typeface="Arial"/>
                <a:cs typeface="Arial"/>
              </a:defRPr>
            </a:lvl9pPr>
          </a:lstStyle>
          <a:p xmlns:a="http://schemas.openxmlformats.org/drawingml/2006/main">
            <a:pPr algn="l">
              <a:defRPr sz="1725" b="0">
                <a:solidFill>
                  <a:srgbClr val="516476"/>
                </a:solidFill>
                <a:latin typeface="Arial"/>
                <a:ea typeface="Arial"/>
                <a:cs typeface="Arial"/>
              </a:defRPr>
            </a:pPr>
            <a:r>
              <a:rPr sz="1725" b="0">
                <a:solidFill>
                  <a:srgbClr val="516476"/>
                </a:solidFill>
                <a:latin typeface="Arial"/>
                <a:ea typeface="Arial"/>
                <a:cs typeface="Arial"/>
              </a:rPr>
              <a:t>Historical baseline evidence does not establish integrated-fund or October performance.</a:t>
            </a:r>
          </a:p>
        </p:txBody>
      </p:sp>
    </p:spTree>
    <p:extLst>
      <p:ext uri="{BB962C8B-B14F-4D97-AF65-F5344CB8AC3E}">
        <p14:creationId xmlns:p14="http://schemas.microsoft.com/office/powerpoint/2010/main" val="3926785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vidence for the investor review">
            <a:extLst xmlns:a="http://schemas.openxmlformats.org/drawingml/2006/main">
              <a:ext uri="{FF2B5EF4-FFF2-40B4-BE49-F238E27FC236}">
                <a16:creationId xmlns:a16="http://schemas.microsoft.com/office/drawing/2014/main" id="{D2B56518-59E7-4806-B4CB-942924313780}"/>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Evidence for the investor review</a:t>
            </a:r>
          </a:p>
        </p:txBody>
      </p:sp>
      <p:sp>
        <p:nvSpPr>
          <p:cNvPr id="2" name="Current local capability and the remaining performance gap">
            <a:extLst xmlns:a="http://schemas.openxmlformats.org/drawingml/2006/main">
              <a:ext uri="{FF2B5EF4-FFF2-40B4-BE49-F238E27FC236}">
                <a16:creationId xmlns:a16="http://schemas.microsoft.com/office/drawing/2014/main" id="{51E9A8AC-9263-4284-A27F-CA2B6C846652}"/>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Current local capability and the remaining performance gap</a:t>
            </a:r>
          </a:p>
        </p:txBody>
      </p:sp>
      <p:sp>
        <p:nvSpPr>
          <p:cNvPr id="3" name="11">
            <a:extLst xmlns:a="http://schemas.openxmlformats.org/drawingml/2006/main">
              <a:ext uri="{FF2B5EF4-FFF2-40B4-BE49-F238E27FC236}">
                <a16:creationId xmlns:a16="http://schemas.microsoft.com/office/drawing/2014/main" id="{0523DEA1-4317-4B07-AB7B-D02420EAC607}"/>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C6C47790-346B-45D7-8C64-AAA514FE3754}"/>
              </a:ext>
            </a:extLst>
          </p:cNvPr>
          <p:cNvGraphicFramePr/>
          <p:nvPr/>
        </p:nvGraphicFramePr>
        <p:xfrm>
          <a:off xmlns:a="http://schemas.openxmlformats.org/drawingml/2006/main" x="685800" y="1914525"/>
          <a:ext xmlns:a="http://schemas.openxmlformats.org/drawingml/2006/main" cx="10820400" cy="3476625"/>
        </p:xfrm>
        <a:graphic xmlns:a="http://schemas.openxmlformats.org/drawingml/2006/main">
          <a:graphicData uri="http://schemas.openxmlformats.org/drawingml/2006/table">
            <a:tbl>
              <a:tblPr firstRow="1" bandRow="0"/>
              <a:tblGrid>
                <a:gridCol w="3333750"/>
                <a:gridCol w="7486650"/>
              </a:tblGrid>
              <a:tr h="695325">
                <a:tc>
                  <a:txBody>
                    <a:bodyPr>
                      <a:noAutofit/>
                    </a:bodyPr>
                    <a:lstStyle/>
                    <a:p>
                      <a:r>
                        <a:rPr sz="1875" b="1">
                          <a:solidFill>
                            <a:srgbClr val="162A3A"/>
                          </a:solidFill>
                          <a:latin typeface="Arial"/>
                          <a:ea typeface="Arial"/>
                          <a:cs typeface="Arial"/>
                        </a:rPr>
                        <a:t>Evidence</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Current position</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695325">
                <a:tc>
                  <a:txBody>
                    <a:bodyPr>
                      <a:noAutofit/>
                    </a:bodyPr>
                    <a:lstStyle/>
                    <a:p>
                      <a:r>
                        <a:rPr sz="1875" b="0">
                          <a:solidFill>
                            <a:srgbClr val="162A3A"/>
                          </a:solidFill>
                          <a:latin typeface="Arial"/>
                          <a:ea typeface="Arial"/>
                          <a:cs typeface="Arial"/>
                        </a:rPr>
                        <a:t>Two-PM local integration</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Crypto and daily pairs proposals, diagnostics and risk</a:t>
                      </a:r>
                    </a:p>
                    <a:p>
                      <a:r>
                        <a:rPr sz="1875" b="0">
                          <a:solidFill>
                            <a:srgbClr val="162A3A"/>
                          </a:solidFill>
                          <a:latin typeface="Arial"/>
                          <a:ea typeface="Arial"/>
                          <a:cs typeface="Arial"/>
                        </a:rPr>
                        <a:t>Recorded intentions with zero fills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95325">
                <a:tc>
                  <a:txBody>
                    <a:bodyPr>
                      <a:noAutofit/>
                    </a:bodyPr>
                    <a:lstStyle/>
                    <a:p>
                      <a:r>
                        <a:rPr sz="1875" b="0">
                          <a:solidFill>
                            <a:srgbClr val="162A3A"/>
                          </a:solidFill>
                          <a:latin typeface="Arial"/>
                          <a:ea typeface="Arial"/>
                          <a:cs typeface="Arial"/>
                        </a:rPr>
                        <a:t>Momentum and connected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Momentum package and automatic AI calls pending</a:t>
                      </a:r>
                    </a:p>
                    <a:p>
                      <a:r>
                        <a:rPr sz="1875" b="0">
                          <a:solidFill>
                            <a:srgbClr val="162A3A"/>
                          </a:solidFill>
                          <a:latin typeface="Arial"/>
                          <a:ea typeface="Arial"/>
                          <a:cs typeface="Arial"/>
                        </a:rPr>
                        <a:t>Optional imported replies already supported</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95325">
                <a:tc>
                  <a:txBody>
                    <a:bodyPr>
                      <a:noAutofit/>
                    </a:bodyPr>
                    <a:lstStyle/>
                    <a:p>
                      <a:r>
                        <a:rPr sz="1875" b="0">
                          <a:solidFill>
                            <a:srgbClr val="162A3A"/>
                          </a:solidFill>
                          <a:latin typeface="Arial"/>
                          <a:ea typeface="Arial"/>
                          <a:cs typeface="Arial"/>
                        </a:rPr>
                        <a:t>Combined fund performance</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No costed consolidated return history yet</a:t>
                      </a:r>
                    </a:p>
                    <a:p>
                      <a:r>
                        <a:rPr sz="1875" b="0">
                          <a:solidFill>
                            <a:srgbClr val="162A3A"/>
                          </a:solidFill>
                          <a:latin typeface="Arial"/>
                          <a:ea typeface="Arial"/>
                          <a:cs typeface="Arial"/>
                        </a:rPr>
                        <a:t>Initial USD 5m account is supplied capital</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95325">
                <a:tc>
                  <a:txBody>
                    <a:bodyPr>
                      <a:noAutofit/>
                    </a:bodyPr>
                    <a:lstStyle/>
                    <a:p>
                      <a:r>
                        <a:rPr sz="1875" b="0">
                          <a:solidFill>
                            <a:srgbClr val="162A3A"/>
                          </a:solidFill>
                          <a:latin typeface="Arial"/>
                          <a:ea typeface="Arial"/>
                          <a:cs typeface="Arial"/>
                        </a:rPr>
                        <a:t>October evaluation</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Course window: 1–23 October 2026</a:t>
                      </a:r>
                    </a:p>
                    <a:p>
                      <a:r>
                        <a:rPr sz="1875" b="0">
                          <a:solidFill>
                            <a:srgbClr val="162A3A"/>
                          </a:solidFill>
                          <a:latin typeface="Arial"/>
                          <a:ea typeface="Arial"/>
                          <a:cs typeface="Arial"/>
                        </a:rPr>
                        <a:t>Preserve genuine forward records and label replays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Final scorecard: net return, benchmark, Sharpe, drawdown and trading statistics">
            <a:extLst xmlns:a="http://schemas.openxmlformats.org/drawingml/2006/main">
              <a:ext uri="{FF2B5EF4-FFF2-40B4-BE49-F238E27FC236}">
                <a16:creationId xmlns:a16="http://schemas.microsoft.com/office/drawing/2014/main" id="{E397AB75-6860-428B-9CCA-52405136A14D}"/>
              </a:ext>
            </a:extLst>
          </p:cNvPr>
          <p:cNvSpPr>
            <a:spLocks xmlns:a="http://schemas.openxmlformats.org/drawingml/2006/main" noGrp="1"/>
          </p:cNvSpPr>
          <p:nvPr/>
        </p:nvSpPr>
        <p:spPr>
          <a:xfrm xmlns:a="http://schemas.openxmlformats.org/drawingml/2006/main">
            <a:off x="685800" y="5791200"/>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E8B"/>
                </a:solidFill>
                <a:latin typeface="Arial"/>
                <a:ea typeface="Arial"/>
                <a:cs typeface="Arial"/>
              </a:defRPr>
            </a:defPPr>
            <a:lvl1pPr algn="l">
              <a:defRPr sz="2025" b="1">
                <a:solidFill>
                  <a:srgbClr val="087E8B"/>
                </a:solidFill>
                <a:latin typeface="Arial"/>
                <a:ea typeface="Arial"/>
                <a:cs typeface="Arial"/>
              </a:defRPr>
            </a:lvl1pPr>
            <a:lvl2pPr algn="l">
              <a:defRPr sz="2025" b="1">
                <a:solidFill>
                  <a:srgbClr val="087E8B"/>
                </a:solidFill>
                <a:latin typeface="Arial"/>
                <a:ea typeface="Arial"/>
                <a:cs typeface="Arial"/>
              </a:defRPr>
            </a:lvl2pPr>
            <a:lvl3pPr algn="l">
              <a:defRPr sz="2025" b="1">
                <a:solidFill>
                  <a:srgbClr val="087E8B"/>
                </a:solidFill>
                <a:latin typeface="Arial"/>
                <a:ea typeface="Arial"/>
                <a:cs typeface="Arial"/>
              </a:defRPr>
            </a:lvl3pPr>
            <a:lvl4pPr algn="l">
              <a:defRPr sz="2025" b="1">
                <a:solidFill>
                  <a:srgbClr val="087E8B"/>
                </a:solidFill>
                <a:latin typeface="Arial"/>
                <a:ea typeface="Arial"/>
                <a:cs typeface="Arial"/>
              </a:defRPr>
            </a:lvl4pPr>
            <a:lvl5pPr algn="l">
              <a:defRPr sz="2025" b="1">
                <a:solidFill>
                  <a:srgbClr val="087E8B"/>
                </a:solidFill>
                <a:latin typeface="Arial"/>
                <a:ea typeface="Arial"/>
                <a:cs typeface="Arial"/>
              </a:defRPr>
            </a:lvl5pPr>
            <a:lvl6pPr algn="l">
              <a:defRPr sz="2025" b="1">
                <a:solidFill>
                  <a:srgbClr val="087E8B"/>
                </a:solidFill>
                <a:latin typeface="Arial"/>
                <a:ea typeface="Arial"/>
                <a:cs typeface="Arial"/>
              </a:defRPr>
            </a:lvl6pPr>
            <a:lvl7pPr algn="l">
              <a:defRPr sz="2025" b="1">
                <a:solidFill>
                  <a:srgbClr val="087E8B"/>
                </a:solidFill>
                <a:latin typeface="Arial"/>
                <a:ea typeface="Arial"/>
                <a:cs typeface="Arial"/>
              </a:defRPr>
            </a:lvl7pPr>
            <a:lvl8pPr algn="l">
              <a:defRPr sz="2025" b="1">
                <a:solidFill>
                  <a:srgbClr val="087E8B"/>
                </a:solidFill>
                <a:latin typeface="Arial"/>
                <a:ea typeface="Arial"/>
                <a:cs typeface="Arial"/>
              </a:defRPr>
            </a:lvl8pPr>
            <a:lvl9pPr algn="l">
              <a:defRPr sz="2025" b="1">
                <a:solidFill>
                  <a:srgbClr val="087E8B"/>
                </a:solidFill>
                <a:latin typeface="Arial"/>
                <a:ea typeface="Arial"/>
                <a:cs typeface="Arial"/>
              </a:defRPr>
            </a:lvl9pPr>
          </a:lstStyle>
          <a:p xmlns:a="http://schemas.openxmlformats.org/drawingml/2006/main">
            <a:pPr algn="l">
              <a:defRPr sz="2025" b="1">
                <a:solidFill>
                  <a:srgbClr val="087E8B"/>
                </a:solidFill>
                <a:latin typeface="Arial"/>
                <a:ea typeface="Arial"/>
                <a:cs typeface="Arial"/>
              </a:defRPr>
            </a:pPr>
            <a:r>
              <a:rPr sz="2025" b="1">
                <a:solidFill>
                  <a:srgbClr val="087E8B"/>
                </a:solidFill>
                <a:latin typeface="Arial"/>
                <a:ea typeface="Arial"/>
                <a:cs typeface="Arial"/>
              </a:rPr>
              <a:t>Final scorecard: net return, benchmark, Sharpe, drawdown and trading statistics</a:t>
            </a:r>
          </a:p>
        </p:txBody>
      </p:sp>
    </p:spTree>
    <p:extLst>
      <p:ext uri="{BB962C8B-B14F-4D97-AF65-F5344CB8AC3E}">
        <p14:creationId xmlns:p14="http://schemas.microsoft.com/office/powerpoint/2010/main" val="9314494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he hosted investor demonstration">
            <a:extLst xmlns:a="http://schemas.openxmlformats.org/drawingml/2006/main">
              <a:ext uri="{FF2B5EF4-FFF2-40B4-BE49-F238E27FC236}">
                <a16:creationId xmlns:a16="http://schemas.microsoft.com/office/drawing/2014/main" id="{E2456EA0-BE49-4E0A-BC2A-0818700480E8}"/>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The hosted investor demonstration</a:t>
            </a:r>
          </a:p>
        </p:txBody>
      </p:sp>
      <p:sp>
        <p:nvSpPr>
          <p:cNvPr id="2" name="One small application is enough for the first version">
            <a:extLst xmlns:a="http://schemas.openxmlformats.org/drawingml/2006/main">
              <a:ext uri="{FF2B5EF4-FFF2-40B4-BE49-F238E27FC236}">
                <a16:creationId xmlns:a16="http://schemas.microsoft.com/office/drawing/2014/main" id="{BC0F527A-AB71-4A0C-A9F2-0C5B2EEEB245}"/>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One small application is enough for the first version</a:t>
            </a:r>
          </a:p>
        </p:txBody>
      </p:sp>
      <p:sp>
        <p:nvSpPr>
          <p:cNvPr id="3" name="12">
            <a:extLst xmlns:a="http://schemas.openxmlformats.org/drawingml/2006/main">
              <a:ext uri="{FF2B5EF4-FFF2-40B4-BE49-F238E27FC236}">
                <a16:creationId xmlns:a16="http://schemas.microsoft.com/office/drawing/2014/main" id="{3BA341BD-FD03-4909-93A1-3BAF971C8334}"/>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12</a:t>
            </a:r>
          </a:p>
        </p:txBody>
      </p:sp>
      <p:sp>
        <p:nvSpPr>
          <p:cNvPr id="4" name="Investor view">
            <a:extLst xmlns:a="http://schemas.openxmlformats.org/drawingml/2006/main">
              <a:ext uri="{FF2B5EF4-FFF2-40B4-BE49-F238E27FC236}">
                <a16:creationId xmlns:a16="http://schemas.microsoft.com/office/drawing/2014/main" id="{08269749-3776-4615-B3A6-DDB3F8BCFF57}"/>
              </a:ext>
            </a:extLst>
          </p:cNvPr>
          <p:cNvSpPr>
            <a:spLocks xmlns:a="http://schemas.openxmlformats.org/drawingml/2006/main" noGrp="1"/>
          </p:cNvSpPr>
          <p:nvPr/>
        </p:nvSpPr>
        <p:spPr>
          <a:xfrm xmlns:a="http://schemas.openxmlformats.org/drawingml/2006/main">
            <a:off x="685800" y="200977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A3A"/>
                </a:solidFill>
                <a:latin typeface="Arial"/>
                <a:ea typeface="Arial"/>
                <a:cs typeface="Arial"/>
              </a:defRPr>
            </a:defPPr>
            <a:lvl1pPr algn="l">
              <a:defRPr sz="2325" b="1">
                <a:solidFill>
                  <a:srgbClr val="162A3A"/>
                </a:solidFill>
                <a:latin typeface="Arial"/>
                <a:ea typeface="Arial"/>
                <a:cs typeface="Arial"/>
              </a:defRPr>
            </a:lvl1pPr>
            <a:lvl2pPr algn="l">
              <a:defRPr sz="2325" b="1">
                <a:solidFill>
                  <a:srgbClr val="162A3A"/>
                </a:solidFill>
                <a:latin typeface="Arial"/>
                <a:ea typeface="Arial"/>
                <a:cs typeface="Arial"/>
              </a:defRPr>
            </a:lvl2pPr>
            <a:lvl3pPr algn="l">
              <a:defRPr sz="2325" b="1">
                <a:solidFill>
                  <a:srgbClr val="162A3A"/>
                </a:solidFill>
                <a:latin typeface="Arial"/>
                <a:ea typeface="Arial"/>
                <a:cs typeface="Arial"/>
              </a:defRPr>
            </a:lvl3pPr>
            <a:lvl4pPr algn="l">
              <a:defRPr sz="2325" b="1">
                <a:solidFill>
                  <a:srgbClr val="162A3A"/>
                </a:solidFill>
                <a:latin typeface="Arial"/>
                <a:ea typeface="Arial"/>
                <a:cs typeface="Arial"/>
              </a:defRPr>
            </a:lvl4pPr>
            <a:lvl5pPr algn="l">
              <a:defRPr sz="2325" b="1">
                <a:solidFill>
                  <a:srgbClr val="162A3A"/>
                </a:solidFill>
                <a:latin typeface="Arial"/>
                <a:ea typeface="Arial"/>
                <a:cs typeface="Arial"/>
              </a:defRPr>
            </a:lvl5pPr>
            <a:lvl6pPr algn="l">
              <a:defRPr sz="2325" b="1">
                <a:solidFill>
                  <a:srgbClr val="162A3A"/>
                </a:solidFill>
                <a:latin typeface="Arial"/>
                <a:ea typeface="Arial"/>
                <a:cs typeface="Arial"/>
              </a:defRPr>
            </a:lvl6pPr>
            <a:lvl7pPr algn="l">
              <a:defRPr sz="2325" b="1">
                <a:solidFill>
                  <a:srgbClr val="162A3A"/>
                </a:solidFill>
                <a:latin typeface="Arial"/>
                <a:ea typeface="Arial"/>
                <a:cs typeface="Arial"/>
              </a:defRPr>
            </a:lvl7pPr>
            <a:lvl8pPr algn="l">
              <a:defRPr sz="2325" b="1">
                <a:solidFill>
                  <a:srgbClr val="162A3A"/>
                </a:solidFill>
                <a:latin typeface="Arial"/>
                <a:ea typeface="Arial"/>
                <a:cs typeface="Arial"/>
              </a:defRPr>
            </a:lvl8pPr>
            <a:lvl9pPr algn="l">
              <a:defRPr sz="2325" b="1">
                <a:solidFill>
                  <a:srgbClr val="162A3A"/>
                </a:solidFill>
                <a:latin typeface="Arial"/>
                <a:ea typeface="Arial"/>
                <a:cs typeface="Arial"/>
              </a:defRPr>
            </a:lvl9pPr>
          </a:lstStyle>
          <a:p xmlns:a="http://schemas.openxmlformats.org/drawingml/2006/main">
            <a:pPr algn="l">
              <a:defRPr sz="2325" b="1">
                <a:solidFill>
                  <a:srgbClr val="162A3A"/>
                </a:solidFill>
                <a:latin typeface="Arial"/>
                <a:ea typeface="Arial"/>
                <a:cs typeface="Arial"/>
              </a:defRPr>
            </a:pPr>
            <a:r>
              <a:rPr sz="2325" b="1">
                <a:solidFill>
                  <a:srgbClr val="162A3A"/>
                </a:solidFill>
                <a:latin typeface="Arial"/>
                <a:ea typeface="Arial"/>
                <a:cs typeface="Arial"/>
              </a:rPr>
              <a:t>Investor view</a:t>
            </a:r>
          </a:p>
        </p:txBody>
      </p:sp>
      <p:sp>
        <p:nvSpPr>
          <p:cNvPr id="5" name="">
            <a:extLst xmlns:a="http://schemas.openxmlformats.org/drawingml/2006/main">
              <a:ext uri="{FF2B5EF4-FFF2-40B4-BE49-F238E27FC236}">
                <a16:creationId xmlns:a16="http://schemas.microsoft.com/office/drawing/2014/main" id="{3B425123-2990-4144-9D89-778C481EEF81}"/>
              </a:ext>
            </a:extLst>
          </p:cNvPr>
          <p:cNvSpPr>
            <a:spLocks xmlns:a="http://schemas.openxmlformats.org/drawingml/2006/main" noGrp="1"/>
          </p:cNvSpPr>
          <p:nvPr/>
        </p:nvSpPr>
        <p:spPr>
          <a:xfrm xmlns:a="http://schemas.openxmlformats.org/drawingml/2006/main">
            <a:off x="685800" y="2657475"/>
            <a:ext cx="5048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A3A"/>
                </a:solidFill>
                <a:latin typeface="Arial"/>
                <a:ea typeface="Arial"/>
                <a:cs typeface="Arial"/>
              </a:defRPr>
            </a:defPPr>
            <a:lvl1pPr algn="l">
              <a:defRPr sz="2025" b="0">
                <a:solidFill>
                  <a:srgbClr val="162A3A"/>
                </a:solidFill>
                <a:latin typeface="Arial"/>
                <a:ea typeface="Arial"/>
                <a:cs typeface="Arial"/>
              </a:defRPr>
            </a:lvl1pPr>
            <a:lvl2pPr algn="l">
              <a:defRPr sz="2025" b="0">
                <a:solidFill>
                  <a:srgbClr val="162A3A"/>
                </a:solidFill>
                <a:latin typeface="Arial"/>
                <a:ea typeface="Arial"/>
                <a:cs typeface="Arial"/>
              </a:defRPr>
            </a:lvl2pPr>
            <a:lvl3pPr algn="l">
              <a:defRPr sz="2025" b="0">
                <a:solidFill>
                  <a:srgbClr val="162A3A"/>
                </a:solidFill>
                <a:latin typeface="Arial"/>
                <a:ea typeface="Arial"/>
                <a:cs typeface="Arial"/>
              </a:defRPr>
            </a:lvl3pPr>
            <a:lvl4pPr algn="l">
              <a:defRPr sz="2025" b="0">
                <a:solidFill>
                  <a:srgbClr val="162A3A"/>
                </a:solidFill>
                <a:latin typeface="Arial"/>
                <a:ea typeface="Arial"/>
                <a:cs typeface="Arial"/>
              </a:defRPr>
            </a:lvl4pPr>
            <a:lvl5pPr algn="l">
              <a:defRPr sz="2025" b="0">
                <a:solidFill>
                  <a:srgbClr val="162A3A"/>
                </a:solidFill>
                <a:latin typeface="Arial"/>
                <a:ea typeface="Arial"/>
                <a:cs typeface="Arial"/>
              </a:defRPr>
            </a:lvl5pPr>
            <a:lvl6pPr algn="l">
              <a:defRPr sz="2025" b="0">
                <a:solidFill>
                  <a:srgbClr val="162A3A"/>
                </a:solidFill>
                <a:latin typeface="Arial"/>
                <a:ea typeface="Arial"/>
                <a:cs typeface="Arial"/>
              </a:defRPr>
            </a:lvl6pPr>
            <a:lvl7pPr algn="l">
              <a:defRPr sz="2025" b="0">
                <a:solidFill>
                  <a:srgbClr val="162A3A"/>
                </a:solidFill>
                <a:latin typeface="Arial"/>
                <a:ea typeface="Arial"/>
                <a:cs typeface="Arial"/>
              </a:defRPr>
            </a:lvl7pPr>
            <a:lvl8pPr algn="l">
              <a:defRPr sz="2025" b="0">
                <a:solidFill>
                  <a:srgbClr val="162A3A"/>
                </a:solidFill>
                <a:latin typeface="Arial"/>
                <a:ea typeface="Arial"/>
                <a:cs typeface="Arial"/>
              </a:defRPr>
            </a:lvl8pPr>
            <a:lvl9pPr algn="l">
              <a:defRPr sz="2025" b="0">
                <a:solidFill>
                  <a:srgbClr val="162A3A"/>
                </a:solidFill>
                <a:latin typeface="Arial"/>
                <a:ea typeface="Arial"/>
                <a:cs typeface="Arial"/>
              </a:defRPr>
            </a:lvl9pPr>
          </a:lstStyle>
          <a:p xmlns:a="http://schemas.openxmlformats.org/drawingml/2006/main">
            <a:pPr marL="228600" indent="-114300" algn="l">
              <a:spcAft>
                <a:spcPts val="1300"/>
              </a:spcAft>
              <a:buChar char="•"/>
              <a:defRPr sz="2025" b="0">
                <a:solidFill>
                  <a:srgbClr val="162A3A"/>
                </a:solidFill>
                <a:latin typeface="Arial"/>
                <a:ea typeface="Arial"/>
                <a:cs typeface="Arial"/>
              </a:defRPr>
            </a:pPr>
            <a:r>
              <a:t>Fund NAV and each PM’s contribution</a:t>
            </a:r>
          </a:p>
          <a:p xmlns:a="http://schemas.openxmlformats.org/drawingml/2006/main">
            <a:pPr marL="228600" indent="-114300" algn="l">
              <a:spcAft>
                <a:spcPts val="1300"/>
              </a:spcAft>
              <a:buChar char="•"/>
              <a:defRPr sz="2025" b="0">
                <a:solidFill>
                  <a:srgbClr val="162A3A"/>
                </a:solidFill>
                <a:latin typeface="Arial"/>
                <a:ea typeface="Arial"/>
                <a:cs typeface="Arial"/>
              </a:defRPr>
            </a:pPr>
            <a:r>
              <a:t>Current holdings and capital mandates</a:t>
            </a:r>
          </a:p>
          <a:p xmlns:a="http://schemas.openxmlformats.org/drawingml/2006/main">
            <a:pPr marL="228600" indent="-114300" algn="l">
              <a:spcAft>
                <a:spcPts val="1300"/>
              </a:spcAft>
              <a:buChar char="•"/>
              <a:defRPr sz="2025" b="0">
                <a:solidFill>
                  <a:srgbClr val="162A3A"/>
                </a:solidFill>
                <a:latin typeface="Arial"/>
                <a:ea typeface="Arial"/>
                <a:cs typeface="Arial"/>
              </a:defRPr>
            </a:pPr>
            <a:r>
              <a:t>PM explanations with source diagnostics</a:t>
            </a:r>
          </a:p>
          <a:p xmlns:a="http://schemas.openxmlformats.org/drawingml/2006/main">
            <a:pPr marL="228600" indent="-114300" algn="l">
              <a:spcAft>
                <a:spcPts val="1300"/>
              </a:spcAft>
              <a:buChar char="•"/>
              <a:defRPr sz="2025" b="0">
                <a:solidFill>
                  <a:srgbClr val="162A3A"/>
                </a:solidFill>
                <a:latin typeface="Arial"/>
                <a:ea typeface="Arial"/>
                <a:cs typeface="Arial"/>
              </a:defRPr>
            </a:pPr>
            <a:r>
              <a:t>Committee decisions and risk verdicts</a:t>
            </a:r>
          </a:p>
        </p:txBody>
      </p:sp>
      <p:sp>
        <p:nvSpPr>
          <p:cNvPr id="6" name="Proposed operating setup">
            <a:extLst xmlns:a="http://schemas.openxmlformats.org/drawingml/2006/main">
              <a:ext uri="{FF2B5EF4-FFF2-40B4-BE49-F238E27FC236}">
                <a16:creationId xmlns:a16="http://schemas.microsoft.com/office/drawing/2014/main" id="{0204415F-D097-4BF5-BD3C-6C42EB085188}"/>
              </a:ext>
            </a:extLst>
          </p:cNvPr>
          <p:cNvSpPr>
            <a:spLocks xmlns:a="http://schemas.openxmlformats.org/drawingml/2006/main" noGrp="1"/>
          </p:cNvSpPr>
          <p:nvPr/>
        </p:nvSpPr>
        <p:spPr>
          <a:xfrm xmlns:a="http://schemas.openxmlformats.org/drawingml/2006/main">
            <a:off x="6457950" y="200977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A3A"/>
                </a:solidFill>
                <a:latin typeface="Arial"/>
                <a:ea typeface="Arial"/>
                <a:cs typeface="Arial"/>
              </a:defRPr>
            </a:defPPr>
            <a:lvl1pPr algn="l">
              <a:defRPr sz="2325" b="1">
                <a:solidFill>
                  <a:srgbClr val="162A3A"/>
                </a:solidFill>
                <a:latin typeface="Arial"/>
                <a:ea typeface="Arial"/>
                <a:cs typeface="Arial"/>
              </a:defRPr>
            </a:lvl1pPr>
            <a:lvl2pPr algn="l">
              <a:defRPr sz="2325" b="1">
                <a:solidFill>
                  <a:srgbClr val="162A3A"/>
                </a:solidFill>
                <a:latin typeface="Arial"/>
                <a:ea typeface="Arial"/>
                <a:cs typeface="Arial"/>
              </a:defRPr>
            </a:lvl2pPr>
            <a:lvl3pPr algn="l">
              <a:defRPr sz="2325" b="1">
                <a:solidFill>
                  <a:srgbClr val="162A3A"/>
                </a:solidFill>
                <a:latin typeface="Arial"/>
                <a:ea typeface="Arial"/>
                <a:cs typeface="Arial"/>
              </a:defRPr>
            </a:lvl3pPr>
            <a:lvl4pPr algn="l">
              <a:defRPr sz="2325" b="1">
                <a:solidFill>
                  <a:srgbClr val="162A3A"/>
                </a:solidFill>
                <a:latin typeface="Arial"/>
                <a:ea typeface="Arial"/>
                <a:cs typeface="Arial"/>
              </a:defRPr>
            </a:lvl4pPr>
            <a:lvl5pPr algn="l">
              <a:defRPr sz="2325" b="1">
                <a:solidFill>
                  <a:srgbClr val="162A3A"/>
                </a:solidFill>
                <a:latin typeface="Arial"/>
                <a:ea typeface="Arial"/>
                <a:cs typeface="Arial"/>
              </a:defRPr>
            </a:lvl5pPr>
            <a:lvl6pPr algn="l">
              <a:defRPr sz="2325" b="1">
                <a:solidFill>
                  <a:srgbClr val="162A3A"/>
                </a:solidFill>
                <a:latin typeface="Arial"/>
                <a:ea typeface="Arial"/>
                <a:cs typeface="Arial"/>
              </a:defRPr>
            </a:lvl6pPr>
            <a:lvl7pPr algn="l">
              <a:defRPr sz="2325" b="1">
                <a:solidFill>
                  <a:srgbClr val="162A3A"/>
                </a:solidFill>
                <a:latin typeface="Arial"/>
                <a:ea typeface="Arial"/>
                <a:cs typeface="Arial"/>
              </a:defRPr>
            </a:lvl7pPr>
            <a:lvl8pPr algn="l">
              <a:defRPr sz="2325" b="1">
                <a:solidFill>
                  <a:srgbClr val="162A3A"/>
                </a:solidFill>
                <a:latin typeface="Arial"/>
                <a:ea typeface="Arial"/>
                <a:cs typeface="Arial"/>
              </a:defRPr>
            </a:lvl8pPr>
            <a:lvl9pPr algn="l">
              <a:defRPr sz="2325" b="1">
                <a:solidFill>
                  <a:srgbClr val="162A3A"/>
                </a:solidFill>
                <a:latin typeface="Arial"/>
                <a:ea typeface="Arial"/>
                <a:cs typeface="Arial"/>
              </a:defRPr>
            </a:lvl9pPr>
          </a:lstStyle>
          <a:p xmlns:a="http://schemas.openxmlformats.org/drawingml/2006/main">
            <a:pPr algn="l">
              <a:defRPr sz="2325" b="1">
                <a:solidFill>
                  <a:srgbClr val="162A3A"/>
                </a:solidFill>
                <a:latin typeface="Arial"/>
                <a:ea typeface="Arial"/>
                <a:cs typeface="Arial"/>
              </a:defRPr>
            </a:pPr>
            <a:r>
              <a:rPr sz="2325" b="1">
                <a:solidFill>
                  <a:srgbClr val="162A3A"/>
                </a:solidFill>
                <a:latin typeface="Arial"/>
                <a:ea typeface="Arial"/>
                <a:cs typeface="Arial"/>
              </a:rPr>
              <a:t>Proposed operating setup</a:t>
            </a:r>
          </a:p>
        </p:txBody>
      </p:sp>
      <p:sp>
        <p:nvSpPr>
          <p:cNvPr id="7" name="">
            <a:extLst xmlns:a="http://schemas.openxmlformats.org/drawingml/2006/main">
              <a:ext uri="{FF2B5EF4-FFF2-40B4-BE49-F238E27FC236}">
                <a16:creationId xmlns:a16="http://schemas.microsoft.com/office/drawing/2014/main" id="{28DDAFA1-B5A3-456A-8288-74E007FFECB2}"/>
              </a:ext>
            </a:extLst>
          </p:cNvPr>
          <p:cNvSpPr>
            <a:spLocks xmlns:a="http://schemas.openxmlformats.org/drawingml/2006/main" noGrp="1"/>
          </p:cNvSpPr>
          <p:nvPr/>
        </p:nvSpPr>
        <p:spPr>
          <a:xfrm xmlns:a="http://schemas.openxmlformats.org/drawingml/2006/main">
            <a:off x="6457950" y="2657475"/>
            <a:ext cx="5048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A3A"/>
                </a:solidFill>
                <a:latin typeface="Arial"/>
                <a:ea typeface="Arial"/>
                <a:cs typeface="Arial"/>
              </a:defRPr>
            </a:defPPr>
            <a:lvl1pPr algn="l">
              <a:defRPr sz="2025" b="0">
                <a:solidFill>
                  <a:srgbClr val="162A3A"/>
                </a:solidFill>
                <a:latin typeface="Arial"/>
                <a:ea typeface="Arial"/>
                <a:cs typeface="Arial"/>
              </a:defRPr>
            </a:lvl1pPr>
            <a:lvl2pPr algn="l">
              <a:defRPr sz="2025" b="0">
                <a:solidFill>
                  <a:srgbClr val="162A3A"/>
                </a:solidFill>
                <a:latin typeface="Arial"/>
                <a:ea typeface="Arial"/>
                <a:cs typeface="Arial"/>
              </a:defRPr>
            </a:lvl2pPr>
            <a:lvl3pPr algn="l">
              <a:defRPr sz="2025" b="0">
                <a:solidFill>
                  <a:srgbClr val="162A3A"/>
                </a:solidFill>
                <a:latin typeface="Arial"/>
                <a:ea typeface="Arial"/>
                <a:cs typeface="Arial"/>
              </a:defRPr>
            </a:lvl3pPr>
            <a:lvl4pPr algn="l">
              <a:defRPr sz="2025" b="0">
                <a:solidFill>
                  <a:srgbClr val="162A3A"/>
                </a:solidFill>
                <a:latin typeface="Arial"/>
                <a:ea typeface="Arial"/>
                <a:cs typeface="Arial"/>
              </a:defRPr>
            </a:lvl4pPr>
            <a:lvl5pPr algn="l">
              <a:defRPr sz="2025" b="0">
                <a:solidFill>
                  <a:srgbClr val="162A3A"/>
                </a:solidFill>
                <a:latin typeface="Arial"/>
                <a:ea typeface="Arial"/>
                <a:cs typeface="Arial"/>
              </a:defRPr>
            </a:lvl5pPr>
            <a:lvl6pPr algn="l">
              <a:defRPr sz="2025" b="0">
                <a:solidFill>
                  <a:srgbClr val="162A3A"/>
                </a:solidFill>
                <a:latin typeface="Arial"/>
                <a:ea typeface="Arial"/>
                <a:cs typeface="Arial"/>
              </a:defRPr>
            </a:lvl6pPr>
            <a:lvl7pPr algn="l">
              <a:defRPr sz="2025" b="0">
                <a:solidFill>
                  <a:srgbClr val="162A3A"/>
                </a:solidFill>
                <a:latin typeface="Arial"/>
                <a:ea typeface="Arial"/>
                <a:cs typeface="Arial"/>
              </a:defRPr>
            </a:lvl7pPr>
            <a:lvl8pPr algn="l">
              <a:defRPr sz="2025" b="0">
                <a:solidFill>
                  <a:srgbClr val="162A3A"/>
                </a:solidFill>
                <a:latin typeface="Arial"/>
                <a:ea typeface="Arial"/>
                <a:cs typeface="Arial"/>
              </a:defRPr>
            </a:lvl8pPr>
            <a:lvl9pPr algn="l">
              <a:defRPr sz="2025" b="0">
                <a:solidFill>
                  <a:srgbClr val="162A3A"/>
                </a:solidFill>
                <a:latin typeface="Arial"/>
                <a:ea typeface="Arial"/>
                <a:cs typeface="Arial"/>
              </a:defRPr>
            </a:lvl9pPr>
          </a:lstStyle>
          <a:p xmlns:a="http://schemas.openxmlformats.org/drawingml/2006/main">
            <a:pPr marL="228600" indent="-114300" algn="l">
              <a:spcAft>
                <a:spcPts val="1300"/>
              </a:spcAft>
              <a:buChar char="•"/>
              <a:defRPr sz="2025" b="0">
                <a:solidFill>
                  <a:srgbClr val="162A3A"/>
                </a:solidFill>
                <a:latin typeface="Arial"/>
                <a:ea typeface="Arial"/>
                <a:cs typeface="Arial"/>
              </a:defRPr>
            </a:pPr>
            <a:r>
              <a:t>One Streamlit dashboard</a:t>
            </a:r>
          </a:p>
          <a:p xmlns:a="http://schemas.openxmlformats.org/drawingml/2006/main">
            <a:pPr marL="228600" indent="-114300" algn="l">
              <a:spcAft>
                <a:spcPts val="1300"/>
              </a:spcAft>
              <a:buChar char="•"/>
              <a:defRPr sz="2025" b="0">
                <a:solidFill>
                  <a:srgbClr val="162A3A"/>
                </a:solidFill>
                <a:latin typeface="Arial"/>
                <a:ea typeface="Arial"/>
                <a:cs typeface="Arial"/>
              </a:defRPr>
            </a:pPr>
            <a:r>
              <a:t>Python runner on a daily schedule</a:t>
            </a:r>
          </a:p>
          <a:p xmlns:a="http://schemas.openxmlformats.org/drawingml/2006/main">
            <a:pPr marL="228600" indent="-114300" algn="l">
              <a:spcAft>
                <a:spcPts val="1300"/>
              </a:spcAft>
              <a:buChar char="•"/>
              <a:defRPr sz="2025" b="0">
                <a:solidFill>
                  <a:srgbClr val="162A3A"/>
                </a:solidFill>
                <a:latin typeface="Arial"/>
                <a:ea typeface="Arial"/>
                <a:cs typeface="Arial"/>
              </a:defRPr>
            </a:pPr>
            <a:r>
              <a:t>SQLite on persistent storage</a:t>
            </a:r>
          </a:p>
          <a:p xmlns:a="http://schemas.openxmlformats.org/drawingml/2006/main">
            <a:pPr marL="228600" indent="-114300" algn="l">
              <a:spcAft>
                <a:spcPts val="1300"/>
              </a:spcAft>
              <a:buChar char="•"/>
              <a:defRPr sz="2025" b="0">
                <a:solidFill>
                  <a:srgbClr val="162A3A"/>
                </a:solidFill>
                <a:latin typeface="Arial"/>
                <a:ea typeface="Arial"/>
                <a:cs typeface="Arial"/>
              </a:defRPr>
            </a:pPr>
            <a:r>
              <a:t>Server-side credentials and a saved run history</a:t>
            </a:r>
          </a:p>
        </p:txBody>
      </p:sp>
      <p:sp>
        <p:nvSpPr>
          <p:cNvPr id="8" name="Class demo: one saved day, actual inputs, PM proposals, risk decision and receip">
            <a:extLst xmlns:a="http://schemas.openxmlformats.org/drawingml/2006/main">
              <a:ext uri="{FF2B5EF4-FFF2-40B4-BE49-F238E27FC236}">
                <a16:creationId xmlns:a16="http://schemas.microsoft.com/office/drawing/2014/main" id="{30200FCB-32BE-4A20-9539-26B586F51224}"/>
              </a:ext>
            </a:extLst>
          </p:cNvPr>
          <p:cNvSpPr>
            <a:spLocks xmlns:a="http://schemas.openxmlformats.org/drawingml/2006/main" noGrp="1"/>
          </p:cNvSpPr>
          <p:nvPr/>
        </p:nvSpPr>
        <p:spPr>
          <a:xfrm xmlns:a="http://schemas.openxmlformats.org/drawingml/2006/main">
            <a:off x="685800" y="57912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E8B"/>
                </a:solidFill>
                <a:latin typeface="Arial"/>
                <a:ea typeface="Arial"/>
                <a:cs typeface="Arial"/>
              </a:defRPr>
            </a:defPPr>
            <a:lvl1pPr algn="l">
              <a:defRPr sz="1950" b="1">
                <a:solidFill>
                  <a:srgbClr val="087E8B"/>
                </a:solidFill>
                <a:latin typeface="Arial"/>
                <a:ea typeface="Arial"/>
                <a:cs typeface="Arial"/>
              </a:defRPr>
            </a:lvl1pPr>
            <a:lvl2pPr algn="l">
              <a:defRPr sz="1950" b="1">
                <a:solidFill>
                  <a:srgbClr val="087E8B"/>
                </a:solidFill>
                <a:latin typeface="Arial"/>
                <a:ea typeface="Arial"/>
                <a:cs typeface="Arial"/>
              </a:defRPr>
            </a:lvl2pPr>
            <a:lvl3pPr algn="l">
              <a:defRPr sz="1950" b="1">
                <a:solidFill>
                  <a:srgbClr val="087E8B"/>
                </a:solidFill>
                <a:latin typeface="Arial"/>
                <a:ea typeface="Arial"/>
                <a:cs typeface="Arial"/>
              </a:defRPr>
            </a:lvl3pPr>
            <a:lvl4pPr algn="l">
              <a:defRPr sz="1950" b="1">
                <a:solidFill>
                  <a:srgbClr val="087E8B"/>
                </a:solidFill>
                <a:latin typeface="Arial"/>
                <a:ea typeface="Arial"/>
                <a:cs typeface="Arial"/>
              </a:defRPr>
            </a:lvl4pPr>
            <a:lvl5pPr algn="l">
              <a:defRPr sz="1950" b="1">
                <a:solidFill>
                  <a:srgbClr val="087E8B"/>
                </a:solidFill>
                <a:latin typeface="Arial"/>
                <a:ea typeface="Arial"/>
                <a:cs typeface="Arial"/>
              </a:defRPr>
            </a:lvl5pPr>
            <a:lvl6pPr algn="l">
              <a:defRPr sz="1950" b="1">
                <a:solidFill>
                  <a:srgbClr val="087E8B"/>
                </a:solidFill>
                <a:latin typeface="Arial"/>
                <a:ea typeface="Arial"/>
                <a:cs typeface="Arial"/>
              </a:defRPr>
            </a:lvl6pPr>
            <a:lvl7pPr algn="l">
              <a:defRPr sz="1950" b="1">
                <a:solidFill>
                  <a:srgbClr val="087E8B"/>
                </a:solidFill>
                <a:latin typeface="Arial"/>
                <a:ea typeface="Arial"/>
                <a:cs typeface="Arial"/>
              </a:defRPr>
            </a:lvl7pPr>
            <a:lvl8pPr algn="l">
              <a:defRPr sz="1950" b="1">
                <a:solidFill>
                  <a:srgbClr val="087E8B"/>
                </a:solidFill>
                <a:latin typeface="Arial"/>
                <a:ea typeface="Arial"/>
                <a:cs typeface="Arial"/>
              </a:defRPr>
            </a:lvl8pPr>
            <a:lvl9pPr algn="l">
              <a:defRPr sz="1950" b="1">
                <a:solidFill>
                  <a:srgbClr val="087E8B"/>
                </a:solidFill>
                <a:latin typeface="Arial"/>
                <a:ea typeface="Arial"/>
                <a:cs typeface="Arial"/>
              </a:defRPr>
            </a:lvl9pPr>
          </a:lstStyle>
          <a:p xmlns:a="http://schemas.openxmlformats.org/drawingml/2006/main">
            <a:pPr algn="l">
              <a:defRPr sz="1950" b="1">
                <a:solidFill>
                  <a:srgbClr val="087E8B"/>
                </a:solidFill>
                <a:latin typeface="Arial"/>
                <a:ea typeface="Arial"/>
                <a:cs typeface="Arial"/>
              </a:defRPr>
            </a:pPr>
            <a:r>
              <a:rPr sz="1950" b="1">
                <a:solidFill>
                  <a:srgbClr val="087E8B"/>
                </a:solidFill>
                <a:latin typeface="Arial"/>
                <a:ea typeface="Arial"/>
                <a:cs typeface="Arial"/>
              </a:rPr>
              <a:t>Class demo: one saved day, actual inputs, PM proposals, risk decision and receipts</a:t>
            </a:r>
          </a:p>
        </p:txBody>
      </p:sp>
    </p:spTree>
    <p:extLst>
      <p:ext uri="{BB962C8B-B14F-4D97-AF65-F5344CB8AC3E}">
        <p14:creationId xmlns:p14="http://schemas.microsoft.com/office/powerpoint/2010/main" val="17686229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ubmission and team accountability">
            <a:extLst xmlns:a="http://schemas.openxmlformats.org/drawingml/2006/main">
              <a:ext uri="{FF2B5EF4-FFF2-40B4-BE49-F238E27FC236}">
                <a16:creationId xmlns:a16="http://schemas.microsoft.com/office/drawing/2014/main" id="{69BA278D-322B-4759-A035-3A7A01151C59}"/>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Submission and team accountability</a:t>
            </a:r>
          </a:p>
        </p:txBody>
      </p:sp>
      <p:sp>
        <p:nvSpPr>
          <p:cNvPr id="2" name="Saturday, 24 October 2026, according to the new course announcement">
            <a:extLst xmlns:a="http://schemas.openxmlformats.org/drawingml/2006/main">
              <a:ext uri="{FF2B5EF4-FFF2-40B4-BE49-F238E27FC236}">
                <a16:creationId xmlns:a16="http://schemas.microsoft.com/office/drawing/2014/main" id="{5AA35180-DBC8-4C72-B3BC-5D0E4EEE50C4}"/>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Saturday, 24 October 2026, according to the new course announcement</a:t>
            </a:r>
          </a:p>
        </p:txBody>
      </p:sp>
      <p:sp>
        <p:nvSpPr>
          <p:cNvPr id="3" name="13">
            <a:extLst xmlns:a="http://schemas.openxmlformats.org/drawingml/2006/main">
              <a:ext uri="{FF2B5EF4-FFF2-40B4-BE49-F238E27FC236}">
                <a16:creationId xmlns:a16="http://schemas.microsoft.com/office/drawing/2014/main" id="{AB04E904-54EB-442E-B54E-916C4271FC54}"/>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13</a:t>
            </a:r>
          </a:p>
        </p:txBody>
      </p:sp>
      <p:sp>
        <p:nvSpPr>
          <p:cNvPr id="4" name="Required Canvas ZIP">
            <a:extLst xmlns:a="http://schemas.openxmlformats.org/drawingml/2006/main">
              <a:ext uri="{FF2B5EF4-FFF2-40B4-BE49-F238E27FC236}">
                <a16:creationId xmlns:a16="http://schemas.microsoft.com/office/drawing/2014/main" id="{A95902F7-63AA-476B-A0FE-8728EFF209F9}"/>
              </a:ext>
            </a:extLst>
          </p:cNvPr>
          <p:cNvSpPr>
            <a:spLocks xmlns:a="http://schemas.openxmlformats.org/drawingml/2006/main" noGrp="1"/>
          </p:cNvSpPr>
          <p:nvPr/>
        </p:nvSpPr>
        <p:spPr>
          <a:xfrm xmlns:a="http://schemas.openxmlformats.org/drawingml/2006/main">
            <a:off x="685800" y="20002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A3A"/>
                </a:solidFill>
                <a:latin typeface="Arial"/>
                <a:ea typeface="Arial"/>
                <a:cs typeface="Arial"/>
              </a:defRPr>
            </a:defPPr>
            <a:lvl1pPr algn="l">
              <a:defRPr sz="2325" b="1">
                <a:solidFill>
                  <a:srgbClr val="162A3A"/>
                </a:solidFill>
                <a:latin typeface="Arial"/>
                <a:ea typeface="Arial"/>
                <a:cs typeface="Arial"/>
              </a:defRPr>
            </a:lvl1pPr>
            <a:lvl2pPr algn="l">
              <a:defRPr sz="2325" b="1">
                <a:solidFill>
                  <a:srgbClr val="162A3A"/>
                </a:solidFill>
                <a:latin typeface="Arial"/>
                <a:ea typeface="Arial"/>
                <a:cs typeface="Arial"/>
              </a:defRPr>
            </a:lvl2pPr>
            <a:lvl3pPr algn="l">
              <a:defRPr sz="2325" b="1">
                <a:solidFill>
                  <a:srgbClr val="162A3A"/>
                </a:solidFill>
                <a:latin typeface="Arial"/>
                <a:ea typeface="Arial"/>
                <a:cs typeface="Arial"/>
              </a:defRPr>
            </a:lvl3pPr>
            <a:lvl4pPr algn="l">
              <a:defRPr sz="2325" b="1">
                <a:solidFill>
                  <a:srgbClr val="162A3A"/>
                </a:solidFill>
                <a:latin typeface="Arial"/>
                <a:ea typeface="Arial"/>
                <a:cs typeface="Arial"/>
              </a:defRPr>
            </a:lvl4pPr>
            <a:lvl5pPr algn="l">
              <a:defRPr sz="2325" b="1">
                <a:solidFill>
                  <a:srgbClr val="162A3A"/>
                </a:solidFill>
                <a:latin typeface="Arial"/>
                <a:ea typeface="Arial"/>
                <a:cs typeface="Arial"/>
              </a:defRPr>
            </a:lvl5pPr>
            <a:lvl6pPr algn="l">
              <a:defRPr sz="2325" b="1">
                <a:solidFill>
                  <a:srgbClr val="162A3A"/>
                </a:solidFill>
                <a:latin typeface="Arial"/>
                <a:ea typeface="Arial"/>
                <a:cs typeface="Arial"/>
              </a:defRPr>
            </a:lvl6pPr>
            <a:lvl7pPr algn="l">
              <a:defRPr sz="2325" b="1">
                <a:solidFill>
                  <a:srgbClr val="162A3A"/>
                </a:solidFill>
                <a:latin typeface="Arial"/>
                <a:ea typeface="Arial"/>
                <a:cs typeface="Arial"/>
              </a:defRPr>
            </a:lvl7pPr>
            <a:lvl8pPr algn="l">
              <a:defRPr sz="2325" b="1">
                <a:solidFill>
                  <a:srgbClr val="162A3A"/>
                </a:solidFill>
                <a:latin typeface="Arial"/>
                <a:ea typeface="Arial"/>
                <a:cs typeface="Arial"/>
              </a:defRPr>
            </a:lvl8pPr>
            <a:lvl9pPr algn="l">
              <a:defRPr sz="2325" b="1">
                <a:solidFill>
                  <a:srgbClr val="162A3A"/>
                </a:solidFill>
                <a:latin typeface="Arial"/>
                <a:ea typeface="Arial"/>
                <a:cs typeface="Arial"/>
              </a:defRPr>
            </a:lvl9pPr>
          </a:lstStyle>
          <a:p xmlns:a="http://schemas.openxmlformats.org/drawingml/2006/main">
            <a:pPr algn="l">
              <a:defRPr sz="2325" b="1">
                <a:solidFill>
                  <a:srgbClr val="162A3A"/>
                </a:solidFill>
                <a:latin typeface="Arial"/>
                <a:ea typeface="Arial"/>
                <a:cs typeface="Arial"/>
              </a:defRPr>
            </a:pPr>
            <a:r>
              <a:rPr sz="2325" b="1">
                <a:solidFill>
                  <a:srgbClr val="162A3A"/>
                </a:solidFill>
                <a:latin typeface="Arial"/>
                <a:ea typeface="Arial"/>
                <a:cs typeface="Arial"/>
              </a:rPr>
              <a:t>Required Canvas ZIP</a:t>
            </a:r>
          </a:p>
        </p:txBody>
      </p:sp>
      <p:sp>
        <p:nvSpPr>
          <p:cNvPr id="5" name="">
            <a:extLst xmlns:a="http://schemas.openxmlformats.org/drawingml/2006/main">
              <a:ext uri="{FF2B5EF4-FFF2-40B4-BE49-F238E27FC236}">
                <a16:creationId xmlns:a16="http://schemas.microsoft.com/office/drawing/2014/main" id="{C7599FE0-AD71-45F3-9F3F-7BFD8C2B8B50}"/>
              </a:ext>
            </a:extLst>
          </p:cNvPr>
          <p:cNvSpPr>
            <a:spLocks xmlns:a="http://schemas.openxmlformats.org/drawingml/2006/main" noGrp="1"/>
          </p:cNvSpPr>
          <p:nvPr/>
        </p:nvSpPr>
        <p:spPr>
          <a:xfrm xmlns:a="http://schemas.openxmlformats.org/drawingml/2006/main">
            <a:off x="685800" y="2647950"/>
            <a:ext cx="5048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A3A"/>
                </a:solidFill>
                <a:latin typeface="Arial"/>
                <a:ea typeface="Arial"/>
                <a:cs typeface="Arial"/>
              </a:defRPr>
            </a:defPPr>
            <a:lvl1pPr algn="l">
              <a:defRPr sz="2025" b="0">
                <a:solidFill>
                  <a:srgbClr val="162A3A"/>
                </a:solidFill>
                <a:latin typeface="Arial"/>
                <a:ea typeface="Arial"/>
                <a:cs typeface="Arial"/>
              </a:defRPr>
            </a:lvl1pPr>
            <a:lvl2pPr algn="l">
              <a:defRPr sz="2025" b="0">
                <a:solidFill>
                  <a:srgbClr val="162A3A"/>
                </a:solidFill>
                <a:latin typeface="Arial"/>
                <a:ea typeface="Arial"/>
                <a:cs typeface="Arial"/>
              </a:defRPr>
            </a:lvl2pPr>
            <a:lvl3pPr algn="l">
              <a:defRPr sz="2025" b="0">
                <a:solidFill>
                  <a:srgbClr val="162A3A"/>
                </a:solidFill>
                <a:latin typeface="Arial"/>
                <a:ea typeface="Arial"/>
                <a:cs typeface="Arial"/>
              </a:defRPr>
            </a:lvl3pPr>
            <a:lvl4pPr algn="l">
              <a:defRPr sz="2025" b="0">
                <a:solidFill>
                  <a:srgbClr val="162A3A"/>
                </a:solidFill>
                <a:latin typeface="Arial"/>
                <a:ea typeface="Arial"/>
                <a:cs typeface="Arial"/>
              </a:defRPr>
            </a:lvl4pPr>
            <a:lvl5pPr algn="l">
              <a:defRPr sz="2025" b="0">
                <a:solidFill>
                  <a:srgbClr val="162A3A"/>
                </a:solidFill>
                <a:latin typeface="Arial"/>
                <a:ea typeface="Arial"/>
                <a:cs typeface="Arial"/>
              </a:defRPr>
            </a:lvl5pPr>
            <a:lvl6pPr algn="l">
              <a:defRPr sz="2025" b="0">
                <a:solidFill>
                  <a:srgbClr val="162A3A"/>
                </a:solidFill>
                <a:latin typeface="Arial"/>
                <a:ea typeface="Arial"/>
                <a:cs typeface="Arial"/>
              </a:defRPr>
            </a:lvl6pPr>
            <a:lvl7pPr algn="l">
              <a:defRPr sz="2025" b="0">
                <a:solidFill>
                  <a:srgbClr val="162A3A"/>
                </a:solidFill>
                <a:latin typeface="Arial"/>
                <a:ea typeface="Arial"/>
                <a:cs typeface="Arial"/>
              </a:defRPr>
            </a:lvl7pPr>
            <a:lvl8pPr algn="l">
              <a:defRPr sz="2025" b="0">
                <a:solidFill>
                  <a:srgbClr val="162A3A"/>
                </a:solidFill>
                <a:latin typeface="Arial"/>
                <a:ea typeface="Arial"/>
                <a:cs typeface="Arial"/>
              </a:defRPr>
            </a:lvl8pPr>
            <a:lvl9pPr algn="l">
              <a:defRPr sz="2025" b="0">
                <a:solidFill>
                  <a:srgbClr val="162A3A"/>
                </a:solidFill>
                <a:latin typeface="Arial"/>
                <a:ea typeface="Arial"/>
                <a:cs typeface="Arial"/>
              </a:defRPr>
            </a:lvl9pPr>
          </a:lstStyle>
          <a:p xmlns:a="http://schemas.openxmlformats.org/drawingml/2006/main">
            <a:pPr marL="228600" indent="-114300" algn="l">
              <a:spcAft>
                <a:spcPts val="1300"/>
              </a:spcAft>
              <a:buChar char="•"/>
              <a:defRPr sz="2025" b="0">
                <a:solidFill>
                  <a:srgbClr val="162A3A"/>
                </a:solidFill>
                <a:latin typeface="Arial"/>
                <a:ea typeface="Arial"/>
                <a:cs typeface="Arial"/>
              </a:defRPr>
            </a:pPr>
            <a:r>
              <a:t>Editable presentation slides</a:t>
            </a:r>
          </a:p>
          <a:p xmlns:a="http://schemas.openxmlformats.org/drawingml/2006/main">
            <a:pPr marL="228600" indent="-114300" algn="l">
              <a:spcAft>
                <a:spcPts val="1300"/>
              </a:spcAft>
              <a:buChar char="•"/>
              <a:defRPr sz="2025" b="0">
                <a:solidFill>
                  <a:srgbClr val="162A3A"/>
                </a:solidFill>
                <a:latin typeface="Arial"/>
                <a:ea typeface="Arial"/>
                <a:cs typeface="Arial"/>
              </a:defRPr>
            </a:pPr>
            <a:r>
              <a:t>Supporting data and closing-price CSV</a:t>
            </a:r>
          </a:p>
          <a:p xmlns:a="http://schemas.openxmlformats.org/drawingml/2006/main">
            <a:pPr marL="228600" indent="-114300" algn="l">
              <a:spcAft>
                <a:spcPts val="1300"/>
              </a:spcAft>
              <a:buChar char="•"/>
              <a:defRPr sz="2025" b="0">
                <a:solidFill>
                  <a:srgbClr val="162A3A"/>
                </a:solidFill>
                <a:latin typeface="Arial"/>
                <a:ea typeface="Arial"/>
                <a:cs typeface="Arial"/>
              </a:defRPr>
            </a:pPr>
            <a:r>
              <a:t>Reproducible source code</a:t>
            </a:r>
          </a:p>
          <a:p xmlns:a="http://schemas.openxmlformats.org/drawingml/2006/main">
            <a:pPr marL="228600" indent="-114300" algn="l">
              <a:spcAft>
                <a:spcPts val="1300"/>
              </a:spcAft>
              <a:buChar char="•"/>
              <a:defRPr sz="2025" b="0">
                <a:solidFill>
                  <a:srgbClr val="162A3A"/>
                </a:solidFill>
                <a:latin typeface="Arial"/>
                <a:ea typeface="Arial"/>
                <a:cs typeface="Arial"/>
              </a:defRPr>
            </a:pPr>
            <a:r>
              <a:t>Named individual contribution statement</a:t>
            </a:r>
          </a:p>
        </p:txBody>
      </p:sp>
      <p:sp>
        <p:nvSpPr>
          <p:cNvPr id="6" name="Required registration sheet">
            <a:extLst xmlns:a="http://schemas.openxmlformats.org/drawingml/2006/main">
              <a:ext uri="{FF2B5EF4-FFF2-40B4-BE49-F238E27FC236}">
                <a16:creationId xmlns:a16="http://schemas.microsoft.com/office/drawing/2014/main" id="{4EEBD0B9-F8E7-4D90-9BA9-08DC9EE68AAE}"/>
              </a:ext>
            </a:extLst>
          </p:cNvPr>
          <p:cNvSpPr>
            <a:spLocks xmlns:a="http://schemas.openxmlformats.org/drawingml/2006/main" noGrp="1"/>
          </p:cNvSpPr>
          <p:nvPr/>
        </p:nvSpPr>
        <p:spPr>
          <a:xfrm xmlns:a="http://schemas.openxmlformats.org/drawingml/2006/main">
            <a:off x="6457950" y="20002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62A3A"/>
                </a:solidFill>
                <a:latin typeface="Arial"/>
                <a:ea typeface="Arial"/>
                <a:cs typeface="Arial"/>
              </a:defRPr>
            </a:defPPr>
            <a:lvl1pPr algn="l">
              <a:defRPr sz="2325" b="1">
                <a:solidFill>
                  <a:srgbClr val="162A3A"/>
                </a:solidFill>
                <a:latin typeface="Arial"/>
                <a:ea typeface="Arial"/>
                <a:cs typeface="Arial"/>
              </a:defRPr>
            </a:lvl1pPr>
            <a:lvl2pPr algn="l">
              <a:defRPr sz="2325" b="1">
                <a:solidFill>
                  <a:srgbClr val="162A3A"/>
                </a:solidFill>
                <a:latin typeface="Arial"/>
                <a:ea typeface="Arial"/>
                <a:cs typeface="Arial"/>
              </a:defRPr>
            </a:lvl2pPr>
            <a:lvl3pPr algn="l">
              <a:defRPr sz="2325" b="1">
                <a:solidFill>
                  <a:srgbClr val="162A3A"/>
                </a:solidFill>
                <a:latin typeface="Arial"/>
                <a:ea typeface="Arial"/>
                <a:cs typeface="Arial"/>
              </a:defRPr>
            </a:lvl3pPr>
            <a:lvl4pPr algn="l">
              <a:defRPr sz="2325" b="1">
                <a:solidFill>
                  <a:srgbClr val="162A3A"/>
                </a:solidFill>
                <a:latin typeface="Arial"/>
                <a:ea typeface="Arial"/>
                <a:cs typeface="Arial"/>
              </a:defRPr>
            </a:lvl4pPr>
            <a:lvl5pPr algn="l">
              <a:defRPr sz="2325" b="1">
                <a:solidFill>
                  <a:srgbClr val="162A3A"/>
                </a:solidFill>
                <a:latin typeface="Arial"/>
                <a:ea typeface="Arial"/>
                <a:cs typeface="Arial"/>
              </a:defRPr>
            </a:lvl5pPr>
            <a:lvl6pPr algn="l">
              <a:defRPr sz="2325" b="1">
                <a:solidFill>
                  <a:srgbClr val="162A3A"/>
                </a:solidFill>
                <a:latin typeface="Arial"/>
                <a:ea typeface="Arial"/>
                <a:cs typeface="Arial"/>
              </a:defRPr>
            </a:lvl6pPr>
            <a:lvl7pPr algn="l">
              <a:defRPr sz="2325" b="1">
                <a:solidFill>
                  <a:srgbClr val="162A3A"/>
                </a:solidFill>
                <a:latin typeface="Arial"/>
                <a:ea typeface="Arial"/>
                <a:cs typeface="Arial"/>
              </a:defRPr>
            </a:lvl7pPr>
            <a:lvl8pPr algn="l">
              <a:defRPr sz="2325" b="1">
                <a:solidFill>
                  <a:srgbClr val="162A3A"/>
                </a:solidFill>
                <a:latin typeface="Arial"/>
                <a:ea typeface="Arial"/>
                <a:cs typeface="Arial"/>
              </a:defRPr>
            </a:lvl8pPr>
            <a:lvl9pPr algn="l">
              <a:defRPr sz="2325" b="1">
                <a:solidFill>
                  <a:srgbClr val="162A3A"/>
                </a:solidFill>
                <a:latin typeface="Arial"/>
                <a:ea typeface="Arial"/>
                <a:cs typeface="Arial"/>
              </a:defRPr>
            </a:lvl9pPr>
          </a:lstStyle>
          <a:p xmlns:a="http://schemas.openxmlformats.org/drawingml/2006/main">
            <a:pPr algn="l">
              <a:defRPr sz="2325" b="1">
                <a:solidFill>
                  <a:srgbClr val="162A3A"/>
                </a:solidFill>
                <a:latin typeface="Arial"/>
                <a:ea typeface="Arial"/>
                <a:cs typeface="Arial"/>
              </a:defRPr>
            </a:pPr>
            <a:r>
              <a:rPr sz="2325" b="1">
                <a:solidFill>
                  <a:srgbClr val="162A3A"/>
                </a:solidFill>
                <a:latin typeface="Arial"/>
                <a:ea typeface="Arial"/>
                <a:cs typeface="Arial"/>
              </a:rPr>
              <a:t>Required registration sheet</a:t>
            </a:r>
          </a:p>
        </p:txBody>
      </p:sp>
      <p:sp>
        <p:nvSpPr>
          <p:cNvPr id="7" name="">
            <a:extLst xmlns:a="http://schemas.openxmlformats.org/drawingml/2006/main">
              <a:ext uri="{FF2B5EF4-FFF2-40B4-BE49-F238E27FC236}">
                <a16:creationId xmlns:a16="http://schemas.microsoft.com/office/drawing/2014/main" id="{A30147A7-5309-4072-BF3A-A4A5C9A4DA05}"/>
              </a:ext>
            </a:extLst>
          </p:cNvPr>
          <p:cNvSpPr>
            <a:spLocks xmlns:a="http://schemas.openxmlformats.org/drawingml/2006/main" noGrp="1"/>
          </p:cNvSpPr>
          <p:nvPr/>
        </p:nvSpPr>
        <p:spPr>
          <a:xfrm xmlns:a="http://schemas.openxmlformats.org/drawingml/2006/main">
            <a:off x="6457950" y="2647950"/>
            <a:ext cx="5048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A3A"/>
                </a:solidFill>
                <a:latin typeface="Arial"/>
                <a:ea typeface="Arial"/>
                <a:cs typeface="Arial"/>
              </a:defRPr>
            </a:defPPr>
            <a:lvl1pPr algn="l">
              <a:defRPr sz="2025" b="0">
                <a:solidFill>
                  <a:srgbClr val="162A3A"/>
                </a:solidFill>
                <a:latin typeface="Arial"/>
                <a:ea typeface="Arial"/>
                <a:cs typeface="Arial"/>
              </a:defRPr>
            </a:lvl1pPr>
            <a:lvl2pPr algn="l">
              <a:defRPr sz="2025" b="0">
                <a:solidFill>
                  <a:srgbClr val="162A3A"/>
                </a:solidFill>
                <a:latin typeface="Arial"/>
                <a:ea typeface="Arial"/>
                <a:cs typeface="Arial"/>
              </a:defRPr>
            </a:lvl2pPr>
            <a:lvl3pPr algn="l">
              <a:defRPr sz="2025" b="0">
                <a:solidFill>
                  <a:srgbClr val="162A3A"/>
                </a:solidFill>
                <a:latin typeface="Arial"/>
                <a:ea typeface="Arial"/>
                <a:cs typeface="Arial"/>
              </a:defRPr>
            </a:lvl3pPr>
            <a:lvl4pPr algn="l">
              <a:defRPr sz="2025" b="0">
                <a:solidFill>
                  <a:srgbClr val="162A3A"/>
                </a:solidFill>
                <a:latin typeface="Arial"/>
                <a:ea typeface="Arial"/>
                <a:cs typeface="Arial"/>
              </a:defRPr>
            </a:lvl4pPr>
            <a:lvl5pPr algn="l">
              <a:defRPr sz="2025" b="0">
                <a:solidFill>
                  <a:srgbClr val="162A3A"/>
                </a:solidFill>
                <a:latin typeface="Arial"/>
                <a:ea typeface="Arial"/>
                <a:cs typeface="Arial"/>
              </a:defRPr>
            </a:lvl5pPr>
            <a:lvl6pPr algn="l">
              <a:defRPr sz="2025" b="0">
                <a:solidFill>
                  <a:srgbClr val="162A3A"/>
                </a:solidFill>
                <a:latin typeface="Arial"/>
                <a:ea typeface="Arial"/>
                <a:cs typeface="Arial"/>
              </a:defRPr>
            </a:lvl6pPr>
            <a:lvl7pPr algn="l">
              <a:defRPr sz="2025" b="0">
                <a:solidFill>
                  <a:srgbClr val="162A3A"/>
                </a:solidFill>
                <a:latin typeface="Arial"/>
                <a:ea typeface="Arial"/>
                <a:cs typeface="Arial"/>
              </a:defRPr>
            </a:lvl7pPr>
            <a:lvl8pPr algn="l">
              <a:defRPr sz="2025" b="0">
                <a:solidFill>
                  <a:srgbClr val="162A3A"/>
                </a:solidFill>
                <a:latin typeface="Arial"/>
                <a:ea typeface="Arial"/>
                <a:cs typeface="Arial"/>
              </a:defRPr>
            </a:lvl8pPr>
            <a:lvl9pPr algn="l">
              <a:defRPr sz="2025" b="0">
                <a:solidFill>
                  <a:srgbClr val="162A3A"/>
                </a:solidFill>
                <a:latin typeface="Arial"/>
                <a:ea typeface="Arial"/>
                <a:cs typeface="Arial"/>
              </a:defRPr>
            </a:lvl9pPr>
          </a:lstStyle>
          <a:p xmlns:a="http://schemas.openxmlformats.org/drawingml/2006/main">
            <a:pPr marL="228600" indent="-114300" algn="l">
              <a:spcAft>
                <a:spcPts val="1300"/>
              </a:spcAft>
              <a:buChar char="•"/>
              <a:defRPr sz="2025" b="0">
                <a:solidFill>
                  <a:srgbClr val="162A3A"/>
                </a:solidFill>
                <a:latin typeface="Arial"/>
                <a:ea typeface="Arial"/>
                <a:cs typeface="Arial"/>
              </a:defRPr>
            </a:pPr>
            <a:r>
              <a:t>Group name and every member’s details</a:t>
            </a:r>
          </a:p>
          <a:p xmlns:a="http://schemas.openxmlformats.org/drawingml/2006/main">
            <a:pPr marL="228600" indent="-114300" algn="l">
              <a:spcAft>
                <a:spcPts val="1300"/>
              </a:spcAft>
              <a:buChar char="•"/>
              <a:defRPr sz="2025" b="0">
                <a:solidFill>
                  <a:srgbClr val="162A3A"/>
                </a:solidFill>
                <a:latin typeface="Arial"/>
                <a:ea typeface="Arial"/>
                <a:cs typeface="Arial"/>
              </a:defRPr>
            </a:pPr>
            <a:r>
              <a:t>Out-of-sample strategy performance</a:t>
            </a:r>
          </a:p>
          <a:p xmlns:a="http://schemas.openxmlformats.org/drawingml/2006/main">
            <a:pPr marL="228600" indent="-114300" algn="l">
              <a:spcAft>
                <a:spcPts val="1300"/>
              </a:spcAft>
              <a:buChar char="•"/>
              <a:defRPr sz="2025" b="0">
                <a:solidFill>
                  <a:srgbClr val="162A3A"/>
                </a:solidFill>
                <a:latin typeface="Arial"/>
                <a:ea typeface="Arial"/>
                <a:cs typeface="Arial"/>
              </a:defRPr>
            </a:pPr>
            <a:r>
              <a:t>Class-accessible video link, if prepared</a:t>
            </a:r>
          </a:p>
        </p:txBody>
      </p:sp>
      <p:sp>
        <p:nvSpPr>
          <p:cNvPr id="8" name="Optional pitch: maximum 60 seconds. A narrated PowerPoint is sufficient.">
            <a:extLst xmlns:a="http://schemas.openxmlformats.org/drawingml/2006/main">
              <a:ext uri="{FF2B5EF4-FFF2-40B4-BE49-F238E27FC236}">
                <a16:creationId xmlns:a16="http://schemas.microsoft.com/office/drawing/2014/main" id="{CF046DCE-2D50-42A7-9A4A-074270F0CDC5}"/>
              </a:ext>
            </a:extLst>
          </p:cNvPr>
          <p:cNvSpPr>
            <a:spLocks xmlns:a="http://schemas.openxmlformats.org/drawingml/2006/main" noGrp="1"/>
          </p:cNvSpPr>
          <p:nvPr/>
        </p:nvSpPr>
        <p:spPr>
          <a:xfrm xmlns:a="http://schemas.openxmlformats.org/drawingml/2006/main">
            <a:off x="685800" y="55245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E8B"/>
                </a:solidFill>
                <a:latin typeface="Arial"/>
                <a:ea typeface="Arial"/>
                <a:cs typeface="Arial"/>
              </a:defRPr>
            </a:defPPr>
            <a:lvl1pPr algn="l">
              <a:defRPr sz="2025" b="1">
                <a:solidFill>
                  <a:srgbClr val="087E8B"/>
                </a:solidFill>
                <a:latin typeface="Arial"/>
                <a:ea typeface="Arial"/>
                <a:cs typeface="Arial"/>
              </a:defRPr>
            </a:lvl1pPr>
            <a:lvl2pPr algn="l">
              <a:defRPr sz="2025" b="1">
                <a:solidFill>
                  <a:srgbClr val="087E8B"/>
                </a:solidFill>
                <a:latin typeface="Arial"/>
                <a:ea typeface="Arial"/>
                <a:cs typeface="Arial"/>
              </a:defRPr>
            </a:lvl2pPr>
            <a:lvl3pPr algn="l">
              <a:defRPr sz="2025" b="1">
                <a:solidFill>
                  <a:srgbClr val="087E8B"/>
                </a:solidFill>
                <a:latin typeface="Arial"/>
                <a:ea typeface="Arial"/>
                <a:cs typeface="Arial"/>
              </a:defRPr>
            </a:lvl3pPr>
            <a:lvl4pPr algn="l">
              <a:defRPr sz="2025" b="1">
                <a:solidFill>
                  <a:srgbClr val="087E8B"/>
                </a:solidFill>
                <a:latin typeface="Arial"/>
                <a:ea typeface="Arial"/>
                <a:cs typeface="Arial"/>
              </a:defRPr>
            </a:lvl4pPr>
            <a:lvl5pPr algn="l">
              <a:defRPr sz="2025" b="1">
                <a:solidFill>
                  <a:srgbClr val="087E8B"/>
                </a:solidFill>
                <a:latin typeface="Arial"/>
                <a:ea typeface="Arial"/>
                <a:cs typeface="Arial"/>
              </a:defRPr>
            </a:lvl5pPr>
            <a:lvl6pPr algn="l">
              <a:defRPr sz="2025" b="1">
                <a:solidFill>
                  <a:srgbClr val="087E8B"/>
                </a:solidFill>
                <a:latin typeface="Arial"/>
                <a:ea typeface="Arial"/>
                <a:cs typeface="Arial"/>
              </a:defRPr>
            </a:lvl6pPr>
            <a:lvl7pPr algn="l">
              <a:defRPr sz="2025" b="1">
                <a:solidFill>
                  <a:srgbClr val="087E8B"/>
                </a:solidFill>
                <a:latin typeface="Arial"/>
                <a:ea typeface="Arial"/>
                <a:cs typeface="Arial"/>
              </a:defRPr>
            </a:lvl7pPr>
            <a:lvl8pPr algn="l">
              <a:defRPr sz="2025" b="1">
                <a:solidFill>
                  <a:srgbClr val="087E8B"/>
                </a:solidFill>
                <a:latin typeface="Arial"/>
                <a:ea typeface="Arial"/>
                <a:cs typeface="Arial"/>
              </a:defRPr>
            </a:lvl8pPr>
            <a:lvl9pPr algn="l">
              <a:defRPr sz="2025" b="1">
                <a:solidFill>
                  <a:srgbClr val="087E8B"/>
                </a:solidFill>
                <a:latin typeface="Arial"/>
                <a:ea typeface="Arial"/>
                <a:cs typeface="Arial"/>
              </a:defRPr>
            </a:lvl9pPr>
          </a:lstStyle>
          <a:p xmlns:a="http://schemas.openxmlformats.org/drawingml/2006/main">
            <a:pPr algn="l">
              <a:defRPr sz="2025" b="1">
                <a:solidFill>
                  <a:srgbClr val="087E8B"/>
                </a:solidFill>
                <a:latin typeface="Arial"/>
                <a:ea typeface="Arial"/>
                <a:cs typeface="Arial"/>
              </a:defRPr>
            </a:pPr>
            <a:r>
              <a:rPr sz="2025" b="1">
                <a:solidFill>
                  <a:srgbClr val="087E8B"/>
                </a:solidFill>
                <a:latin typeface="Arial"/>
                <a:ea typeface="Arial"/>
                <a:cs typeface="Arial"/>
              </a:rPr>
              <a:t>Optional pitch: maximum 60 seconds. A narrated PowerPoint is sufficient.</a:t>
            </a:r>
          </a:p>
        </p:txBody>
      </p:sp>
      <p:sp>
        <p:nvSpPr>
          <p:cNvPr id="9" name="Role owners: Momentum PM, Pairs PM, Crypto PM, integration/risk and reporting">
            <a:extLst xmlns:a="http://schemas.openxmlformats.org/drawingml/2006/main">
              <a:ext uri="{FF2B5EF4-FFF2-40B4-BE49-F238E27FC236}">
                <a16:creationId xmlns:a16="http://schemas.microsoft.com/office/drawing/2014/main" id="{8AA9E9E2-3236-48CD-91EB-6BE926BEFF63}"/>
              </a:ext>
            </a:extLst>
          </p:cNvPr>
          <p:cNvSpPr>
            <a:spLocks xmlns:a="http://schemas.openxmlformats.org/drawingml/2006/main" noGrp="1"/>
          </p:cNvSpPr>
          <p:nvPr/>
        </p:nvSpPr>
        <p:spPr>
          <a:xfrm xmlns:a="http://schemas.openxmlformats.org/drawingml/2006/main">
            <a:off x="685800" y="61055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16476"/>
                </a:solidFill>
                <a:latin typeface="Arial"/>
                <a:ea typeface="Arial"/>
                <a:cs typeface="Arial"/>
              </a:defRPr>
            </a:defPPr>
            <a:lvl1pPr algn="l">
              <a:defRPr sz="1725" b="0">
                <a:solidFill>
                  <a:srgbClr val="516476"/>
                </a:solidFill>
                <a:latin typeface="Arial"/>
                <a:ea typeface="Arial"/>
                <a:cs typeface="Arial"/>
              </a:defRPr>
            </a:lvl1pPr>
            <a:lvl2pPr algn="l">
              <a:defRPr sz="1725" b="0">
                <a:solidFill>
                  <a:srgbClr val="516476"/>
                </a:solidFill>
                <a:latin typeface="Arial"/>
                <a:ea typeface="Arial"/>
                <a:cs typeface="Arial"/>
              </a:defRPr>
            </a:lvl2pPr>
            <a:lvl3pPr algn="l">
              <a:defRPr sz="1725" b="0">
                <a:solidFill>
                  <a:srgbClr val="516476"/>
                </a:solidFill>
                <a:latin typeface="Arial"/>
                <a:ea typeface="Arial"/>
                <a:cs typeface="Arial"/>
              </a:defRPr>
            </a:lvl3pPr>
            <a:lvl4pPr algn="l">
              <a:defRPr sz="1725" b="0">
                <a:solidFill>
                  <a:srgbClr val="516476"/>
                </a:solidFill>
                <a:latin typeface="Arial"/>
                <a:ea typeface="Arial"/>
                <a:cs typeface="Arial"/>
              </a:defRPr>
            </a:lvl4pPr>
            <a:lvl5pPr algn="l">
              <a:defRPr sz="1725" b="0">
                <a:solidFill>
                  <a:srgbClr val="516476"/>
                </a:solidFill>
                <a:latin typeface="Arial"/>
                <a:ea typeface="Arial"/>
                <a:cs typeface="Arial"/>
              </a:defRPr>
            </a:lvl5pPr>
            <a:lvl6pPr algn="l">
              <a:defRPr sz="1725" b="0">
                <a:solidFill>
                  <a:srgbClr val="516476"/>
                </a:solidFill>
                <a:latin typeface="Arial"/>
                <a:ea typeface="Arial"/>
                <a:cs typeface="Arial"/>
              </a:defRPr>
            </a:lvl6pPr>
            <a:lvl7pPr algn="l">
              <a:defRPr sz="1725" b="0">
                <a:solidFill>
                  <a:srgbClr val="516476"/>
                </a:solidFill>
                <a:latin typeface="Arial"/>
                <a:ea typeface="Arial"/>
                <a:cs typeface="Arial"/>
              </a:defRPr>
            </a:lvl7pPr>
            <a:lvl8pPr algn="l">
              <a:defRPr sz="1725" b="0">
                <a:solidFill>
                  <a:srgbClr val="516476"/>
                </a:solidFill>
                <a:latin typeface="Arial"/>
                <a:ea typeface="Arial"/>
                <a:cs typeface="Arial"/>
              </a:defRPr>
            </a:lvl8pPr>
            <a:lvl9pPr algn="l">
              <a:defRPr sz="1725" b="0">
                <a:solidFill>
                  <a:srgbClr val="516476"/>
                </a:solidFill>
                <a:latin typeface="Arial"/>
                <a:ea typeface="Arial"/>
                <a:cs typeface="Arial"/>
              </a:defRPr>
            </a:lvl9pPr>
          </a:lstStyle>
          <a:p xmlns:a="http://schemas.openxmlformats.org/drawingml/2006/main">
            <a:pPr algn="l">
              <a:defRPr sz="1725" b="0">
                <a:solidFill>
                  <a:srgbClr val="516476"/>
                </a:solidFill>
                <a:latin typeface="Arial"/>
                <a:ea typeface="Arial"/>
                <a:cs typeface="Arial"/>
              </a:defRPr>
            </a:pPr>
            <a:r>
              <a:rPr sz="1725" b="0">
                <a:solidFill>
                  <a:srgbClr val="516476"/>
                </a:solidFill>
                <a:latin typeface="Arial"/>
                <a:ea typeface="Arial"/>
                <a:cs typeface="Arial"/>
              </a:rPr>
              <a:t>Role owners: Momentum PM, Pairs PM, Crypto PM, integration/risk and reporting</a:t>
            </a:r>
          </a:p>
        </p:txBody>
      </p:sp>
    </p:spTree>
    <p:extLst>
      <p:ext uri="{BB962C8B-B14F-4D97-AF65-F5344CB8AC3E}">
        <p14:creationId xmlns:p14="http://schemas.microsoft.com/office/powerpoint/2010/main" val="9782253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he investment case">
            <a:extLst xmlns:a="http://schemas.openxmlformats.org/drawingml/2006/main">
              <a:ext uri="{FF2B5EF4-FFF2-40B4-BE49-F238E27FC236}">
                <a16:creationId xmlns:a16="http://schemas.microsoft.com/office/drawing/2014/main" id="{AF6EF82E-36EF-40FA-8001-9887FCB95F4A}"/>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vl1pPr algn="l">
              <a:defRPr sz="3300" b="1">
                <a:solidFill>
                  <a:srgbClr val="162A3A"/>
                </a:solidFill>
                <a:latin typeface="Arial"/>
                <a:ea typeface="Arial"/>
                <a:cs typeface="Arial"/>
              </a:defRPr>
            </a:lvl1pPr>
            <a:lvl2pPr algn="l">
              <a:defRPr sz="3300" b="1">
                <a:solidFill>
                  <a:srgbClr val="162A3A"/>
                </a:solidFill>
                <a:latin typeface="Arial"/>
                <a:ea typeface="Arial"/>
                <a:cs typeface="Arial"/>
              </a:defRPr>
            </a:lvl2pPr>
            <a:lvl3pPr algn="l">
              <a:defRPr sz="3300" b="1">
                <a:solidFill>
                  <a:srgbClr val="162A3A"/>
                </a:solidFill>
                <a:latin typeface="Arial"/>
                <a:ea typeface="Arial"/>
                <a:cs typeface="Arial"/>
              </a:defRPr>
            </a:lvl3pPr>
            <a:lvl4pPr algn="l">
              <a:defRPr sz="3300" b="1">
                <a:solidFill>
                  <a:srgbClr val="162A3A"/>
                </a:solidFill>
                <a:latin typeface="Arial"/>
                <a:ea typeface="Arial"/>
                <a:cs typeface="Arial"/>
              </a:defRPr>
            </a:lvl4pPr>
            <a:lvl5pPr algn="l">
              <a:defRPr sz="3300" b="1">
                <a:solidFill>
                  <a:srgbClr val="162A3A"/>
                </a:solidFill>
                <a:latin typeface="Arial"/>
                <a:ea typeface="Arial"/>
                <a:cs typeface="Arial"/>
              </a:defRPr>
            </a:lvl5pPr>
            <a:lvl6pPr algn="l">
              <a:defRPr sz="3300" b="1">
                <a:solidFill>
                  <a:srgbClr val="162A3A"/>
                </a:solidFill>
                <a:latin typeface="Arial"/>
                <a:ea typeface="Arial"/>
                <a:cs typeface="Arial"/>
              </a:defRPr>
            </a:lvl6pPr>
            <a:lvl7pPr algn="l">
              <a:defRPr sz="3300" b="1">
                <a:solidFill>
                  <a:srgbClr val="162A3A"/>
                </a:solidFill>
                <a:latin typeface="Arial"/>
                <a:ea typeface="Arial"/>
                <a:cs typeface="Arial"/>
              </a:defRPr>
            </a:lvl7pPr>
            <a:lvl8pPr algn="l">
              <a:defRPr sz="3300" b="1">
                <a:solidFill>
                  <a:srgbClr val="162A3A"/>
                </a:solidFill>
                <a:latin typeface="Arial"/>
                <a:ea typeface="Arial"/>
                <a:cs typeface="Arial"/>
              </a:defRPr>
            </a:lvl8pPr>
            <a:lvl9pPr algn="l">
              <a:defRPr sz="3300" b="1">
                <a:solidFill>
                  <a:srgbClr val="162A3A"/>
                </a:solidFill>
                <a:latin typeface="Arial"/>
                <a:ea typeface="Arial"/>
                <a:cs typeface="Arial"/>
              </a:defRPr>
            </a:lvl9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The investment case</a:t>
            </a:r>
          </a:p>
        </p:txBody>
      </p:sp>
      <p:sp>
        <p:nvSpPr>
          <p:cNvPr id="2" name="A paper pilot whose decisions classmates can inspect">
            <a:extLst xmlns:a="http://schemas.openxmlformats.org/drawingml/2006/main">
              <a:ext uri="{FF2B5EF4-FFF2-40B4-BE49-F238E27FC236}">
                <a16:creationId xmlns:a16="http://schemas.microsoft.com/office/drawing/2014/main" id="{D46960B1-0764-4B0C-B3D0-BFA881F5C479}"/>
              </a:ext>
            </a:extLst>
          </p:cNvPr>
          <p:cNvSpPr>
            <a:spLocks xmlns:a="http://schemas.openxmlformats.org/drawingml/2006/main" noGrp="1"/>
          </p:cNvSpPr>
          <p:nvPr/>
        </p:nvSpPr>
        <p:spPr>
          <a:xfrm xmlns:a="http://schemas.openxmlformats.org/drawingml/2006/main">
            <a:off x="685800" y="12001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vl1pPr algn="l">
              <a:defRPr sz="1875" b="0">
                <a:solidFill>
                  <a:srgbClr val="516476"/>
                </a:solidFill>
                <a:latin typeface="Arial"/>
                <a:ea typeface="Arial"/>
                <a:cs typeface="Arial"/>
              </a:defRPr>
            </a:lvl1pPr>
            <a:lvl2pPr algn="l">
              <a:defRPr sz="1875" b="0">
                <a:solidFill>
                  <a:srgbClr val="516476"/>
                </a:solidFill>
                <a:latin typeface="Arial"/>
                <a:ea typeface="Arial"/>
                <a:cs typeface="Arial"/>
              </a:defRPr>
            </a:lvl2pPr>
            <a:lvl3pPr algn="l">
              <a:defRPr sz="1875" b="0">
                <a:solidFill>
                  <a:srgbClr val="516476"/>
                </a:solidFill>
                <a:latin typeface="Arial"/>
                <a:ea typeface="Arial"/>
                <a:cs typeface="Arial"/>
              </a:defRPr>
            </a:lvl3pPr>
            <a:lvl4pPr algn="l">
              <a:defRPr sz="1875" b="0">
                <a:solidFill>
                  <a:srgbClr val="516476"/>
                </a:solidFill>
                <a:latin typeface="Arial"/>
                <a:ea typeface="Arial"/>
                <a:cs typeface="Arial"/>
              </a:defRPr>
            </a:lvl4pPr>
            <a:lvl5pPr algn="l">
              <a:defRPr sz="1875" b="0">
                <a:solidFill>
                  <a:srgbClr val="516476"/>
                </a:solidFill>
                <a:latin typeface="Arial"/>
                <a:ea typeface="Arial"/>
                <a:cs typeface="Arial"/>
              </a:defRPr>
            </a:lvl5pPr>
            <a:lvl6pPr algn="l">
              <a:defRPr sz="1875" b="0">
                <a:solidFill>
                  <a:srgbClr val="516476"/>
                </a:solidFill>
                <a:latin typeface="Arial"/>
                <a:ea typeface="Arial"/>
                <a:cs typeface="Arial"/>
              </a:defRPr>
            </a:lvl6pPr>
            <a:lvl7pPr algn="l">
              <a:defRPr sz="1875" b="0">
                <a:solidFill>
                  <a:srgbClr val="516476"/>
                </a:solidFill>
                <a:latin typeface="Arial"/>
                <a:ea typeface="Arial"/>
                <a:cs typeface="Arial"/>
              </a:defRPr>
            </a:lvl7pPr>
            <a:lvl8pPr algn="l">
              <a:defRPr sz="1875" b="0">
                <a:solidFill>
                  <a:srgbClr val="516476"/>
                </a:solidFill>
                <a:latin typeface="Arial"/>
                <a:ea typeface="Arial"/>
                <a:cs typeface="Arial"/>
              </a:defRPr>
            </a:lvl8pPr>
            <a:lvl9pPr algn="l">
              <a:defRPr sz="1875" b="0">
                <a:solidFill>
                  <a:srgbClr val="516476"/>
                </a:solidFill>
                <a:latin typeface="Arial"/>
                <a:ea typeface="Arial"/>
                <a:cs typeface="Arial"/>
              </a:defRPr>
            </a:lvl9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A paper pilot whose decisions classmates can inspect</a:t>
            </a:r>
          </a:p>
        </p:txBody>
      </p:sp>
      <p:sp>
        <p:nvSpPr>
          <p:cNvPr id="3" name="14">
            <a:extLst xmlns:a="http://schemas.openxmlformats.org/drawingml/2006/main">
              <a:ext uri="{FF2B5EF4-FFF2-40B4-BE49-F238E27FC236}">
                <a16:creationId xmlns:a16="http://schemas.microsoft.com/office/drawing/2014/main" id="{48F34505-B706-4160-8C25-B7A2C5BE9FF7}"/>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vl1pPr algn="r">
              <a:defRPr sz="1275" b="0">
                <a:solidFill>
                  <a:srgbClr val="516476"/>
                </a:solidFill>
                <a:latin typeface="Arial"/>
                <a:ea typeface="Arial"/>
                <a:cs typeface="Arial"/>
              </a:defRPr>
            </a:lvl1pPr>
            <a:lvl2pPr algn="r">
              <a:defRPr sz="1275" b="0">
                <a:solidFill>
                  <a:srgbClr val="516476"/>
                </a:solidFill>
                <a:latin typeface="Arial"/>
                <a:ea typeface="Arial"/>
                <a:cs typeface="Arial"/>
              </a:defRPr>
            </a:lvl2pPr>
            <a:lvl3pPr algn="r">
              <a:defRPr sz="1275" b="0">
                <a:solidFill>
                  <a:srgbClr val="516476"/>
                </a:solidFill>
                <a:latin typeface="Arial"/>
                <a:ea typeface="Arial"/>
                <a:cs typeface="Arial"/>
              </a:defRPr>
            </a:lvl3pPr>
            <a:lvl4pPr algn="r">
              <a:defRPr sz="1275" b="0">
                <a:solidFill>
                  <a:srgbClr val="516476"/>
                </a:solidFill>
                <a:latin typeface="Arial"/>
                <a:ea typeface="Arial"/>
                <a:cs typeface="Arial"/>
              </a:defRPr>
            </a:lvl4pPr>
            <a:lvl5pPr algn="r">
              <a:defRPr sz="1275" b="0">
                <a:solidFill>
                  <a:srgbClr val="516476"/>
                </a:solidFill>
                <a:latin typeface="Arial"/>
                <a:ea typeface="Arial"/>
                <a:cs typeface="Arial"/>
              </a:defRPr>
            </a:lvl5pPr>
            <a:lvl6pPr algn="r">
              <a:defRPr sz="1275" b="0">
                <a:solidFill>
                  <a:srgbClr val="516476"/>
                </a:solidFill>
                <a:latin typeface="Arial"/>
                <a:ea typeface="Arial"/>
                <a:cs typeface="Arial"/>
              </a:defRPr>
            </a:lvl6pPr>
            <a:lvl7pPr algn="r">
              <a:defRPr sz="1275" b="0">
                <a:solidFill>
                  <a:srgbClr val="516476"/>
                </a:solidFill>
                <a:latin typeface="Arial"/>
                <a:ea typeface="Arial"/>
                <a:cs typeface="Arial"/>
              </a:defRPr>
            </a:lvl7pPr>
            <a:lvl8pPr algn="r">
              <a:defRPr sz="1275" b="0">
                <a:solidFill>
                  <a:srgbClr val="516476"/>
                </a:solidFill>
                <a:latin typeface="Arial"/>
                <a:ea typeface="Arial"/>
                <a:cs typeface="Arial"/>
              </a:defRPr>
            </a:lvl8pPr>
            <a:lvl9pPr algn="r">
              <a:defRPr sz="1275" b="0">
                <a:solidFill>
                  <a:srgbClr val="516476"/>
                </a:solidFill>
                <a:latin typeface="Arial"/>
                <a:ea typeface="Arial"/>
                <a:cs typeface="Arial"/>
              </a:defRPr>
            </a:lvl9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14</a:t>
            </a:r>
          </a:p>
        </p:txBody>
      </p:sp>
      <p:sp>
        <p:nvSpPr>
          <p:cNvPr id="4" name="Three specialist PM mandates">
            <a:extLst xmlns:a="http://schemas.openxmlformats.org/drawingml/2006/main">
              <a:ext uri="{FF2B5EF4-FFF2-40B4-BE49-F238E27FC236}">
                <a16:creationId xmlns:a16="http://schemas.microsoft.com/office/drawing/2014/main" id="{A495EA63-874D-4CF3-BC24-B71CD6C3D4CD}"/>
              </a:ext>
            </a:extLst>
          </p:cNvPr>
          <p:cNvSpPr>
            <a:spLocks xmlns:a="http://schemas.openxmlformats.org/drawingml/2006/main" noGrp="1"/>
          </p:cNvSpPr>
          <p:nvPr/>
        </p:nvSpPr>
        <p:spPr>
          <a:xfrm xmlns:a="http://schemas.openxmlformats.org/drawingml/2006/main">
            <a:off x="685800" y="20859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2A3A"/>
                </a:solidFill>
                <a:latin typeface="Arial"/>
                <a:ea typeface="Arial"/>
                <a:cs typeface="Arial"/>
              </a:defRPr>
            </a:defPPr>
            <a:lvl1pPr algn="l">
              <a:defRPr sz="2850" b="1">
                <a:solidFill>
                  <a:srgbClr val="162A3A"/>
                </a:solidFill>
                <a:latin typeface="Arial"/>
                <a:ea typeface="Arial"/>
                <a:cs typeface="Arial"/>
              </a:defRPr>
            </a:lvl1pPr>
            <a:lvl2pPr algn="l">
              <a:defRPr sz="2850" b="1">
                <a:solidFill>
                  <a:srgbClr val="162A3A"/>
                </a:solidFill>
                <a:latin typeface="Arial"/>
                <a:ea typeface="Arial"/>
                <a:cs typeface="Arial"/>
              </a:defRPr>
            </a:lvl2pPr>
            <a:lvl3pPr algn="l">
              <a:defRPr sz="2850" b="1">
                <a:solidFill>
                  <a:srgbClr val="162A3A"/>
                </a:solidFill>
                <a:latin typeface="Arial"/>
                <a:ea typeface="Arial"/>
                <a:cs typeface="Arial"/>
              </a:defRPr>
            </a:lvl3pPr>
            <a:lvl4pPr algn="l">
              <a:defRPr sz="2850" b="1">
                <a:solidFill>
                  <a:srgbClr val="162A3A"/>
                </a:solidFill>
                <a:latin typeface="Arial"/>
                <a:ea typeface="Arial"/>
                <a:cs typeface="Arial"/>
              </a:defRPr>
            </a:lvl4pPr>
            <a:lvl5pPr algn="l">
              <a:defRPr sz="2850" b="1">
                <a:solidFill>
                  <a:srgbClr val="162A3A"/>
                </a:solidFill>
                <a:latin typeface="Arial"/>
                <a:ea typeface="Arial"/>
                <a:cs typeface="Arial"/>
              </a:defRPr>
            </a:lvl5pPr>
            <a:lvl6pPr algn="l">
              <a:defRPr sz="2850" b="1">
                <a:solidFill>
                  <a:srgbClr val="162A3A"/>
                </a:solidFill>
                <a:latin typeface="Arial"/>
                <a:ea typeface="Arial"/>
                <a:cs typeface="Arial"/>
              </a:defRPr>
            </a:lvl6pPr>
            <a:lvl7pPr algn="l">
              <a:defRPr sz="2850" b="1">
                <a:solidFill>
                  <a:srgbClr val="162A3A"/>
                </a:solidFill>
                <a:latin typeface="Arial"/>
                <a:ea typeface="Arial"/>
                <a:cs typeface="Arial"/>
              </a:defRPr>
            </a:lvl7pPr>
            <a:lvl8pPr algn="l">
              <a:defRPr sz="2850" b="1">
                <a:solidFill>
                  <a:srgbClr val="162A3A"/>
                </a:solidFill>
                <a:latin typeface="Arial"/>
                <a:ea typeface="Arial"/>
                <a:cs typeface="Arial"/>
              </a:defRPr>
            </a:lvl8pPr>
            <a:lvl9pPr algn="l">
              <a:defRPr sz="2850" b="1">
                <a:solidFill>
                  <a:srgbClr val="162A3A"/>
                </a:solidFill>
                <a:latin typeface="Arial"/>
                <a:ea typeface="Arial"/>
                <a:cs typeface="Arial"/>
              </a:defRPr>
            </a:lvl9pPr>
          </a:lstStyle>
          <a:p xmlns:a="http://schemas.openxmlformats.org/drawingml/2006/main">
            <a:pPr algn="l">
              <a:defRPr sz="2850" b="1">
                <a:solidFill>
                  <a:srgbClr val="162A3A"/>
                </a:solidFill>
                <a:latin typeface="Arial"/>
                <a:ea typeface="Arial"/>
                <a:cs typeface="Arial"/>
              </a:defRPr>
            </a:pPr>
            <a:r>
              <a:rPr sz="2850" b="1">
                <a:solidFill>
                  <a:srgbClr val="162A3A"/>
                </a:solidFill>
                <a:latin typeface="Arial"/>
                <a:ea typeface="Arial"/>
                <a:cs typeface="Arial"/>
              </a:rPr>
              <a:t>Three specialist PM mandates</a:t>
            </a:r>
          </a:p>
        </p:txBody>
      </p:sp>
      <p:sp>
        <p:nvSpPr>
          <p:cNvPr id="5" name="An Investment Committee accountable to a human Board">
            <a:extLst xmlns:a="http://schemas.openxmlformats.org/drawingml/2006/main">
              <a:ext uri="{FF2B5EF4-FFF2-40B4-BE49-F238E27FC236}">
                <a16:creationId xmlns:a16="http://schemas.microsoft.com/office/drawing/2014/main" id="{CD1B5321-5BBB-4251-82E3-1D773DB9A118}"/>
              </a:ext>
            </a:extLst>
          </p:cNvPr>
          <p:cNvSpPr>
            <a:spLocks xmlns:a="http://schemas.openxmlformats.org/drawingml/2006/main" noGrp="1"/>
          </p:cNvSpPr>
          <p:nvPr/>
        </p:nvSpPr>
        <p:spPr>
          <a:xfrm xmlns:a="http://schemas.openxmlformats.org/drawingml/2006/main">
            <a:off x="685800" y="30194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62A3A"/>
                </a:solidFill>
                <a:latin typeface="Arial"/>
                <a:ea typeface="Arial"/>
                <a:cs typeface="Arial"/>
              </a:defRPr>
            </a:defPPr>
            <a:lvl1pPr algn="l">
              <a:defRPr sz="2625" b="1">
                <a:solidFill>
                  <a:srgbClr val="162A3A"/>
                </a:solidFill>
                <a:latin typeface="Arial"/>
                <a:ea typeface="Arial"/>
                <a:cs typeface="Arial"/>
              </a:defRPr>
            </a:lvl1pPr>
            <a:lvl2pPr algn="l">
              <a:defRPr sz="2625" b="1">
                <a:solidFill>
                  <a:srgbClr val="162A3A"/>
                </a:solidFill>
                <a:latin typeface="Arial"/>
                <a:ea typeface="Arial"/>
                <a:cs typeface="Arial"/>
              </a:defRPr>
            </a:lvl2pPr>
            <a:lvl3pPr algn="l">
              <a:defRPr sz="2625" b="1">
                <a:solidFill>
                  <a:srgbClr val="162A3A"/>
                </a:solidFill>
                <a:latin typeface="Arial"/>
                <a:ea typeface="Arial"/>
                <a:cs typeface="Arial"/>
              </a:defRPr>
            </a:lvl3pPr>
            <a:lvl4pPr algn="l">
              <a:defRPr sz="2625" b="1">
                <a:solidFill>
                  <a:srgbClr val="162A3A"/>
                </a:solidFill>
                <a:latin typeface="Arial"/>
                <a:ea typeface="Arial"/>
                <a:cs typeface="Arial"/>
              </a:defRPr>
            </a:lvl4pPr>
            <a:lvl5pPr algn="l">
              <a:defRPr sz="2625" b="1">
                <a:solidFill>
                  <a:srgbClr val="162A3A"/>
                </a:solidFill>
                <a:latin typeface="Arial"/>
                <a:ea typeface="Arial"/>
                <a:cs typeface="Arial"/>
              </a:defRPr>
            </a:lvl5pPr>
            <a:lvl6pPr algn="l">
              <a:defRPr sz="2625" b="1">
                <a:solidFill>
                  <a:srgbClr val="162A3A"/>
                </a:solidFill>
                <a:latin typeface="Arial"/>
                <a:ea typeface="Arial"/>
                <a:cs typeface="Arial"/>
              </a:defRPr>
            </a:lvl6pPr>
            <a:lvl7pPr algn="l">
              <a:defRPr sz="2625" b="1">
                <a:solidFill>
                  <a:srgbClr val="162A3A"/>
                </a:solidFill>
                <a:latin typeface="Arial"/>
                <a:ea typeface="Arial"/>
                <a:cs typeface="Arial"/>
              </a:defRPr>
            </a:lvl7pPr>
            <a:lvl8pPr algn="l">
              <a:defRPr sz="2625" b="1">
                <a:solidFill>
                  <a:srgbClr val="162A3A"/>
                </a:solidFill>
                <a:latin typeface="Arial"/>
                <a:ea typeface="Arial"/>
                <a:cs typeface="Arial"/>
              </a:defRPr>
            </a:lvl8pPr>
            <a:lvl9pPr algn="l">
              <a:defRPr sz="2625" b="1">
                <a:solidFill>
                  <a:srgbClr val="162A3A"/>
                </a:solidFill>
                <a:latin typeface="Arial"/>
                <a:ea typeface="Arial"/>
                <a:cs typeface="Arial"/>
              </a:defRPr>
            </a:lvl9pPr>
          </a:lstStyle>
          <a:p xmlns:a="http://schemas.openxmlformats.org/drawingml/2006/main">
            <a:pPr algn="l">
              <a:defRPr sz="2625" b="1">
                <a:solidFill>
                  <a:srgbClr val="162A3A"/>
                </a:solidFill>
                <a:latin typeface="Arial"/>
                <a:ea typeface="Arial"/>
                <a:cs typeface="Arial"/>
              </a:defRPr>
            </a:pPr>
            <a:r>
              <a:rPr sz="2625" b="1">
                <a:solidFill>
                  <a:srgbClr val="162A3A"/>
                </a:solidFill>
                <a:latin typeface="Arial"/>
                <a:ea typeface="Arial"/>
                <a:cs typeface="Arial"/>
              </a:rPr>
              <a:t>An Investment Committee accountable to a human Board</a:t>
            </a:r>
          </a:p>
        </p:txBody>
      </p:sp>
      <p:sp>
        <p:nvSpPr>
          <p:cNvPr id="6" name="AI explanations grounded in strategy diagnostics">
            <a:extLst xmlns:a="http://schemas.openxmlformats.org/drawingml/2006/main">
              <a:ext uri="{FF2B5EF4-FFF2-40B4-BE49-F238E27FC236}">
                <a16:creationId xmlns:a16="http://schemas.microsoft.com/office/drawing/2014/main" id="{3336D928-E1DA-4473-B95E-D4F1E6C4C2C6}"/>
              </a:ext>
            </a:extLst>
          </p:cNvPr>
          <p:cNvSpPr>
            <a:spLocks xmlns:a="http://schemas.openxmlformats.org/drawingml/2006/main" noGrp="1"/>
          </p:cNvSpPr>
          <p:nvPr/>
        </p:nvSpPr>
        <p:spPr>
          <a:xfrm xmlns:a="http://schemas.openxmlformats.org/drawingml/2006/main">
            <a:off x="685800" y="39528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87E8B"/>
                </a:solidFill>
                <a:latin typeface="Arial"/>
                <a:ea typeface="Arial"/>
                <a:cs typeface="Arial"/>
              </a:defRPr>
            </a:defPPr>
            <a:lvl1pPr algn="l">
              <a:defRPr sz="2625" b="1">
                <a:solidFill>
                  <a:srgbClr val="087E8B"/>
                </a:solidFill>
                <a:latin typeface="Arial"/>
                <a:ea typeface="Arial"/>
                <a:cs typeface="Arial"/>
              </a:defRPr>
            </a:lvl1pPr>
            <a:lvl2pPr algn="l">
              <a:defRPr sz="2625" b="1">
                <a:solidFill>
                  <a:srgbClr val="087E8B"/>
                </a:solidFill>
                <a:latin typeface="Arial"/>
                <a:ea typeface="Arial"/>
                <a:cs typeface="Arial"/>
              </a:defRPr>
            </a:lvl2pPr>
            <a:lvl3pPr algn="l">
              <a:defRPr sz="2625" b="1">
                <a:solidFill>
                  <a:srgbClr val="087E8B"/>
                </a:solidFill>
                <a:latin typeface="Arial"/>
                <a:ea typeface="Arial"/>
                <a:cs typeface="Arial"/>
              </a:defRPr>
            </a:lvl3pPr>
            <a:lvl4pPr algn="l">
              <a:defRPr sz="2625" b="1">
                <a:solidFill>
                  <a:srgbClr val="087E8B"/>
                </a:solidFill>
                <a:latin typeface="Arial"/>
                <a:ea typeface="Arial"/>
                <a:cs typeface="Arial"/>
              </a:defRPr>
            </a:lvl4pPr>
            <a:lvl5pPr algn="l">
              <a:defRPr sz="2625" b="1">
                <a:solidFill>
                  <a:srgbClr val="087E8B"/>
                </a:solidFill>
                <a:latin typeface="Arial"/>
                <a:ea typeface="Arial"/>
                <a:cs typeface="Arial"/>
              </a:defRPr>
            </a:lvl5pPr>
            <a:lvl6pPr algn="l">
              <a:defRPr sz="2625" b="1">
                <a:solidFill>
                  <a:srgbClr val="087E8B"/>
                </a:solidFill>
                <a:latin typeface="Arial"/>
                <a:ea typeface="Arial"/>
                <a:cs typeface="Arial"/>
              </a:defRPr>
            </a:lvl6pPr>
            <a:lvl7pPr algn="l">
              <a:defRPr sz="2625" b="1">
                <a:solidFill>
                  <a:srgbClr val="087E8B"/>
                </a:solidFill>
                <a:latin typeface="Arial"/>
                <a:ea typeface="Arial"/>
                <a:cs typeface="Arial"/>
              </a:defRPr>
            </a:lvl7pPr>
            <a:lvl8pPr algn="l">
              <a:defRPr sz="2625" b="1">
                <a:solidFill>
                  <a:srgbClr val="087E8B"/>
                </a:solidFill>
                <a:latin typeface="Arial"/>
                <a:ea typeface="Arial"/>
                <a:cs typeface="Arial"/>
              </a:defRPr>
            </a:lvl8pPr>
            <a:lvl9pPr algn="l">
              <a:defRPr sz="2625" b="1">
                <a:solidFill>
                  <a:srgbClr val="087E8B"/>
                </a:solidFill>
                <a:latin typeface="Arial"/>
                <a:ea typeface="Arial"/>
                <a:cs typeface="Arial"/>
              </a:defRPr>
            </a:lvl9pPr>
          </a:lstStyle>
          <a:p xmlns:a="http://schemas.openxmlformats.org/drawingml/2006/main">
            <a:pPr algn="l">
              <a:defRPr sz="2625" b="1">
                <a:solidFill>
                  <a:srgbClr val="087E8B"/>
                </a:solidFill>
                <a:latin typeface="Arial"/>
                <a:ea typeface="Arial"/>
                <a:cs typeface="Arial"/>
              </a:defRPr>
            </a:pPr>
            <a:r>
              <a:rPr sz="2625" b="1">
                <a:solidFill>
                  <a:srgbClr val="087E8B"/>
                </a:solidFill>
                <a:latin typeface="Arial"/>
                <a:ea typeface="Arial"/>
                <a:cs typeface="Arial"/>
              </a:rPr>
              <a:t>AI explanations grounded in strategy diagnostics</a:t>
            </a:r>
          </a:p>
        </p:txBody>
      </p:sp>
      <p:sp>
        <p:nvSpPr>
          <p:cNvPr id="7" name="Our ask: assess the pilot using the final costed out-of-sample evidence">
            <a:extLst xmlns:a="http://schemas.openxmlformats.org/drawingml/2006/main">
              <a:ext uri="{FF2B5EF4-FFF2-40B4-BE49-F238E27FC236}">
                <a16:creationId xmlns:a16="http://schemas.microsoft.com/office/drawing/2014/main" id="{8FAD6636-681B-4D48-9B9D-92E15B7B187A}"/>
              </a:ext>
            </a:extLst>
          </p:cNvPr>
          <p:cNvSpPr>
            <a:spLocks xmlns:a="http://schemas.openxmlformats.org/drawingml/2006/main" noGrp="1"/>
          </p:cNvSpPr>
          <p:nvPr/>
        </p:nvSpPr>
        <p:spPr>
          <a:xfrm xmlns:a="http://schemas.openxmlformats.org/drawingml/2006/main">
            <a:off x="685800" y="5410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2A3A"/>
                </a:solidFill>
                <a:latin typeface="Arial"/>
                <a:ea typeface="Arial"/>
                <a:cs typeface="Arial"/>
              </a:defRPr>
            </a:defPPr>
            <a:lvl1pPr algn="l">
              <a:defRPr sz="2400" b="1">
                <a:solidFill>
                  <a:srgbClr val="162A3A"/>
                </a:solidFill>
                <a:latin typeface="Arial"/>
                <a:ea typeface="Arial"/>
                <a:cs typeface="Arial"/>
              </a:defRPr>
            </a:lvl1pPr>
            <a:lvl2pPr algn="l">
              <a:defRPr sz="2400" b="1">
                <a:solidFill>
                  <a:srgbClr val="162A3A"/>
                </a:solidFill>
                <a:latin typeface="Arial"/>
                <a:ea typeface="Arial"/>
                <a:cs typeface="Arial"/>
              </a:defRPr>
            </a:lvl2pPr>
            <a:lvl3pPr algn="l">
              <a:defRPr sz="2400" b="1">
                <a:solidFill>
                  <a:srgbClr val="162A3A"/>
                </a:solidFill>
                <a:latin typeface="Arial"/>
                <a:ea typeface="Arial"/>
                <a:cs typeface="Arial"/>
              </a:defRPr>
            </a:lvl3pPr>
            <a:lvl4pPr algn="l">
              <a:defRPr sz="2400" b="1">
                <a:solidFill>
                  <a:srgbClr val="162A3A"/>
                </a:solidFill>
                <a:latin typeface="Arial"/>
                <a:ea typeface="Arial"/>
                <a:cs typeface="Arial"/>
              </a:defRPr>
            </a:lvl4pPr>
            <a:lvl5pPr algn="l">
              <a:defRPr sz="2400" b="1">
                <a:solidFill>
                  <a:srgbClr val="162A3A"/>
                </a:solidFill>
                <a:latin typeface="Arial"/>
                <a:ea typeface="Arial"/>
                <a:cs typeface="Arial"/>
              </a:defRPr>
            </a:lvl5pPr>
            <a:lvl6pPr algn="l">
              <a:defRPr sz="2400" b="1">
                <a:solidFill>
                  <a:srgbClr val="162A3A"/>
                </a:solidFill>
                <a:latin typeface="Arial"/>
                <a:ea typeface="Arial"/>
                <a:cs typeface="Arial"/>
              </a:defRPr>
            </a:lvl6pPr>
            <a:lvl7pPr algn="l">
              <a:defRPr sz="2400" b="1">
                <a:solidFill>
                  <a:srgbClr val="162A3A"/>
                </a:solidFill>
                <a:latin typeface="Arial"/>
                <a:ea typeface="Arial"/>
                <a:cs typeface="Arial"/>
              </a:defRPr>
            </a:lvl7pPr>
            <a:lvl8pPr algn="l">
              <a:defRPr sz="2400" b="1">
                <a:solidFill>
                  <a:srgbClr val="162A3A"/>
                </a:solidFill>
                <a:latin typeface="Arial"/>
                <a:ea typeface="Arial"/>
                <a:cs typeface="Arial"/>
              </a:defRPr>
            </a:lvl8pPr>
            <a:lvl9pPr algn="l">
              <a:defRPr sz="2400" b="1">
                <a:solidFill>
                  <a:srgbClr val="162A3A"/>
                </a:solidFill>
                <a:latin typeface="Arial"/>
                <a:ea typeface="Arial"/>
                <a:cs typeface="Arial"/>
              </a:defRPr>
            </a:lvl9pPr>
          </a:lstStyle>
          <a:p xmlns:a="http://schemas.openxmlformats.org/drawingml/2006/main">
            <a:pPr algn="l">
              <a:defRPr sz="2400" b="1">
                <a:solidFill>
                  <a:srgbClr val="162A3A"/>
                </a:solidFill>
                <a:latin typeface="Arial"/>
                <a:ea typeface="Arial"/>
                <a:cs typeface="Arial"/>
              </a:defRPr>
            </a:pPr>
            <a:r>
              <a:rPr sz="2400" b="1">
                <a:solidFill>
                  <a:srgbClr val="162A3A"/>
                </a:solidFill>
                <a:latin typeface="Arial"/>
                <a:ea typeface="Arial"/>
                <a:cs typeface="Arial"/>
              </a:rPr>
              <a:t>Our ask: assess the pilot using the final costed out-of-sample evidence</a:t>
            </a:r>
          </a:p>
        </p:txBody>
      </p:sp>
    </p:spTree>
    <p:extLst>
      <p:ext uri="{BB962C8B-B14F-4D97-AF65-F5344CB8AC3E}">
        <p14:creationId xmlns:p14="http://schemas.microsoft.com/office/powerpoint/2010/main" val="14814702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2026-10-17T05:21:39.4840000Z</dcterms:created>
  <dcterms:modified xsi:type="dcterms:W3CDTF">2026-10-17T05:21:39.4840000Z</dcterms:modified>
</coreProperties>
</file>
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9935ca24b974715" /><Relationship Type="http://schemas.openxmlformats.org/officeDocument/2006/relationships/extended-properties" Target="/docProps/app.xml" Id="R1b8c69c4ed6547aa" /><Relationship Type="http://schemas.openxmlformats.org/officeDocument/2006/relationships/officeDocument" Target="/ppt/presentation.xml" Id="R6d89f92802c54c9e" /></Relationships>
</file>

<file path=ppt/presentation.xml><?xml version="1.0" encoding="utf-8"?>
<p:presentation xmlns:p="http://schemas.openxmlformats.org/presentationml/2006/main">
  <p:sldMasterIdLst>
    <p:sldMasterId xmlns:r="http://schemas.openxmlformats.org/officeDocument/2006/relationships" id="2147483648" r:id="Ra3f2293bf0df40fd"/>
  </p:sldMasterIdLst>
  <p:notesMasterIdLst>
    <p:notesMasterId xmlns:r="http://schemas.openxmlformats.org/officeDocument/2006/relationships" r:id="R9061c0541b74470d"/>
  </p:notesMasterIdLst>
  <p:sldIdLst>
    <p:sldId xmlns:r="http://schemas.openxmlformats.org/officeDocument/2006/relationships" id="256" r:id="R903656dafc094831"/>
    <p:sldId xmlns:r="http://schemas.openxmlformats.org/officeDocument/2006/relationships" id="257" r:id="R83e207214b884b77"/>
    <p:sldId xmlns:r="http://schemas.openxmlformats.org/officeDocument/2006/relationships" id="258" r:id="R16866f708825459b"/>
    <p:sldId xmlns:r="http://schemas.openxmlformats.org/officeDocument/2006/relationships" id="259" r:id="Rdb074966a7f54fe8"/>
    <p:sldId xmlns:r="http://schemas.openxmlformats.org/officeDocument/2006/relationships" id="260" r:id="Re7cfaaca0958485d"/>
    <p:sldId xmlns:r="http://schemas.openxmlformats.org/officeDocument/2006/relationships" id="261" r:id="R2b68f91ca1a949c6"/>
    <p:sldId xmlns:r="http://schemas.openxmlformats.org/officeDocument/2006/relationships" id="262" r:id="R7c1ca7ca40354527"/>
    <p:sldId xmlns:r="http://schemas.openxmlformats.org/officeDocument/2006/relationships" id="263" r:id="Rd2809b45f8d04a21"/>
    <p:sldId xmlns:r="http://schemas.openxmlformats.org/officeDocument/2006/relationships" id="264" r:id="Rd9090b403aa642a2"/>
    <p:sldId xmlns:r="http://schemas.openxmlformats.org/officeDocument/2006/relationships" id="265" r:id="R12590abf40984881"/>
    <p:sldId xmlns:r="http://schemas.openxmlformats.org/officeDocument/2006/relationships" id="266" r:id="Rd71fb3c4826848c0"/>
    <p:sldId xmlns:r="http://schemas.openxmlformats.org/officeDocument/2006/relationships" id="267" r:id="R38c0554ba3ea4e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3d70c001944282" /><Relationship Type="http://schemas.openxmlformats.org/officeDocument/2006/relationships/slideMaster" Target="/ppt/slideMasters/slideMaster1.xml" Id="Ra3f2293bf0df40fd" /><Relationship Type="http://schemas.openxmlformats.org/officeDocument/2006/relationships/notesMaster" Target="/ppt/notesMasters/notesMaster1.xml" Id="R9061c0541b74470d" /><Relationship Type="http://schemas.openxmlformats.org/officeDocument/2006/relationships/presProps" Target="/ppt/presProps.xml" Id="Rc143fd596dd341ae" /><Relationship Type="http://schemas.openxmlformats.org/officeDocument/2006/relationships/tableStyles" Target="/ppt/tableStyles.xml" Id="Rd7856562db7c4dc7" /><Relationship Type="http://schemas.openxmlformats.org/officeDocument/2006/relationships/slide" Target="/ppt/slides/slide1.xml" Id="R903656dafc094831" /><Relationship Type="http://schemas.openxmlformats.org/officeDocument/2006/relationships/slide" Target="/ppt/slides/slide2.xml" Id="R83e207214b884b77" /><Relationship Type="http://schemas.openxmlformats.org/officeDocument/2006/relationships/slide" Target="/ppt/slides/slide3.xml" Id="R16866f708825459b" /><Relationship Type="http://schemas.openxmlformats.org/officeDocument/2006/relationships/slide" Target="/ppt/slides/slide4.xml" Id="Rdb074966a7f54fe8" /><Relationship Type="http://schemas.openxmlformats.org/officeDocument/2006/relationships/slide" Target="/ppt/slides/slide5.xml" Id="Re7cfaaca0958485d" /><Relationship Type="http://schemas.openxmlformats.org/officeDocument/2006/relationships/slide" Target="/ppt/slides/slide6.xml" Id="R2b68f91ca1a949c6" /><Relationship Type="http://schemas.openxmlformats.org/officeDocument/2006/relationships/slide" Target="/ppt/slides/slide7.xml" Id="R7c1ca7ca40354527" /><Relationship Type="http://schemas.openxmlformats.org/officeDocument/2006/relationships/slide" Target="/ppt/slides/slide8.xml" Id="Rd2809b45f8d04a21" /><Relationship Type="http://schemas.openxmlformats.org/officeDocument/2006/relationships/slide" Target="/ppt/slides/slide9.xml" Id="Rd9090b403aa642a2" /><Relationship Type="http://schemas.openxmlformats.org/officeDocument/2006/relationships/slide" Target="/ppt/slides/slide10.xml" Id="R12590abf40984881" /><Relationship Type="http://schemas.openxmlformats.org/officeDocument/2006/relationships/slide" Target="/ppt/slides/slide11.xml" Id="Rd71fb3c4826848c0" /><Relationship Type="http://schemas.openxmlformats.org/officeDocument/2006/relationships/slide" Target="/ppt/slides/slide12.xml" Id="R38c0554ba3ea4e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70628f076444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ecf54552874202" /><Relationship Type="http://schemas.openxmlformats.org/officeDocument/2006/relationships/notesMaster" Target="/ppt/notesMasters/notesMaster1.xml" Id="R327f5f181e734d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4898aff39649cb" /><Relationship Type="http://schemas.openxmlformats.org/officeDocument/2006/relationships/notesMaster" Target="/ppt/notesMasters/notesMaster1.xml" Id="Rc86b1658f10941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438fccce5e4585" /><Relationship Type="http://schemas.openxmlformats.org/officeDocument/2006/relationships/notesMaster" Target="/ppt/notesMasters/notesMaster1.xml" Id="R7f652aa2e5d74c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62bcce4ce9c4242" /><Relationship Type="http://schemas.openxmlformats.org/officeDocument/2006/relationships/notesMaster" Target="/ppt/notesMasters/notesMaster1.xml" Id="R0ed05faae3244b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5e4e90d022464e" /><Relationship Type="http://schemas.openxmlformats.org/officeDocument/2006/relationships/notesMaster" Target="/ppt/notesMasters/notesMaster1.xml" Id="R9e1715c3bf404c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d0caaab59148f1" /><Relationship Type="http://schemas.openxmlformats.org/officeDocument/2006/relationships/notesMaster" Target="/ppt/notesMasters/notesMaster1.xml" Id="R827626859f304c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48bd403f1845ff" /><Relationship Type="http://schemas.openxmlformats.org/officeDocument/2006/relationships/notesMaster" Target="/ppt/notesMasters/notesMaster1.xml" Id="R484aef0d9c2943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0c5196810248fc" /><Relationship Type="http://schemas.openxmlformats.org/officeDocument/2006/relationships/notesMaster" Target="/ppt/notesMasters/notesMaster1.xml" Id="Ra2ca60cbb56f459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333e60f7cb45be" /><Relationship Type="http://schemas.openxmlformats.org/officeDocument/2006/relationships/notesMaster" Target="/ppt/notesMasters/notesMaster1.xml" Id="R4fed2d3f6659421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80440f4222418f" /><Relationship Type="http://schemas.openxmlformats.org/officeDocument/2006/relationships/notesMaster" Target="/ppt/notesMasters/notesMaster1.xml" Id="R4edde055800b4fd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550fda4ffb14576" /><Relationship Type="http://schemas.openxmlformats.org/officeDocument/2006/relationships/notesMaster" Target="/ppt/notesMasters/notesMaster1.xml" Id="Ra3a2e248c71343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2464f3db08c4f99" /><Relationship Type="http://schemas.openxmlformats.org/officeDocument/2006/relationships/notesMaster" Target="/ppt/notesMasters/notesMaster1.xml" Id="R7c3b4446448946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combines an equity momentum strategy, a daily pairs strategy and a crypto strategy. Each PM has a quantitative engine and a planned AI representative with diagnostic tools. A coordinator allocates capital and a deterministic risk controller approves portfolio changes. USD 5 million is the team’s proposed simulated capital, subject to the instructor’s starting-capital convention. This deck describes scope and design, with no claim that the combined fund is implemented or profitable.</a:t>
            </a:r>
          </a:p>
          <a:p xmlns:a="http://schemas.openxmlformats.org/drawingml/2006/main">
            <a:r>
              <a:t/>
            </a:r>
          </a:p>
          <a:p xmlns:a="http://schemas.openxmlformats.org/drawingml/2006/main">
            <a:r>
              <a:t>Local source: C:\Users\user\OneDrive\Personal Work Repos\Crypto Trading Strategy Research\algorithmic_trading_strategy_project_brief_execution_roadmap.md</a:t>
            </a:r>
          </a:p>
          <a:p xmlns:a="http://schemas.openxmlformats.org/drawingml/2006/main">
            <a:r>
              <a:t>Local source: C:\Users\user\OneDrive\Personal Work Repos\Crypto Trading Strategy Research\ARCHITECTURE.md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confirmed workspace brief permits a coherent multi-model ensemble. The mandatory core assets must appear in the selected universe, and each included asset needs history before 1 August 2025. The date range is 23 calendar days, not 23 US equity trading sessions. The required closing-price file covers all included portfolio assets. Live-tested code does not by itself establish instructor acceptance of paper execution. Keep the existing October history intact and label historical replays and backfilled records separately.</a:t>
            </a:r>
          </a:p>
          <a:p xmlns:a="http://schemas.openxmlformats.org/drawingml/2006/main">
            <a:r>
              <a:t/>
            </a:r>
          </a:p>
          <a:p xmlns:a="http://schemas.openxmlformats.org/drawingml/2006/main">
            <a:r>
              <a:t>Local source: C:\Users\user\OneDrive\Personal Work Repos\Crypto Trading Strategy Research\algorithmic_trading_strategy_project_brief_execution_roadmap.md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totals USD 5 million: three allocations of USD 1.5 million and USD 0.5 million of central cash. These are capital mandates, not instructions to deploy every dollar. The baseline makes no transfers between PMs, so sleeve weights drift with returns. Restoring constant weights is a separate policy that must include turnover and costs. Compare a predefined alternative, such as capped inverse-volatility budgets, only after the initial allocation works. Preserve the same accounting and exposure limits across the comparison.</a:t>
            </a:r>
          </a:p>
          <a:p xmlns:a="http://schemas.openxmlformats.org/drawingml/2006/main">
            <a:r>
              <a:t/>
            </a:r>
          </a:p>
          <a:p xmlns:a="http://schemas.openxmlformats.org/drawingml/2006/main">
            <a:r>
              <a:t>Source: https://waylandz.com/quant-book-en/Lesson-16-Portfolio-Construction-and-Exposure-Management/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PM owns a virtual portfolio rather than only returning a signal. The equity momentum and pairs owners retain their existing tested algorithms. Exact instruments, trading rules and signal/fill conventions still need their strategy packages. The three PMs share a submission contract that binds the proposed holdings to the available data and model version. The pairs proposal identifies both legs as one group. Each PM also maintains a cash balance, portfolio state, rolling estimates and after-cost results. The coordinator supplies capital and common constraints before each quantitative run. The AI representative inspects the resulting proposal using read-only diagnostic tools. All quantities and holdings still come from the quantitative engine. Equity universe details remain an assumption until the teammates provide tickers.</a:t>
            </a:r>
          </a:p>
          <a:p xmlns:a="http://schemas.openxmlformats.org/drawingml/2006/main">
            <a:r>
              <a:t/>
            </a:r>
          </a:p>
          <a:p xmlns:a="http://schemas.openxmlformats.org/drawingml/2006/main">
            <a:r>
              <a:t>Local source: C:\Users\user\OneDrive\Personal Work Repos\Crypto Trading Strategy Research\algorithmic_trading_strategy_project_brief_execution_roadmap.md</a:t>
            </a:r>
          </a:p>
          <a:p xmlns:a="http://schemas.openxmlformats.org/drawingml/2006/main">
            <a:r>
              <a:t>Local source: C:\Users\user\OneDrive\Personal Work Repos\Crypto Trading Strategy Research\ARCHITECTURE.md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LLM agents may use the same underlying model with separate mandates, tool access and state. To demonstrate agent behaviour, each representative chooses which permitted diagnostic tool to inspect in response to a question. A fixed sequence of prompts is an AI workflow. The numerical strategy engine still runs on schedule if AI is unavailable. AI reporting is the output of these agents, rather than a separate additional agent. An optional reviewer checks the PM memos against saved evidence. Code validates quoted metrics. No connected LLM agent is claimed in the existing scaffold, which currently accepts imported research replies.</a:t>
            </a:r>
          </a:p>
          <a:p xmlns:a="http://schemas.openxmlformats.org/drawingml/2006/main">
            <a:r>
              <a:t/>
            </a:r>
          </a:p>
          <a:p xmlns:a="http://schemas.openxmlformats.org/drawingml/2006/main">
            <a:r>
              <a:t>Local source: C:\Users\user\OneDrive\Personal Work Repos\Crypto Trading Strategy Research\ARCHITECTURE.md</a:t>
            </a:r>
          </a:p>
          <a:p xmlns:a="http://schemas.openxmlformats.org/drawingml/2006/main">
            <a:r>
              <a:t>Source: https://docs.langchain.com/oss/python/langgraph/workflows-agents</a:t>
            </a:r>
          </a:p>
          <a:p xmlns:a="http://schemas.openxmlformats.org/drawingml/2006/main">
            <a:r>
              <a:t>Source: https://waylandz.com/quant-book-en/Lesson-14-LLM-Applications-in-Quant/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messages on this slide illustrate the proposed behaviour. They are not an executed session, observed holdings or measured trading results. In the live demonstration, choose one saved decision day and ask what changed and which proposals deserve a closer check. The Momentum AI decides to inspect a concentration tool, the Pairs AI checks the grouped legs, and the Crypto AI reads why the deterministic signal remained in cash. Show the real tool requests, returned records and concise PM memos. The three representatives may use the same model with separate contexts and allowed tools. The coordinator applies the predeclared allocation policy to quantitative targets. The risk controller checks those targets through code. It has no majority-vote mechanism that allows AI opinions to bypass a limit. An optional reviewer can challenge unsupported statements, while numerical validation remains deterministic.</a:t>
            </a:r>
          </a:p>
          <a:p xmlns:a="http://schemas.openxmlformats.org/drawingml/2006/main">
            <a:r>
              <a:t/>
            </a:r>
          </a:p>
          <a:p xmlns:a="http://schemas.openxmlformats.org/drawingml/2006/main">
            <a:r>
              <a:t>Local source: C:\Users\user\OneDrive\Personal Work Repos\Crypto Trading Strategy Research\ARCHITECTURE.md</a:t>
            </a:r>
          </a:p>
          <a:p xmlns:a="http://schemas.openxmlformats.org/drawingml/2006/main">
            <a:r>
              <a:t>Source: https://docs.langchain.com/oss/python/langgraph/workflows-agents</a:t>
            </a:r>
          </a:p>
          <a:p xmlns:a="http://schemas.openxmlformats.org/drawingml/2006/main">
            <a:r>
              <a:t>Source: https://waylandz.com/quant-book-en/Lesson-14-LLM-Applications-in-Quant/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teammate’s pairs strategy operates daily. The after-close and next-session timing shown here is a proposal, not a verified feature of that strategy. Inspect the actual decision timestamp, update method and fill convention before integration. Inputs must be available at the decision time, and a signal formed from a completed close cannot assume a fill at that same already-observed close. Keep equity sessions and holidays distinct from the crypto calendar. Use a common UTC valuation cutoff, preserve source price timestamps and record approved market-closed carry marks. Confirm momentum frequency. Daily crypto is proposed for the first integrated version.</a:t>
            </a:r>
          </a:p>
          <a:p xmlns:a="http://schemas.openxmlformats.org/drawingml/2006/main">
            <a:r>
              <a:t/>
            </a:r>
          </a:p>
          <a:p xmlns:a="http://schemas.openxmlformats.org/drawingml/2006/main">
            <a:r>
              <a:t>Local source: C:\Users\user\OneDrive\Personal Work Repos\Crypto Trading Strategy Research\algorithmic_trading_strategy_project_brief_execution_roadmap.md</a:t>
            </a:r>
          </a:p>
          <a:p xmlns:a="http://schemas.openxmlformats.org/drawingml/2006/main">
            <a:r>
              <a:t>Source: https://www.nyse.com/trade/hours-calendars</a:t>
            </a:r>
          </a:p>
          <a:p xmlns:a="http://schemas.openxmlformats.org/drawingml/2006/main">
            <a:r>
              <a:t>Source: https://waylandz.com/quant-book-en/Lesson-19-Execution-System/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PM maintains positions, cash, model state, orders and costs in a virtual sleeve ledger. Normalize consolidated reporting to USD and record the conversion used for USDT positions. Short-sale proceeds require a cash and margin policy. The initial paper model simulates sleeve orders separately and charges their respective costs, while reporting consolidated net exposure and sleeve gross exposure. Physical order netting is an extension requiring an attribution rule. Withdraw only unencumbered cash. Resizing a pair must preserve its declared hedge relationship. Each approved intent must reconcile to an execution record before the ledger claims a fill.</a:t>
            </a:r>
          </a:p>
          <a:p xmlns:a="http://schemas.openxmlformats.org/drawingml/2006/main">
            <a:r>
              <a:t/>
            </a:r>
          </a:p>
          <a:p xmlns:a="http://schemas.openxmlformats.org/drawingml/2006/main">
            <a:r>
              <a:t>Local source: C:\Users\user\OneDrive\Personal Work Repos\Crypto Trading Strategy Research\ARCHITECTURE.md</a:t>
            </a:r>
          </a:p>
          <a:p xmlns:a="http://schemas.openxmlformats.org/drawingml/2006/main">
            <a:r>
              <a:t>Source: https://waylandz.com/quant-book-en/Lesson-16-Portfolio-Construction-and-Exposure-Management/</a:t>
            </a:r>
          </a:p>
          <a:p xmlns:a="http://schemas.openxmlformats.org/drawingml/2006/main">
            <a:r>
              <a:t>Source: https://waylandz.com/quant-book-en/Lesson-15-Risk-Control-and-Money-Management/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course brief names the primary performance metrics shown here. Maintain a daily consolidated NAV series and distinct sleeve series, alongside the required daily closing-price file for every included portfolio asset. Each PM reports after-cost performance. Fund dollar P&amp;L reconciles to the sleeves and central cash, with any shared costs charged once. When capital moves between sleeves, use a consistent flow-adjusted return convention or calculate performance before an end-of-period transfer. Report the currency conversion used for USDT positions. The mixed-asset fund needs a declared calendar and annualization policy. On nontrading equity days, mark the last valid equity close with its actual timestamp and market status. Undefined metrics should appear as unavailable. The short October window provides operational evidence with limited statistical precision. These are required outputs and planned calculations, not claimed current fund results.</a:t>
            </a:r>
          </a:p>
          <a:p xmlns:a="http://schemas.openxmlformats.org/drawingml/2006/main">
            <a:r>
              <a:t/>
            </a:r>
          </a:p>
          <a:p xmlns:a="http://schemas.openxmlformats.org/drawingml/2006/main">
            <a:r>
              <a:t>Local source: C:\Users\user\OneDrive\Personal Work Repos\Crypto Trading Strategy Research\algorithmic_trading_strategy_project_brief_execution_roadmap.md</a:t>
            </a:r>
          </a:p>
          <a:p xmlns:a="http://schemas.openxmlformats.org/drawingml/2006/main">
            <a:r>
              <a:t>Source: https://waylandz.com/quant-book-en/Lesson-16-Portfolio-Construction-and-Exposure-Management/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course KPIs include P&amp;L, total and annualized return, Sharpe ratio, maximum drawdown, annualized volatility, win rate, average profit per trade, trade count, holding period, and drawdown frequency and duration. Add PM attribution and exposure to evaluate coordination. Align annualization with the actual return series. A mixed-asset daily fund series needs a declared calendar and valuation policy. Show unavailable statistics when there are no qualifying trades or too few observations. Costs include applicable commissions, slippage and borrowing or funding. Fix allocation policies using development data and preserve the October evaluation history. The AI-on/off comparison tests operations and explanations, not an AI trading-alpha claim.</a:t>
            </a:r>
          </a:p>
          <a:p xmlns:a="http://schemas.openxmlformats.org/drawingml/2006/main">
            <a:r>
              <a:t/>
            </a:r>
          </a:p>
          <a:p xmlns:a="http://schemas.openxmlformats.org/drawingml/2006/main">
            <a:r>
              <a:t>Local source: C:\Users\user\OneDrive\Personal Work Repos\Crypto Trading Strategy Research\algorithmic_trading_strategy_project_brief_execution_roadmap.md</a:t>
            </a:r>
          </a:p>
          <a:p xmlns:a="http://schemas.openxmlformats.org/drawingml/2006/main">
            <a:r>
              <a:t>Source: https://waylandz.com/quant-book-en/Lesson-16-Portfolio-Construction-and-Exposure-Management/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strategy owners provide their assets, cadence, update method and target-position interface. The integration lead owns fund accounting, allocation, risk and execution reconciliation. The reporting and operations lead owns the hosted dashboard, AI trace presentation, scheduled runs and submission outputs. For a four-person team, distribute the latter responsibilities explicitly. Names are not supplied, so this is a proposed role allocation rather than a final individual-contribution statement. A small paid Render deployment can host the dashboard and separate scheduled engine in one service. Persistent disks belong to one service instance, and native Render cron jobs cannot access them. Keep the daily engine independent of dashboard visits. Streamlit Community Cloud is a demo alternative with a separate runner because idle applications hibernate.</a:t>
            </a:r>
          </a:p>
          <a:p xmlns:a="http://schemas.openxmlformats.org/drawingml/2006/main">
            <a:r>
              <a:t/>
            </a:r>
          </a:p>
          <a:p xmlns:a="http://schemas.openxmlformats.org/drawingml/2006/main">
            <a:r>
              <a:t>Local source: C:\Users\user\OneDrive\Personal Work Repos\Crypto Trading Strategy Research\algorithmic_trading_strategy_project_brief_execution_roadmap.md</a:t>
            </a:r>
          </a:p>
          <a:p xmlns:a="http://schemas.openxmlformats.org/drawingml/2006/main">
            <a:r>
              <a:t>Source: https://render.com/docs/disks</a:t>
            </a:r>
          </a:p>
          <a:p xmlns:a="http://schemas.openxmlformats.org/drawingml/2006/main">
            <a:r>
              <a:t>Source: https://docs.streamlit.io/deploy/streamlit-community-cloud/manage-your-app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existing agent architecture is a local crypto prototype. Its execution component records intents without fills, while the separate daily runner performs paper accounting. Direct LLM provider integration is deferred. Holdings currently use non-negative units and USDT cash, so equity calendars, signed pair positions and consolidated USD sleeve accounting need adaptation. The daily BTC/ETH baseline trails its equal-weight validation benchmark. The larger futures research has a documented failed quality gate and remains a research candidate. These are evidence limits, not invented results for the new fund. As of 14 October 2026, the course evaluation window has begun. Preserve existing records, log the new fund’s actual introduction date and label earlier replays or backfills. One application and one authoritative ledger are enough for the first version.</a:t>
            </a:r>
          </a:p>
          <a:p xmlns:a="http://schemas.openxmlformats.org/drawingml/2006/main">
            <a:r>
              <a:t/>
            </a:r>
          </a:p>
          <a:p xmlns:a="http://schemas.openxmlformats.org/drawingml/2006/main">
            <a:r>
              <a:t>Local source: C:\Users\user\OneDrive\Personal Work Repos\Crypto Trading Strategy Research\ARCHITECTURE.md</a:t>
            </a:r>
          </a:p>
          <a:p xmlns:a="http://schemas.openxmlformats.org/drawingml/2006/main">
            <a:r>
              <a:t>Local source: C:\Users\user\OneDrive\Personal Work Repos\Crypto Trading Strategy Research\crypto_agents\models.py</a:t>
            </a:r>
          </a:p>
          <a:p xmlns:a="http://schemas.openxmlformats.org/drawingml/2006/main">
            <a:r>
              <a:t>Local source: C:\Users\user\OneDrive\Personal Work Repos\Crypto Trading Strategy Research\reports\daily_portfolio\research_report.md</a:t>
            </a:r>
          </a:p>
          <a:p xmlns:a="http://schemas.openxmlformats.org/drawingml/2006/main">
            <a:r>
              <a:t>Local source: C:\Users\user\OneDrive\Personal Work Repos\Crypto Trading Strategy Research\freqtrade\reports\2026_million_usdt_quality\million_usdt_quality_report.md</a:t>
            </a:r>
          </a:p>
          <a:p xmlns:a="http://schemas.openxmlformats.org/drawingml/2006/main">
            <a:r>
              <a:t>Local source: C:\Users\user\OneDrive\Personal Work Repos\Crypto Trading Strategy Research\algorithmic_trading_strategy_project_brief_execution_roadmap.md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04d4bbeb4148d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9b3c0d85ecc4cc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03a0d6633e74ff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0b3026c4f8349f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03b379bfa614d3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8c7cb02ec2241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E757CF-49DE-4E01-8937-99EFC51A668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A9AA7E6-24A3-47BC-9255-23DC5F8D2FB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C97012C-C79F-451D-918E-B6A0237640B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BE6238-89AB-4588-BD4E-8A4B1A6B7E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0E11893-850C-4F03-BBA8-A08A95898C4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BE2DA3E-5DDB-412E-8878-8EE5A53266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9F724E2-DFE7-4319-9AFD-766371F6B3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E5E834B-B3E5-4D09-ACDF-719ADFDAEA6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0D210F-5442-4D6C-A50B-B94D2A158E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0880263-F5AC-40C0-B547-835E0468CE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26c1475ff7411c" /><Relationship Type="http://schemas.openxmlformats.org/officeDocument/2006/relationships/slideLayout" Target="/ppt/slideLayouts/slideLayout1.xml" Id="R8286b21918ed4be2" /><Relationship Type="http://schemas.openxmlformats.org/officeDocument/2006/relationships/slideLayout" Target="/ppt/slideLayouts/slideLayout2.xml" Id="R15b1eab2dab14849" /><Relationship Type="http://schemas.openxmlformats.org/officeDocument/2006/relationships/slideLayout" Target="/ppt/slideLayouts/slideLayout3.xml" Id="R13fd492be3f94afc" /><Relationship Type="http://schemas.openxmlformats.org/officeDocument/2006/relationships/slideLayout" Target="/ppt/slideLayouts/slideLayout4.xml" Id="R42c82a71a68a4afd" /><Relationship Type="http://schemas.openxmlformats.org/officeDocument/2006/relationships/slideLayout" Target="/ppt/slideLayouts/slideLayout5.xml" Id="R4d596965d23644ef" /><Relationship Type="http://schemas.openxmlformats.org/officeDocument/2006/relationships/slideLayout" Target="/ppt/slideLayouts/slideLayout6.xml" Id="Rc2ff02d64de143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86b21918ed4be2"/>
    <p:sldLayoutId xmlns:r="http://schemas.openxmlformats.org/officeDocument/2006/relationships" id="2147483650" r:id="R15b1eab2dab14849"/>
    <p:sldLayoutId xmlns:r="http://schemas.openxmlformats.org/officeDocument/2006/relationships" id="2147483651" r:id="R13fd492be3f94afc"/>
    <p:sldLayoutId xmlns:r="http://schemas.openxmlformats.org/officeDocument/2006/relationships" id="2147483652" r:id="R42c82a71a68a4afd"/>
    <p:sldLayoutId xmlns:r="http://schemas.openxmlformats.org/officeDocument/2006/relationships" id="2147483653" r:id="R4d596965d23644ef"/>
    <p:sldLayoutId xmlns:r="http://schemas.openxmlformats.org/officeDocument/2006/relationships" id="2147483654" r:id="Rc2ff02d64de143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c7b5acca65b4ed7" /><Relationship Type="http://schemas.openxmlformats.org/officeDocument/2006/relationships/notesSlide" Target="/ppt/notesSlides/notesSlide1.xml" Id="Rb1647b31347742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9dfda126f9d4bad" /><Relationship Type="http://schemas.openxmlformats.org/officeDocument/2006/relationships/notesSlide" Target="/ppt/notesSlides/notesSlide2.xml" Id="Rfbf2f6fde91d4e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336bf67a1924d25" /><Relationship Type="http://schemas.openxmlformats.org/officeDocument/2006/relationships/chart" Target="/ppt/slides/charts/chart1.xml" Id="Rdab4ec53d3864790" /><Relationship Type="http://schemas.openxmlformats.org/officeDocument/2006/relationships/notesSlide" Target="/ppt/notesSlides/notesSlide3.xml" Id="R586cca71031e44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bdef83df1324c4f" /><Relationship Type="http://schemas.openxmlformats.org/officeDocument/2006/relationships/notesSlide" Target="/ppt/notesSlides/notesSlide4.xml" Id="R97bc55825a144d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e3bf1d84fb145bd" /><Relationship Type="http://schemas.openxmlformats.org/officeDocument/2006/relationships/notesSlide" Target="/ppt/notesSlides/notesSlide5.xml" Id="Rd4851167dbcd4c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bede7b7286f4bcb" /><Relationship Type="http://schemas.openxmlformats.org/officeDocument/2006/relationships/notesSlide" Target="/ppt/notesSlides/notesSlide6.xml" Id="Redbc31971d6e4b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e15d0ec57e74671" /><Relationship Type="http://schemas.openxmlformats.org/officeDocument/2006/relationships/notesSlide" Target="/ppt/notesSlides/notesSlide7.xml" Id="R215f0d8b9364415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be9171dd0d44969" /><Relationship Type="http://schemas.openxmlformats.org/officeDocument/2006/relationships/notesSlide" Target="/ppt/notesSlides/notesSlide8.xml" Id="Ree69fa8576c04e5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503851a8fd94d98" /><Relationship Type="http://schemas.openxmlformats.org/officeDocument/2006/relationships/notesSlide" Target="/ppt/notesSlides/notesSlide9.xml" Id="Rca3f421a90eb4ab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33b6846ea514063" /><Relationship Type="http://schemas.openxmlformats.org/officeDocument/2006/relationships/notesSlide" Target="/ppt/notesSlides/notesSlide10.xml" Id="R11124798ebf148e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065befb02694f87" /><Relationship Type="http://schemas.openxmlformats.org/officeDocument/2006/relationships/notesSlide" Target="/ppt/notesSlides/notesSlide11.xml" Id="R991a52740dd240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f15bc32dbd44116" /><Relationship Type="http://schemas.openxmlformats.org/officeDocument/2006/relationships/notesSlide" Target="/ppt/notesSlides/notesSlide12.xml" Id="Ra53a3ed65119467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Initial capital</c:v>
          </c:tx>
          <c:spPr>
            <a:solidFill xmlns:a="http://schemas.openxmlformats.org/drawingml/2006/main">
              <a:srgbClr val="2864A0"/>
            </a:solidFill>
          </c:spPr>
          <c:invertIfNegative val="0"/>
          <c:dPt>
            <c:idx val="0"/>
            <c:invertIfNegative val="0"/>
            <c:spPr>
              <a:solidFill xmlns:a="http://schemas.openxmlformats.org/drawingml/2006/main">
                <a:srgbClr val="2864A0"/>
              </a:solidFill>
            </c:spPr>
          </c:dPt>
          <c:dPt>
            <c:idx val="1"/>
            <c:invertIfNegative val="0"/>
            <c:spPr>
              <a:solidFill xmlns:a="http://schemas.openxmlformats.org/drawingml/2006/main">
                <a:srgbClr val="087E8B"/>
              </a:solidFill>
            </c:spPr>
          </c:dPt>
          <c:dPt>
            <c:idx val="2"/>
            <c:invertIfNegative val="0"/>
            <c:spPr>
              <a:solidFill xmlns:a="http://schemas.openxmlformats.org/drawingml/2006/main">
                <a:srgbClr val="7757A1"/>
              </a:solidFill>
            </c:spPr>
          </c:dPt>
          <c:dPt>
            <c:idx val="3"/>
            <c:invertIfNegative val="0"/>
            <c:spPr>
              <a:solidFill xmlns:a="http://schemas.openxmlformats.org/drawingml/2006/main">
                <a:srgbClr val="80909B"/>
              </a:solidFill>
            </c:spPr>
          </c:dPt>
          <c:cat>
            <c:strRef>
              <c:f>'Chart Data'!$A$2:$A$5</c:f>
              <c:strCache>
                <c:ptCount val="4"/>
                <c:pt idx="0">
                  <c:v>Momentum</c:v>
                </c:pt>
                <c:pt idx="1">
                  <c:v>Pairs</c:v>
                </c:pt>
                <c:pt idx="2">
                  <c:v>Crypto</c:v>
                </c:pt>
                <c:pt idx="3">
                  <c:v>Cash</c:v>
                </c:pt>
              </c:strCache>
            </c:strRef>
          </c:cat>
          <c:val>
            <c:numRef>
              <c:f>'Chart Data'!$B$2:$B$5</c:f>
              <c:numCache>
                <c:formatCode>0.0</c:formatCode>
                <c:ptCount val="4"/>
                <c:pt idx="0">
                  <c:v>1.5</c:v>
                </c:pt>
                <c:pt idx="1">
                  <c:v>1.5</c:v>
                </c:pt>
                <c:pt idx="2">
                  <c:v>1.5</c:v>
                </c:pt>
                <c:pt idx="3">
                  <c:v>0.5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a:solidFill>
                    <a:srgbClr val="162A3A"/>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516476"/>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62A3A"/>
        </a:solidFill>
      </p:bgPr>
    </p:bg>
    <p:spTree>
      <p:nvGrpSpPr>
        <p:cNvPr id="1" name=""/>
        <p:cNvGrpSpPr/>
        <p:nvPr/>
      </p:nvGrpSpPr>
      <p:grpSpPr>
        <a:xfrm xmlns:a="http://schemas.openxmlformats.org/drawingml/2006/main"/>
      </p:grpSpPr>
      <p:sp>
        <p:nvSpPr>
          <p:cNvPr id="5" name="AI-assisted multi-agent">
            <a:extLst xmlns:a="http://schemas.openxmlformats.org/drawingml/2006/main">
              <a:ext uri="{FF2B5EF4-FFF2-40B4-BE49-F238E27FC236}">
                <a16:creationId xmlns:a16="http://schemas.microsoft.com/office/drawing/2014/main" id="{910EE02E-11EF-4E3F-822F-A73998C8FAE2}"/>
              </a:ext>
            </a:extLst>
          </p:cNvPr>
          <p:cNvSpPr>
            <a:spLocks xmlns:a="http://schemas.openxmlformats.org/drawingml/2006/main" noGrp="1"/>
          </p:cNvSpPr>
          <p:nvPr/>
        </p:nvSpPr>
        <p:spPr>
          <a:xfrm xmlns:a="http://schemas.openxmlformats.org/drawingml/2006/main">
            <a:off x="685800" y="1581150"/>
            <a:ext cx="1047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75" b="1">
                <a:solidFill>
                  <a:srgbClr val="FFFFFF"/>
                </a:solidFill>
                <a:latin typeface="Arial"/>
                <a:ea typeface="Arial"/>
                <a:cs typeface="Arial"/>
              </a:defRPr>
            </a:defPPr>
          </a:lstStyle>
          <a:p xmlns:a="http://schemas.openxmlformats.org/drawingml/2006/main">
            <a:pPr algn="l">
              <a:defRPr sz="4875" b="1">
                <a:solidFill>
                  <a:srgbClr val="FFFFFF"/>
                </a:solidFill>
                <a:latin typeface="Arial"/>
                <a:ea typeface="Arial"/>
                <a:cs typeface="Arial"/>
              </a:defRPr>
            </a:pPr>
            <a:r>
              <a:rPr sz="4875" b="1">
                <a:solidFill>
                  <a:srgbClr val="FFFFFF"/>
                </a:solidFill>
                <a:latin typeface="Arial"/>
                <a:ea typeface="Arial"/>
                <a:cs typeface="Arial"/>
              </a:rPr>
              <a:t>AI-assisted multi-agent</a:t>
            </a:r>
          </a:p>
          <a:p xmlns:a="http://schemas.openxmlformats.org/drawingml/2006/main">
            <a:pPr algn="l">
              <a:defRPr sz="4875" b="1">
                <a:solidFill>
                  <a:srgbClr val="FFFFFF"/>
                </a:solidFill>
                <a:latin typeface="Arial"/>
                <a:ea typeface="Arial"/>
                <a:cs typeface="Arial"/>
              </a:defRPr>
            </a:pPr>
            <a:r>
              <a:rPr sz="4875" b="1">
                <a:solidFill>
                  <a:srgbClr val="FFFFFF"/>
                </a:solidFill>
                <a:latin typeface="Arial"/>
                <a:ea typeface="Arial"/>
                <a:cs typeface="Arial"/>
              </a:rPr>
              <a:t>quantitative fund</a:t>
            </a:r>
          </a:p>
        </p:txBody>
      </p:sp>
      <p:sp>
        <p:nvSpPr>
          <p:cNvPr id="2" name="FE5209 project scope and design">
            <a:extLst xmlns:a="http://schemas.openxmlformats.org/drawingml/2006/main">
              <a:ext uri="{FF2B5EF4-FFF2-40B4-BE49-F238E27FC236}">
                <a16:creationId xmlns:a16="http://schemas.microsoft.com/office/drawing/2014/main" id="{D5C9EABF-7A8A-49B2-BBB8-1E7C4F8E7944}"/>
              </a:ext>
            </a:extLst>
          </p:cNvPr>
          <p:cNvSpPr>
            <a:spLocks xmlns:a="http://schemas.openxmlformats.org/drawingml/2006/main" noGrp="1"/>
          </p:cNvSpPr>
          <p:nvPr/>
        </p:nvSpPr>
        <p:spPr>
          <a:xfrm xmlns:a="http://schemas.openxmlformats.org/drawingml/2006/main">
            <a:off x="685800" y="36861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C9E1E8"/>
                </a:solidFill>
                <a:latin typeface="Arial"/>
                <a:ea typeface="Arial"/>
                <a:cs typeface="Arial"/>
              </a:defRPr>
            </a:defPPr>
          </a:lstStyle>
          <a:p xmlns:a="http://schemas.openxmlformats.org/drawingml/2006/main">
            <a:pPr algn="l">
              <a:defRPr sz="2400" b="0">
                <a:solidFill>
                  <a:srgbClr val="C9E1E8"/>
                </a:solidFill>
                <a:latin typeface="Arial"/>
                <a:ea typeface="Arial"/>
                <a:cs typeface="Arial"/>
              </a:defRPr>
            </a:pPr>
            <a:r>
              <a:rPr sz="2400" b="0">
                <a:solidFill>
                  <a:srgbClr val="C9E1E8"/>
                </a:solidFill>
                <a:latin typeface="Arial"/>
                <a:ea typeface="Arial"/>
                <a:cs typeface="Arial"/>
              </a:rPr>
              <a:t>FE5209 project scope and design</a:t>
            </a:r>
          </a:p>
        </p:txBody>
      </p:sp>
      <p:sp>
        <p:nvSpPr>
          <p:cNvPr id="3" name="Three strategy PMs managing a USD 5m paper fund">
            <a:extLst xmlns:a="http://schemas.openxmlformats.org/drawingml/2006/main">
              <a:ext uri="{FF2B5EF4-FFF2-40B4-BE49-F238E27FC236}">
                <a16:creationId xmlns:a16="http://schemas.microsoft.com/office/drawing/2014/main" id="{E70C18CB-4B06-4A48-B863-49132D973AD2}"/>
              </a:ext>
            </a:extLst>
          </p:cNvPr>
          <p:cNvSpPr>
            <a:spLocks xmlns:a="http://schemas.openxmlformats.org/drawingml/2006/main" noGrp="1"/>
          </p:cNvSpPr>
          <p:nvPr/>
        </p:nvSpPr>
        <p:spPr>
          <a:xfrm xmlns:a="http://schemas.openxmlformats.org/drawingml/2006/main">
            <a:off x="685800" y="441007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FFFFF"/>
                </a:solidFill>
                <a:latin typeface="Arial"/>
                <a:ea typeface="Arial"/>
                <a:cs typeface="Arial"/>
              </a:defRPr>
            </a:defPPr>
          </a:lstStyle>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Three strategy PMs managing a USD 5m paper fund</a:t>
            </a:r>
          </a:p>
        </p:txBody>
      </p:sp>
      <p:sp>
        <p:nvSpPr>
          <p:cNvPr id="4" name="Proposed design">
            <a:extLst xmlns:a="http://schemas.openxmlformats.org/drawingml/2006/main">
              <a:ext uri="{FF2B5EF4-FFF2-40B4-BE49-F238E27FC236}">
                <a16:creationId xmlns:a16="http://schemas.microsoft.com/office/drawing/2014/main" id="{EC3CF2B4-E96A-4F60-90FC-47258CB5F9C4}"/>
              </a:ext>
            </a:extLst>
          </p:cNvPr>
          <p:cNvSpPr>
            <a:spLocks xmlns:a="http://schemas.openxmlformats.org/drawingml/2006/main" noGrp="1"/>
          </p:cNvSpPr>
          <p:nvPr/>
        </p:nvSpPr>
        <p:spPr>
          <a:xfrm xmlns:a="http://schemas.openxmlformats.org/drawingml/2006/main">
            <a:off x="685800" y="5629275"/>
            <a:ext cx="762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9E1E8"/>
                </a:solidFill>
                <a:latin typeface="Arial"/>
                <a:ea typeface="Arial"/>
                <a:cs typeface="Arial"/>
              </a:defRPr>
            </a:defPPr>
          </a:lstStyle>
          <a:p xmlns:a="http://schemas.openxmlformats.org/drawingml/2006/main">
            <a:pPr algn="l">
              <a:defRPr sz="1725" b="0">
                <a:solidFill>
                  <a:srgbClr val="C9E1E8"/>
                </a:solidFill>
                <a:latin typeface="Arial"/>
                <a:ea typeface="Arial"/>
                <a:cs typeface="Arial"/>
              </a:defRPr>
            </a:pPr>
            <a:r>
              <a:rPr sz="1725" b="0">
                <a:solidFill>
                  <a:srgbClr val="C9E1E8"/>
                </a:solidFill>
                <a:latin typeface="Arial"/>
                <a:ea typeface="Arial"/>
                <a:cs typeface="Arial"/>
              </a:rPr>
              <a:t>Proposed design</a:t>
            </a:r>
          </a:p>
          <a:p xmlns:a="http://schemas.openxmlformats.org/drawingml/2006/main">
            <a:pPr algn="l">
              <a:defRPr sz="1725" b="0">
                <a:solidFill>
                  <a:srgbClr val="C9E1E8"/>
                </a:solidFill>
                <a:latin typeface="Arial"/>
                <a:ea typeface="Arial"/>
                <a:cs typeface="Arial"/>
              </a:defRPr>
            </a:pPr>
            <a:r>
              <a:rPr sz="1725" b="0">
                <a:solidFill>
                  <a:srgbClr val="C9E1E8"/>
                </a:solidFill>
                <a:latin typeface="Arial"/>
                <a:ea typeface="Arial"/>
                <a:cs typeface="Arial"/>
              </a:rPr>
              <a:t>14 October 2026</a:t>
            </a:r>
          </a:p>
        </p:txBody>
      </p:sp>
    </p:spTree>
    <p:extLst>
      <p:ext uri="{BB962C8B-B14F-4D97-AF65-F5344CB8AC3E}">
        <p14:creationId xmlns:p14="http://schemas.microsoft.com/office/powerpoint/2010/main" val="15025241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Project scope">
            <a:extLst xmlns:a="http://schemas.openxmlformats.org/drawingml/2006/main">
              <a:ext uri="{FF2B5EF4-FFF2-40B4-BE49-F238E27FC236}">
                <a16:creationId xmlns:a16="http://schemas.microsoft.com/office/drawing/2014/main" id="{911E2EEC-0BF8-403E-A339-DFCC404A179B}"/>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Project scope</a:t>
            </a:r>
          </a:p>
        </p:txBody>
      </p:sp>
      <p:sp>
        <p:nvSpPr>
          <p:cNvPr id="2" name="A portfolio experiment with a visible AI review workflow">
            <a:extLst xmlns:a="http://schemas.openxmlformats.org/drawingml/2006/main">
              <a:ext uri="{FF2B5EF4-FFF2-40B4-BE49-F238E27FC236}">
                <a16:creationId xmlns:a16="http://schemas.microsoft.com/office/drawing/2014/main" id="{EE0FC818-992B-4631-8496-6E37B83F1A45}"/>
              </a:ext>
            </a:extLst>
          </p:cNvPr>
          <p:cNvSpPr>
            <a:spLocks xmlns:a="http://schemas.openxmlformats.org/drawingml/2006/main" noGrp="1"/>
          </p:cNvSpPr>
          <p:nvPr/>
        </p:nvSpPr>
        <p:spPr>
          <a:xfrm xmlns:a="http://schemas.openxmlformats.org/drawingml/2006/main">
            <a:off x="685800" y="11715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A portfolio experiment with a visible AI review workflow</a:t>
            </a:r>
          </a:p>
        </p:txBody>
      </p:sp>
      <p:sp>
        <p:nvSpPr>
          <p:cNvPr id="3" name="02">
            <a:extLst xmlns:a="http://schemas.openxmlformats.org/drawingml/2006/main">
              <a:ext uri="{FF2B5EF4-FFF2-40B4-BE49-F238E27FC236}">
                <a16:creationId xmlns:a16="http://schemas.microsoft.com/office/drawing/2014/main" id="{337C845E-C0A6-41D4-887A-349597FF1B34}"/>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02</a:t>
            </a:r>
          </a:p>
        </p:txBody>
      </p:sp>
      <p:sp>
        <p:nvSpPr>
          <p:cNvPr id="4" name="Course requirements">
            <a:extLst xmlns:a="http://schemas.openxmlformats.org/drawingml/2006/main">
              <a:ext uri="{FF2B5EF4-FFF2-40B4-BE49-F238E27FC236}">
                <a16:creationId xmlns:a16="http://schemas.microsoft.com/office/drawing/2014/main" id="{3ADB18D7-5227-4E2D-B719-E52D7FDE9F49}"/>
              </a:ext>
            </a:extLst>
          </p:cNvPr>
          <p:cNvSpPr>
            <a:spLocks xmlns:a="http://schemas.openxmlformats.org/drawingml/2006/main" noGrp="1"/>
          </p:cNvSpPr>
          <p:nvPr/>
        </p:nvSpPr>
        <p:spPr>
          <a:xfrm xmlns:a="http://schemas.openxmlformats.org/drawingml/2006/main">
            <a:off x="685800" y="195262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62A3A"/>
                </a:solidFill>
                <a:latin typeface="Arial"/>
                <a:ea typeface="Arial"/>
                <a:cs typeface="Arial"/>
              </a:defRPr>
            </a:defPPr>
          </a:lstStyle>
          <a:p xmlns:a="http://schemas.openxmlformats.org/drawingml/2006/main">
            <a:pPr algn="l">
              <a:defRPr sz="2250" b="1">
                <a:solidFill>
                  <a:srgbClr val="162A3A"/>
                </a:solidFill>
                <a:latin typeface="Arial"/>
                <a:ea typeface="Arial"/>
                <a:cs typeface="Arial"/>
              </a:defRPr>
            </a:pPr>
            <a:r>
              <a:rPr sz="2250" b="1">
                <a:solidFill>
                  <a:srgbClr val="162A3A"/>
                </a:solidFill>
                <a:latin typeface="Arial"/>
                <a:ea typeface="Arial"/>
                <a:cs typeface="Arial"/>
              </a:rPr>
              <a:t>Course requirements</a:t>
            </a:r>
          </a:p>
        </p:txBody>
      </p:sp>
      <p:sp>
        <p:nvSpPr>
          <p:cNvPr id="5" name="">
            <a:extLst xmlns:a="http://schemas.openxmlformats.org/drawingml/2006/main">
              <a:ext uri="{FF2B5EF4-FFF2-40B4-BE49-F238E27FC236}">
                <a16:creationId xmlns:a16="http://schemas.microsoft.com/office/drawing/2014/main" id="{9B6D36CA-013D-42F1-918C-A71D0043AB44}"/>
              </a:ext>
            </a:extLst>
          </p:cNvPr>
          <p:cNvSpPr>
            <a:spLocks xmlns:a="http://schemas.openxmlformats.org/drawingml/2006/main" noGrp="1"/>
          </p:cNvSpPr>
          <p:nvPr/>
        </p:nvSpPr>
        <p:spPr>
          <a:xfrm xmlns:a="http://schemas.openxmlformats.org/drawingml/2006/main">
            <a:off x="685800" y="2543175"/>
            <a:ext cx="5048250" cy="281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62A3A"/>
                </a:solidFill>
                <a:latin typeface="Arial"/>
                <a:ea typeface="Arial"/>
                <a:cs typeface="Arial"/>
              </a:defRPr>
            </a:defPPr>
          </a:lstStyle>
          <a:p xmlns:a="http://schemas.openxmlformats.org/drawingml/2006/main">
            <a:pPr marL="228600" indent="-114300" algn="l">
              <a:spcAft>
                <a:spcPts val="1300"/>
              </a:spcAft>
              <a:buChar char="•"/>
              <a:defRPr sz="2025" b="0">
                <a:solidFill>
                  <a:srgbClr val="162A3A"/>
                </a:solidFill>
                <a:latin typeface="Arial"/>
                <a:ea typeface="Arial"/>
                <a:cs typeface="Arial"/>
              </a:defRPr>
            </a:pPr>
            <a:r>
              <a:t>Automated model updates and daily forecasts</a:t>
            </a:r>
          </a:p>
          <a:p xmlns:a="http://schemas.openxmlformats.org/drawingml/2006/main">
            <a:pPr marL="228600" indent="-114300" algn="l">
              <a:spcAft>
                <a:spcPts val="1300"/>
              </a:spcAft>
              <a:buChar char="•"/>
              <a:defRPr sz="2025" b="0">
                <a:solidFill>
                  <a:srgbClr val="162A3A"/>
                </a:solidFill>
                <a:latin typeface="Arial"/>
                <a:ea typeface="Arial"/>
                <a:cs typeface="Arial"/>
              </a:defRPr>
            </a:pPr>
            <a:r>
              <a:t>Mandatory class assets with eligible history</a:t>
            </a:r>
          </a:p>
          <a:p xmlns:a="http://schemas.openxmlformats.org/drawingml/2006/main">
            <a:pPr marL="228600" indent="-114300" algn="l">
              <a:spcAft>
                <a:spcPts val="1300"/>
              </a:spcAft>
              <a:buChar char="•"/>
              <a:defRPr sz="2025" b="0">
                <a:solidFill>
                  <a:srgbClr val="162A3A"/>
                </a:solidFill>
                <a:latin typeface="Arial"/>
                <a:ea typeface="Arial"/>
                <a:cs typeface="Arial"/>
              </a:defRPr>
            </a:pPr>
            <a:r>
              <a:t>Out-of-sample evaluation: 1–23 October 2026</a:t>
            </a:r>
          </a:p>
          <a:p xmlns:a="http://schemas.openxmlformats.org/drawingml/2006/main">
            <a:pPr marL="228600" indent="-114300" algn="l">
              <a:spcAft>
                <a:spcPts val="1300"/>
              </a:spcAft>
              <a:buChar char="•"/>
              <a:defRPr sz="2025" b="0">
                <a:solidFill>
                  <a:srgbClr val="162A3A"/>
                </a:solidFill>
                <a:latin typeface="Arial"/>
                <a:ea typeface="Arial"/>
                <a:cs typeface="Arial"/>
              </a:defRPr>
            </a:pPr>
            <a:r>
              <a:t>Code, closing-price CSV and presentation</a:t>
            </a:r>
          </a:p>
        </p:txBody>
      </p:sp>
      <p:sp>
        <p:nvSpPr>
          <p:cNvPr id="6" name="Proposed first version">
            <a:extLst xmlns:a="http://schemas.openxmlformats.org/drawingml/2006/main">
              <a:ext uri="{FF2B5EF4-FFF2-40B4-BE49-F238E27FC236}">
                <a16:creationId xmlns:a16="http://schemas.microsoft.com/office/drawing/2014/main" id="{DF6B4DB6-FFE9-49B5-B92A-280B17484F33}"/>
              </a:ext>
            </a:extLst>
          </p:cNvPr>
          <p:cNvSpPr>
            <a:spLocks xmlns:a="http://schemas.openxmlformats.org/drawingml/2006/main" noGrp="1"/>
          </p:cNvSpPr>
          <p:nvPr/>
        </p:nvSpPr>
        <p:spPr>
          <a:xfrm xmlns:a="http://schemas.openxmlformats.org/drawingml/2006/main">
            <a:off x="6457950" y="195262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62A3A"/>
                </a:solidFill>
                <a:latin typeface="Arial"/>
                <a:ea typeface="Arial"/>
                <a:cs typeface="Arial"/>
              </a:defRPr>
            </a:defPPr>
          </a:lstStyle>
          <a:p xmlns:a="http://schemas.openxmlformats.org/drawingml/2006/main">
            <a:pPr algn="l">
              <a:defRPr sz="2250" b="1">
                <a:solidFill>
                  <a:srgbClr val="162A3A"/>
                </a:solidFill>
                <a:latin typeface="Arial"/>
                <a:ea typeface="Arial"/>
                <a:cs typeface="Arial"/>
              </a:defRPr>
            </a:pPr>
            <a:r>
              <a:rPr sz="2250" b="1">
                <a:solidFill>
                  <a:srgbClr val="162A3A"/>
                </a:solidFill>
                <a:latin typeface="Arial"/>
                <a:ea typeface="Arial"/>
                <a:cs typeface="Arial"/>
              </a:rPr>
              <a:t>Proposed first version</a:t>
            </a:r>
          </a:p>
        </p:txBody>
      </p:sp>
      <p:sp>
        <p:nvSpPr>
          <p:cNvPr id="7" name="">
            <a:extLst xmlns:a="http://schemas.openxmlformats.org/drawingml/2006/main">
              <a:ext uri="{FF2B5EF4-FFF2-40B4-BE49-F238E27FC236}">
                <a16:creationId xmlns:a16="http://schemas.microsoft.com/office/drawing/2014/main" id="{3809AD80-AA18-4D41-955B-CCBD1853A9C2}"/>
              </a:ext>
            </a:extLst>
          </p:cNvPr>
          <p:cNvSpPr>
            <a:spLocks xmlns:a="http://schemas.openxmlformats.org/drawingml/2006/main" noGrp="1"/>
          </p:cNvSpPr>
          <p:nvPr/>
        </p:nvSpPr>
        <p:spPr>
          <a:xfrm xmlns:a="http://schemas.openxmlformats.org/drawingml/2006/main">
            <a:off x="6457950" y="2543175"/>
            <a:ext cx="5048250" cy="281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62A3A"/>
                </a:solidFill>
                <a:latin typeface="Arial"/>
                <a:ea typeface="Arial"/>
                <a:cs typeface="Arial"/>
              </a:defRPr>
            </a:defPPr>
          </a:lstStyle>
          <a:p xmlns:a="http://schemas.openxmlformats.org/drawingml/2006/main">
            <a:pPr marL="228600" indent="-114300" algn="l">
              <a:spcAft>
                <a:spcPts val="1300"/>
              </a:spcAft>
              <a:buChar char="•"/>
              <a:defRPr sz="2025" b="0">
                <a:solidFill>
                  <a:srgbClr val="162A3A"/>
                </a:solidFill>
                <a:latin typeface="Arial"/>
                <a:ea typeface="Arial"/>
                <a:cs typeface="Arial"/>
              </a:defRPr>
            </a:pPr>
            <a:r>
              <a:t>Three PMs with separate paper ledgers</a:t>
            </a:r>
          </a:p>
          <a:p xmlns:a="http://schemas.openxmlformats.org/drawingml/2006/main">
            <a:pPr marL="228600" indent="-114300" algn="l">
              <a:spcAft>
                <a:spcPts val="1300"/>
              </a:spcAft>
              <a:buChar char="•"/>
              <a:defRPr sz="2025" b="0">
                <a:solidFill>
                  <a:srgbClr val="162A3A"/>
                </a:solidFill>
                <a:latin typeface="Arial"/>
                <a:ea typeface="Arial"/>
                <a:cs typeface="Arial"/>
              </a:defRPr>
            </a:pPr>
            <a:r>
              <a:t>Shared allocation and fund risk controls</a:t>
            </a:r>
          </a:p>
          <a:p xmlns:a="http://schemas.openxmlformats.org/drawingml/2006/main">
            <a:pPr marL="228600" indent="-114300" algn="l">
              <a:spcAft>
                <a:spcPts val="1300"/>
              </a:spcAft>
              <a:buChar char="•"/>
              <a:defRPr sz="2025" b="0">
                <a:solidFill>
                  <a:srgbClr val="162A3A"/>
                </a:solidFill>
                <a:latin typeface="Arial"/>
                <a:ea typeface="Arial"/>
                <a:cs typeface="Arial"/>
              </a:defRPr>
            </a:pPr>
            <a:r>
              <a:t>AI agents inspect tools and cite evidence</a:t>
            </a:r>
          </a:p>
          <a:p xmlns:a="http://schemas.openxmlformats.org/drawingml/2006/main">
            <a:pPr marL="228600" indent="-114300" algn="l">
              <a:spcAft>
                <a:spcPts val="1300"/>
              </a:spcAft>
              <a:buChar char="•"/>
              <a:defRPr sz="2025" b="0">
                <a:solidFill>
                  <a:srgbClr val="162A3A"/>
                </a:solidFill>
                <a:latin typeface="Arial"/>
                <a:ea typeface="Arial"/>
                <a:cs typeface="Arial"/>
              </a:defRPr>
            </a:pPr>
            <a:r>
              <a:t>One hosted application with saved run history</a:t>
            </a:r>
          </a:p>
        </p:txBody>
      </p:sp>
      <p:sp>
        <p:nvSpPr>
          <p:cNvPr id="8" name="Initial capital and execution assumptions need instructor confirmation">
            <a:extLst xmlns:a="http://schemas.openxmlformats.org/drawingml/2006/main">
              <a:ext uri="{FF2B5EF4-FFF2-40B4-BE49-F238E27FC236}">
                <a16:creationId xmlns:a16="http://schemas.microsoft.com/office/drawing/2014/main" id="{840C8589-38F9-49D6-9166-6C34929C414E}"/>
              </a:ext>
            </a:extLst>
          </p:cNvPr>
          <p:cNvSpPr>
            <a:spLocks xmlns:a="http://schemas.openxmlformats.org/drawingml/2006/main" noGrp="1"/>
          </p:cNvSpPr>
          <p:nvPr/>
        </p:nvSpPr>
        <p:spPr>
          <a:xfrm xmlns:a="http://schemas.openxmlformats.org/drawingml/2006/main">
            <a:off x="685800" y="59150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16476"/>
                </a:solidFill>
                <a:latin typeface="Arial"/>
                <a:ea typeface="Arial"/>
                <a:cs typeface="Arial"/>
              </a:defRPr>
            </a:defPPr>
          </a:lstStyle>
          <a:p xmlns:a="http://schemas.openxmlformats.org/drawingml/2006/main">
            <a:pPr algn="l">
              <a:defRPr sz="1725" b="0">
                <a:solidFill>
                  <a:srgbClr val="516476"/>
                </a:solidFill>
                <a:latin typeface="Arial"/>
                <a:ea typeface="Arial"/>
                <a:cs typeface="Arial"/>
              </a:defRPr>
            </a:pPr>
            <a:r>
              <a:rPr sz="1725" b="0">
                <a:solidFill>
                  <a:srgbClr val="516476"/>
                </a:solidFill>
                <a:latin typeface="Arial"/>
                <a:ea typeface="Arial"/>
                <a:cs typeface="Arial"/>
              </a:rPr>
              <a:t>Initial capital and execution assumptions need instructor confirmation</a:t>
            </a:r>
          </a:p>
        </p:txBody>
      </p:sp>
    </p:spTree>
    <p:extLst>
      <p:ext uri="{BB962C8B-B14F-4D97-AF65-F5344CB8AC3E}">
        <p14:creationId xmlns:p14="http://schemas.microsoft.com/office/powerpoint/2010/main" val="87432867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USD 5m fund allocation">
            <a:extLst xmlns:a="http://schemas.openxmlformats.org/drawingml/2006/main">
              <a:ext uri="{FF2B5EF4-FFF2-40B4-BE49-F238E27FC236}">
                <a16:creationId xmlns:a16="http://schemas.microsoft.com/office/drawing/2014/main" id="{25E71EAD-221D-4BC1-BC4A-5EC13016358F}"/>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USD 5m fund allocation</a:t>
            </a:r>
          </a:p>
        </p:txBody>
      </p:sp>
      <p:sp>
        <p:nvSpPr>
          <p:cNvPr id="2" name="Illustrative initial mandates, with USD 0.5m held centrally">
            <a:extLst xmlns:a="http://schemas.openxmlformats.org/drawingml/2006/main">
              <a:ext uri="{FF2B5EF4-FFF2-40B4-BE49-F238E27FC236}">
                <a16:creationId xmlns:a16="http://schemas.microsoft.com/office/drawing/2014/main" id="{5BF97B4F-3662-4BB8-936D-2FD48928ED7C}"/>
              </a:ext>
            </a:extLst>
          </p:cNvPr>
          <p:cNvSpPr>
            <a:spLocks xmlns:a="http://schemas.openxmlformats.org/drawingml/2006/main" noGrp="1"/>
          </p:cNvSpPr>
          <p:nvPr/>
        </p:nvSpPr>
        <p:spPr>
          <a:xfrm xmlns:a="http://schemas.openxmlformats.org/drawingml/2006/main">
            <a:off x="685800" y="11715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Illustrative initial mandates, with USD 0.5m held centrally</a:t>
            </a:r>
          </a:p>
        </p:txBody>
      </p:sp>
      <p:sp>
        <p:nvSpPr>
          <p:cNvPr id="3" name="03">
            <a:extLst xmlns:a="http://schemas.openxmlformats.org/drawingml/2006/main">
              <a:ext uri="{FF2B5EF4-FFF2-40B4-BE49-F238E27FC236}">
                <a16:creationId xmlns:a16="http://schemas.microsoft.com/office/drawing/2014/main" id="{0171EBB9-6E91-4512-8C9D-967C0F71BD42}"/>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03</a:t>
            </a:r>
          </a:p>
        </p:txBody>
      </p:sp>
      <p:graphicFrame>
        <p:nvGraphicFramePr>
          <p:cNvPr id="4" name="">
            <a:extLst xmlns:a="http://schemas.openxmlformats.org/drawingml/2006/main">
              <a:ext uri="{FF2B5EF4-FFF2-40B4-BE49-F238E27FC236}">
                <a16:creationId xmlns:a16="http://schemas.microsoft.com/office/drawing/2014/main" id="{313E77B5-1FBE-4F8C-A44D-D2388D79A3AF}"/>
              </a:ext>
            </a:extLst>
          </p:cNvPr>
          <p:cNvGraphicFramePr/>
          <p:nvPr/>
        </p:nvGraphicFramePr>
        <p:xfrm>
          <a:off xmlns:a="http://schemas.openxmlformats.org/drawingml/2006/main" x="685800" y="1895475"/>
          <a:ext xmlns:a="http://schemas.openxmlformats.org/drawingml/2006/main" cx="5762625" cy="3352800"/>
        </p:xfrm>
        <a:graphic xmlns:a="http://schemas.openxmlformats.org/drawingml/2006/main">
          <a:graphicData uri="http://schemas.openxmlformats.org/drawingml/2006/table">
            <a:tbl>
              <a:tblPr firstRow="1" bandRow="0"/>
              <a:tblGrid>
                <a:gridCol w="2381250"/>
                <a:gridCol w="1809750"/>
                <a:gridCol w="1571625"/>
              </a:tblGrid>
              <a:tr h="558800">
                <a:tc>
                  <a:txBody>
                    <a:bodyPr>
                      <a:noAutofit/>
                    </a:bodyPr>
                    <a:lstStyle/>
                    <a:p>
                      <a:r>
                        <a:rPr sz="1800" b="1">
                          <a:solidFill>
                            <a:srgbClr val="162A3A"/>
                          </a:solidFill>
                          <a:latin typeface="Arial"/>
                          <a:ea typeface="Arial"/>
                          <a:cs typeface="Arial"/>
                        </a:rPr>
                        <a:t>Capital owner</a:t>
                      </a:r>
                    </a:p>
                  </a:txBody>
                  <a:tcPr marL="114300" marR="114300" marT="95250" marB="95250" anchor="ctr">
                    <a:lnL w="6668">
                      <a:solidFill>
                        <a:srgbClr val="D9E2E8"/>
                      </a:solidFill>
                      <a:prstDash val="solid"/>
                    </a:lnL>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00" b="1">
                          <a:solidFill>
                            <a:srgbClr val="162A3A"/>
                          </a:solidFill>
                          <a:latin typeface="Arial"/>
                          <a:ea typeface="Arial"/>
                          <a:cs typeface="Arial"/>
                        </a:rPr>
                        <a:t>USD</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00" b="1">
                          <a:solidFill>
                            <a:srgbClr val="162A3A"/>
                          </a:solidFill>
                          <a:latin typeface="Arial"/>
                          <a:ea typeface="Arial"/>
                          <a:cs typeface="Arial"/>
                        </a:rPr>
                        <a:t>Share</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r>
              <a:tr h="558800">
                <a:tc>
                  <a:txBody>
                    <a:bodyPr>
                      <a:noAutofit/>
                    </a:bodyPr>
                    <a:lstStyle/>
                    <a:p>
                      <a:r>
                        <a:rPr sz="1800" b="0">
                          <a:solidFill>
                            <a:srgbClr val="162A3A"/>
                          </a:solidFill>
                          <a:latin typeface="Arial"/>
                          <a:ea typeface="Arial"/>
                          <a:cs typeface="Arial"/>
                        </a:rPr>
                        <a:t>Momentum PM</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1,500,000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30%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558800">
                <a:tc>
                  <a:txBody>
                    <a:bodyPr>
                      <a:noAutofit/>
                    </a:bodyPr>
                    <a:lstStyle/>
                    <a:p>
                      <a:r>
                        <a:rPr sz="1800" b="0">
                          <a:solidFill>
                            <a:srgbClr val="162A3A"/>
                          </a:solidFill>
                          <a:latin typeface="Arial"/>
                          <a:ea typeface="Arial"/>
                          <a:cs typeface="Arial"/>
                        </a:rPr>
                        <a:t>Pairs PM</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1,500,000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30%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558800">
                <a:tc>
                  <a:txBody>
                    <a:bodyPr>
                      <a:noAutofit/>
                    </a:bodyPr>
                    <a:lstStyle/>
                    <a:p>
                      <a:r>
                        <a:rPr sz="1800" b="0">
                          <a:solidFill>
                            <a:srgbClr val="162A3A"/>
                          </a:solidFill>
                          <a:latin typeface="Arial"/>
                          <a:ea typeface="Arial"/>
                          <a:cs typeface="Arial"/>
                        </a:rPr>
                        <a:t>Crypto PM</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1,500,000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30%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558800">
                <a:tc>
                  <a:txBody>
                    <a:bodyPr>
                      <a:noAutofit/>
                    </a:bodyPr>
                    <a:lstStyle/>
                    <a:p>
                      <a:r>
                        <a:rPr sz="1800" b="0">
                          <a:solidFill>
                            <a:srgbClr val="162A3A"/>
                          </a:solidFill>
                          <a:latin typeface="Arial"/>
                          <a:ea typeface="Arial"/>
                          <a:cs typeface="Arial"/>
                        </a:rPr>
                        <a:t>Central cash</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500,000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10%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558800">
                <a:tc>
                  <a:txBody>
                    <a:bodyPr>
                      <a:noAutofit/>
                    </a:bodyPr>
                    <a:lstStyle/>
                    <a:p>
                      <a:r>
                        <a:rPr sz="1800" b="0">
                          <a:solidFill>
                            <a:srgbClr val="162A3A"/>
                          </a:solidFill>
                          <a:latin typeface="Arial"/>
                          <a:ea typeface="Arial"/>
                          <a:cs typeface="Arial"/>
                        </a:rPr>
                        <a:t>Total fund</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5,000,000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100%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bl>
          </a:graphicData>
        </a:graphic>
      </p:graphicFrame>
      <p:sp>
        <p:nvSpPr>
          <p:cNvPr id="5" name="Initial capital, USD millions">
            <a:extLst xmlns:a="http://schemas.openxmlformats.org/drawingml/2006/main">
              <a:ext uri="{FF2B5EF4-FFF2-40B4-BE49-F238E27FC236}">
                <a16:creationId xmlns:a16="http://schemas.microsoft.com/office/drawing/2014/main" id="{3C58E8A8-EFB2-40CB-A379-524AD4534E86}"/>
              </a:ext>
            </a:extLst>
          </p:cNvPr>
          <p:cNvSpPr>
            <a:spLocks xmlns:a="http://schemas.openxmlformats.org/drawingml/2006/main" noGrp="1"/>
          </p:cNvSpPr>
          <p:nvPr/>
        </p:nvSpPr>
        <p:spPr>
          <a:xfrm xmlns:a="http://schemas.openxmlformats.org/drawingml/2006/main">
            <a:off x="7096125" y="1943100"/>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2A3A"/>
                </a:solidFill>
                <a:latin typeface="Arial"/>
                <a:ea typeface="Arial"/>
                <a:cs typeface="Arial"/>
              </a:defRPr>
            </a:defPPr>
          </a:lstStyle>
          <a:p xmlns:a="http://schemas.openxmlformats.org/drawingml/2006/main">
            <a:pPr algn="l">
              <a:defRPr sz="1950" b="1">
                <a:solidFill>
                  <a:srgbClr val="162A3A"/>
                </a:solidFill>
                <a:latin typeface="Arial"/>
                <a:ea typeface="Arial"/>
                <a:cs typeface="Arial"/>
              </a:defRPr>
            </a:pPr>
            <a:r>
              <a:rPr sz="1950" b="1">
                <a:solidFill>
                  <a:srgbClr val="162A3A"/>
                </a:solidFill>
                <a:latin typeface="Arial"/>
                <a:ea typeface="Arial"/>
                <a:cs typeface="Arial"/>
              </a:rPr>
              <a:t>Initial capital, USD millions</a:t>
            </a:r>
          </a:p>
        </p:txBody>
      </p:sp>
      <p:graphicFrame>
        <p:nvGraphicFramePr>
          <p:cNvPr id="6" name="Chart">
            <a:extLst xmlns:a="http://schemas.openxmlformats.org/drawingml/2006/main">
              <a:ext uri="{FF2B5EF4-FFF2-40B4-BE49-F238E27FC236}">
                <a16:creationId xmlns:a16="http://schemas.microsoft.com/office/drawing/2014/main" id="{B751C4A8-212F-4A92-973A-348B1F4B2346}"/>
              </a:ext>
            </a:extLst>
          </p:cNvPr>
          <p:cNvGraphicFramePr/>
          <p:nvPr/>
        </p:nvGraphicFramePr>
        <p:xfrm>
          <a:off xmlns:a="http://schemas.openxmlformats.org/drawingml/2006/main" x="7000875" y="2466975"/>
          <a:ext xmlns:a="http://schemas.openxmlformats.org/drawingml/2006/main" cx="4505325" cy="2781300"/>
        </p:xfrm>
        <a:graphic xmlns:a="http://schemas.openxmlformats.org/drawingml/2006/main">
          <a:graphicData uri="http://schemas.openxmlformats.org/drawingml/2006/chart">
            <c:chart xmlns:r="http://schemas.openxmlformats.org/officeDocument/2006/relationships" xmlns:c="http://schemas.openxmlformats.org/drawingml/2006/chart" r:id="Rdab4ec53d3864790"/>
          </a:graphicData>
        </a:graphic>
      </p:graphicFrame>
      <p:sp>
        <p:nvSpPr>
          <p:cNvPr id="7" name="The baseline keeps capital in each sleeve. Returns cause fund weights ">
            <a:extLst xmlns:a="http://schemas.openxmlformats.org/drawingml/2006/main">
              <a:ext uri="{FF2B5EF4-FFF2-40B4-BE49-F238E27FC236}">
                <a16:creationId xmlns:a16="http://schemas.microsoft.com/office/drawing/2014/main" id="{06CA0178-35A1-4640-A64E-4F84EB291BFA}"/>
              </a:ext>
            </a:extLst>
          </p:cNvPr>
          <p:cNvSpPr>
            <a:spLocks xmlns:a="http://schemas.openxmlformats.org/drawingml/2006/main" noGrp="1"/>
          </p:cNvSpPr>
          <p:nvPr/>
        </p:nvSpPr>
        <p:spPr>
          <a:xfrm xmlns:a="http://schemas.openxmlformats.org/drawingml/2006/main">
            <a:off x="685800" y="56673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62A3A"/>
                </a:solidFill>
                <a:latin typeface="Arial"/>
                <a:ea typeface="Arial"/>
                <a:cs typeface="Arial"/>
              </a:defRPr>
            </a:defPPr>
          </a:lstStyle>
          <a:p xmlns:a="http://schemas.openxmlformats.org/drawingml/2006/main">
            <a:pPr algn="l">
              <a:defRPr sz="1875" b="0">
                <a:solidFill>
                  <a:srgbClr val="162A3A"/>
                </a:solidFill>
                <a:latin typeface="Arial"/>
                <a:ea typeface="Arial"/>
                <a:cs typeface="Arial"/>
              </a:defRPr>
            </a:pPr>
            <a:r>
              <a:rPr sz="1875" b="0">
                <a:solidFill>
                  <a:srgbClr val="162A3A"/>
                </a:solidFill>
                <a:latin typeface="Arial"/>
                <a:ea typeface="Arial"/>
                <a:cs typeface="Arial"/>
              </a:rPr>
              <a:t>The baseline keeps capital in each sleeve. Returns cause fund weights to drift.</a:t>
            </a:r>
          </a:p>
        </p:txBody>
      </p:sp>
      <p:sp>
        <p:nvSpPr>
          <p:cNvPr id="8" name="Equal initial capital can produce different risk. Each PM can retain c">
            <a:extLst xmlns:a="http://schemas.openxmlformats.org/drawingml/2006/main">
              <a:ext uri="{FF2B5EF4-FFF2-40B4-BE49-F238E27FC236}">
                <a16:creationId xmlns:a16="http://schemas.microsoft.com/office/drawing/2014/main" id="{A0F08721-DD55-47F8-BE01-357E26287373}"/>
              </a:ext>
            </a:extLst>
          </p:cNvPr>
          <p:cNvSpPr>
            <a:spLocks xmlns:a="http://schemas.openxmlformats.org/drawingml/2006/main" noGrp="1"/>
          </p:cNvSpPr>
          <p:nvPr/>
        </p:nvSpPr>
        <p:spPr>
          <a:xfrm xmlns:a="http://schemas.openxmlformats.org/drawingml/2006/main">
            <a:off x="685800" y="6105525"/>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16476"/>
                </a:solidFill>
                <a:latin typeface="Arial"/>
                <a:ea typeface="Arial"/>
                <a:cs typeface="Arial"/>
              </a:defRPr>
            </a:defPPr>
          </a:lstStyle>
          <a:p xmlns:a="http://schemas.openxmlformats.org/drawingml/2006/main">
            <a:pPr algn="l">
              <a:defRPr sz="1725" b="0">
                <a:solidFill>
                  <a:srgbClr val="516476"/>
                </a:solidFill>
                <a:latin typeface="Arial"/>
                <a:ea typeface="Arial"/>
                <a:cs typeface="Arial"/>
              </a:defRPr>
            </a:pPr>
            <a:r>
              <a:rPr sz="1725" b="0">
                <a:solidFill>
                  <a:srgbClr val="516476"/>
                </a:solidFill>
                <a:latin typeface="Arial"/>
                <a:ea typeface="Arial"/>
                <a:cs typeface="Arial"/>
              </a:rPr>
              <a:t>Equal initial capital can produce different risk. Each PM can retain cash.</a:t>
            </a:r>
          </a:p>
        </p:txBody>
      </p:sp>
    </p:spTree>
    <p:extLst>
      <p:ext uri="{BB962C8B-B14F-4D97-AF65-F5344CB8AC3E}">
        <p14:creationId xmlns:p14="http://schemas.microsoft.com/office/powerpoint/2010/main" val="16797112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Each PM manages its own portfolio">
            <a:extLst xmlns:a="http://schemas.openxmlformats.org/drawingml/2006/main">
              <a:ext uri="{FF2B5EF4-FFF2-40B4-BE49-F238E27FC236}">
                <a16:creationId xmlns:a16="http://schemas.microsoft.com/office/drawing/2014/main" id="{E1FB05C1-A498-4640-B49B-0A3F13742DDF}"/>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Each PM manages its own portfolio</a:t>
            </a:r>
          </a:p>
        </p:txBody>
      </p:sp>
      <p:sp>
        <p:nvSpPr>
          <p:cNvPr id="2" name="A capital mandate gives each strategy an accountable virtual account">
            <a:extLst xmlns:a="http://schemas.openxmlformats.org/drawingml/2006/main">
              <a:ext uri="{FF2B5EF4-FFF2-40B4-BE49-F238E27FC236}">
                <a16:creationId xmlns:a16="http://schemas.microsoft.com/office/drawing/2014/main" id="{AC4BBA27-B3FE-49DD-965B-D8C706F8D7FE}"/>
              </a:ext>
            </a:extLst>
          </p:cNvPr>
          <p:cNvSpPr>
            <a:spLocks xmlns:a="http://schemas.openxmlformats.org/drawingml/2006/main" noGrp="1"/>
          </p:cNvSpPr>
          <p:nvPr/>
        </p:nvSpPr>
        <p:spPr>
          <a:xfrm xmlns:a="http://schemas.openxmlformats.org/drawingml/2006/main">
            <a:off x="685800" y="11715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A capital mandate gives each strategy an accountable virtual account</a:t>
            </a:r>
          </a:p>
        </p:txBody>
      </p:sp>
      <p:sp>
        <p:nvSpPr>
          <p:cNvPr id="3" name="04">
            <a:extLst xmlns:a="http://schemas.openxmlformats.org/drawingml/2006/main">
              <a:ext uri="{FF2B5EF4-FFF2-40B4-BE49-F238E27FC236}">
                <a16:creationId xmlns:a16="http://schemas.microsoft.com/office/drawing/2014/main" id="{E906ACA7-A960-49DC-8535-243741AB8ABC}"/>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12F75AF0-27E5-4BC1-8EA9-4207FB527067}"/>
              </a:ext>
            </a:extLst>
          </p:cNvPr>
          <p:cNvGraphicFramePr/>
          <p:nvPr/>
        </p:nvGraphicFramePr>
        <p:xfrm>
          <a:off xmlns:a="http://schemas.openxmlformats.org/drawingml/2006/main" x="685800" y="1924050"/>
          <a:ext xmlns:a="http://schemas.openxmlformats.org/drawingml/2006/main" cx="10820400" cy="2857500"/>
        </p:xfrm>
        <a:graphic xmlns:a="http://schemas.openxmlformats.org/drawingml/2006/main">
          <a:graphicData uri="http://schemas.openxmlformats.org/drawingml/2006/table">
            <a:tbl>
              <a:tblPr firstRow="1" bandRow="0"/>
              <a:tblGrid>
                <a:gridCol w="2524125"/>
                <a:gridCol w="5819775"/>
                <a:gridCol w="2476500"/>
              </a:tblGrid>
              <a:tr h="714375">
                <a:tc>
                  <a:txBody>
                    <a:bodyPr>
                      <a:noAutofit/>
                    </a:bodyPr>
                    <a:lstStyle/>
                    <a:p>
                      <a:r>
                        <a:rPr sz="1875" b="1">
                          <a:solidFill>
                            <a:srgbClr val="162A3A"/>
                          </a:solidFill>
                          <a:latin typeface="Arial"/>
                          <a:ea typeface="Arial"/>
                          <a:cs typeface="Arial"/>
                        </a:rPr>
                        <a:t>PM</a:t>
                      </a:r>
                    </a:p>
                  </a:txBody>
                  <a:tcPr marL="114300" marR="114300" marT="95250" marB="95250" anchor="ctr">
                    <a:lnL w="6668">
                      <a:solidFill>
                        <a:srgbClr val="D9E2E8"/>
                      </a:solidFill>
                      <a:prstDash val="solid"/>
                    </a:lnL>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75" b="1">
                          <a:solidFill>
                            <a:srgbClr val="162A3A"/>
                          </a:solidFill>
                          <a:latin typeface="Arial"/>
                          <a:ea typeface="Arial"/>
                          <a:cs typeface="Arial"/>
                        </a:rPr>
                        <a:t>Strategy responsibility</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75" b="1">
                          <a:solidFill>
                            <a:srgbClr val="162A3A"/>
                          </a:solidFill>
                          <a:latin typeface="Arial"/>
                          <a:ea typeface="Arial"/>
                          <a:cs typeface="Arial"/>
                        </a:rPr>
                        <a:t>Cadence</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r>
              <a:tr h="714375">
                <a:tc>
                  <a:txBody>
                    <a:bodyPr>
                      <a:noAutofit/>
                    </a:bodyPr>
                    <a:lstStyle/>
                    <a:p>
                      <a:r>
                        <a:rPr sz="1875" b="0">
                          <a:solidFill>
                            <a:srgbClr val="162A3A"/>
                          </a:solidFill>
                          <a:latin typeface="Arial"/>
                          <a:ea typeface="Arial"/>
                          <a:cs typeface="Arial"/>
                        </a:rPr>
                        <a:t>Equity momentum</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Run the teammate’s stock-selection rule</a:t>
                      </a:r>
                    </a:p>
                    <a:p>
                      <a:r>
                        <a:rPr sz="1875" b="0">
                          <a:solidFill>
                            <a:srgbClr val="162A3A"/>
                          </a:solidFill>
                          <a:latin typeface="Arial"/>
                          <a:ea typeface="Arial"/>
                          <a:cs typeface="Arial"/>
                        </a:rPr>
                        <a:t>and maintain target equity holdings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To confirm</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714375">
                <a:tc>
                  <a:txBody>
                    <a:bodyPr>
                      <a:noAutofit/>
                    </a:bodyPr>
                    <a:lstStyle/>
                    <a:p>
                      <a:r>
                        <a:rPr sz="1875" b="0">
                          <a:solidFill>
                            <a:srgbClr val="162A3A"/>
                          </a:solidFill>
                          <a:latin typeface="Arial"/>
                          <a:ea typeface="Arial"/>
                          <a:cs typeface="Arial"/>
                        </a:rPr>
                        <a:t>Pairs trading</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Run the teammate’s paired-position rule</a:t>
                      </a:r>
                    </a:p>
                    <a:p>
                      <a:r>
                        <a:rPr sz="1875" b="0">
                          <a:solidFill>
                            <a:srgbClr val="162A3A"/>
                          </a:solidFill>
                          <a:latin typeface="Arial"/>
                          <a:ea typeface="Arial"/>
                          <a:cs typeface="Arial"/>
                        </a:rPr>
                        <a:t>and preserve the relationship between legs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Daily confirmed</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714375">
                <a:tc>
                  <a:txBody>
                    <a:bodyPr>
                      <a:noAutofit/>
                    </a:bodyPr>
                    <a:lstStyle/>
                    <a:p>
                      <a:r>
                        <a:rPr sz="1875" b="0">
                          <a:solidFill>
                            <a:srgbClr val="162A3A"/>
                          </a:solidFill>
                          <a:latin typeface="Arial"/>
                          <a:ea typeface="Arial"/>
                          <a:cs typeface="Arial"/>
                        </a:rPr>
                        <a:t>Crypto</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Run the selected crypto strategy</a:t>
                      </a:r>
                    </a:p>
                    <a:p>
                      <a:r>
                        <a:rPr sz="1875" b="0">
                          <a:solidFill>
                            <a:srgbClr val="162A3A"/>
                          </a:solidFill>
                          <a:latin typeface="Arial"/>
                          <a:ea typeface="Arial"/>
                          <a:cs typeface="Arial"/>
                        </a:rPr>
                        <a:t>and manage exposure or cash</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Daily proposed</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bl>
          </a:graphicData>
        </a:graphic>
      </p:graphicFrame>
      <p:sp>
        <p:nvSpPr>
          <p:cNvPr id="5" name="Every PM tracks cash, positions, model state and net performance">
            <a:extLst xmlns:a="http://schemas.openxmlformats.org/drawingml/2006/main">
              <a:ext uri="{FF2B5EF4-FFF2-40B4-BE49-F238E27FC236}">
                <a16:creationId xmlns:a16="http://schemas.microsoft.com/office/drawing/2014/main" id="{B42BE79F-6E7F-4632-9F5B-7E00E2E9A93B}"/>
              </a:ext>
            </a:extLst>
          </p:cNvPr>
          <p:cNvSpPr>
            <a:spLocks xmlns:a="http://schemas.openxmlformats.org/drawingml/2006/main" noGrp="1"/>
          </p:cNvSpPr>
          <p:nvPr/>
        </p:nvSpPr>
        <p:spPr>
          <a:xfrm xmlns:a="http://schemas.openxmlformats.org/drawingml/2006/main">
            <a:off x="685800" y="52197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E8B"/>
                </a:solidFill>
                <a:latin typeface="Arial"/>
                <a:ea typeface="Arial"/>
                <a:cs typeface="Arial"/>
              </a:defRPr>
            </a:defPPr>
          </a:lstStyle>
          <a:p xmlns:a="http://schemas.openxmlformats.org/drawingml/2006/main">
            <a:pPr algn="l">
              <a:defRPr sz="2175" b="1">
                <a:solidFill>
                  <a:srgbClr val="087E8B"/>
                </a:solidFill>
                <a:latin typeface="Arial"/>
                <a:ea typeface="Arial"/>
                <a:cs typeface="Arial"/>
              </a:defRPr>
            </a:pPr>
            <a:r>
              <a:rPr sz="2175" b="1">
                <a:solidFill>
                  <a:srgbClr val="087E8B"/>
                </a:solidFill>
                <a:latin typeface="Arial"/>
                <a:ea typeface="Arial"/>
                <a:cs typeface="Arial"/>
              </a:rPr>
              <a:t>Every PM tracks cash, positions, model state and net performance</a:t>
            </a:r>
          </a:p>
        </p:txBody>
      </p:sp>
      <p:sp>
        <p:nvSpPr>
          <p:cNvPr id="6" name="Common proposal: decision time, input cutoff, model version, target ho">
            <a:extLst xmlns:a="http://schemas.openxmlformats.org/drawingml/2006/main">
              <a:ext uri="{FF2B5EF4-FFF2-40B4-BE49-F238E27FC236}">
                <a16:creationId xmlns:a16="http://schemas.microsoft.com/office/drawing/2014/main" id="{A7A78D35-AC10-426B-B51F-AD794E1C2BFB}"/>
              </a:ext>
            </a:extLst>
          </p:cNvPr>
          <p:cNvSpPr>
            <a:spLocks xmlns:a="http://schemas.openxmlformats.org/drawingml/2006/main" noGrp="1"/>
          </p:cNvSpPr>
          <p:nvPr/>
        </p:nvSpPr>
        <p:spPr>
          <a:xfrm xmlns:a="http://schemas.openxmlformats.org/drawingml/2006/main">
            <a:off x="685800" y="57912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62A3A"/>
                </a:solidFill>
                <a:latin typeface="Arial"/>
                <a:ea typeface="Arial"/>
                <a:cs typeface="Arial"/>
              </a:defRPr>
            </a:defPPr>
          </a:lstStyle>
          <a:p xmlns:a="http://schemas.openxmlformats.org/drawingml/2006/main">
            <a:pPr algn="l">
              <a:defRPr sz="1875" b="0">
                <a:solidFill>
                  <a:srgbClr val="162A3A"/>
                </a:solidFill>
                <a:latin typeface="Arial"/>
                <a:ea typeface="Arial"/>
                <a:cs typeface="Arial"/>
              </a:defRPr>
            </a:pPr>
            <a:r>
              <a:rPr sz="1875" b="0">
                <a:solidFill>
                  <a:srgbClr val="162A3A"/>
                </a:solidFill>
                <a:latin typeface="Arial"/>
                <a:ea typeface="Arial"/>
                <a:cs typeface="Arial"/>
              </a:rPr>
              <a:t>Common proposal: decision time, input cutoff, model version, target holdings and reason codes</a:t>
            </a:r>
          </a:p>
        </p:txBody>
      </p:sp>
    </p:spTree>
    <p:extLst>
      <p:ext uri="{BB962C8B-B14F-4D97-AF65-F5344CB8AC3E}">
        <p14:creationId xmlns:p14="http://schemas.microsoft.com/office/powerpoint/2010/main" val="107938870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he multi-AI contribution">
            <a:extLst xmlns:a="http://schemas.openxmlformats.org/drawingml/2006/main">
              <a:ext uri="{FF2B5EF4-FFF2-40B4-BE49-F238E27FC236}">
                <a16:creationId xmlns:a16="http://schemas.microsoft.com/office/drawing/2014/main" id="{C11BD436-8AD0-4403-B93B-D2F2DACF19A9}"/>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The multi-AI contribution</a:t>
            </a:r>
          </a:p>
        </p:txBody>
      </p:sp>
      <p:sp>
        <p:nvSpPr>
          <p:cNvPr id="2" name="Each PM combines its existing strategy with a planned tool-using AI re">
            <a:extLst xmlns:a="http://schemas.openxmlformats.org/drawingml/2006/main">
              <a:ext uri="{FF2B5EF4-FFF2-40B4-BE49-F238E27FC236}">
                <a16:creationId xmlns:a16="http://schemas.microsoft.com/office/drawing/2014/main" id="{B8C3744E-950D-4637-964C-D2D731EFFB5C}"/>
              </a:ext>
            </a:extLst>
          </p:cNvPr>
          <p:cNvSpPr>
            <a:spLocks xmlns:a="http://schemas.openxmlformats.org/drawingml/2006/main" noGrp="1"/>
          </p:cNvSpPr>
          <p:nvPr/>
        </p:nvSpPr>
        <p:spPr>
          <a:xfrm xmlns:a="http://schemas.openxmlformats.org/drawingml/2006/main">
            <a:off x="685800" y="11715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Each PM combines its existing strategy with a planned tool-using AI representative</a:t>
            </a:r>
          </a:p>
        </p:txBody>
      </p:sp>
      <p:sp>
        <p:nvSpPr>
          <p:cNvPr id="3" name="05">
            <a:extLst xmlns:a="http://schemas.openxmlformats.org/drawingml/2006/main">
              <a:ext uri="{FF2B5EF4-FFF2-40B4-BE49-F238E27FC236}">
                <a16:creationId xmlns:a16="http://schemas.microsoft.com/office/drawing/2014/main" id="{EA81147E-1CC2-4B83-9C15-899B9BB21BF3}"/>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05</a:t>
            </a:r>
          </a:p>
        </p:txBody>
      </p:sp>
      <p:graphicFrame>
        <p:nvGraphicFramePr>
          <p:cNvPr id="4" name="">
            <a:extLst xmlns:a="http://schemas.openxmlformats.org/drawingml/2006/main">
              <a:ext uri="{FF2B5EF4-FFF2-40B4-BE49-F238E27FC236}">
                <a16:creationId xmlns:a16="http://schemas.microsoft.com/office/drawing/2014/main" id="{FFED02C6-FD10-44B3-9D47-2F004DD9A317}"/>
              </a:ext>
            </a:extLst>
          </p:cNvPr>
          <p:cNvGraphicFramePr/>
          <p:nvPr/>
        </p:nvGraphicFramePr>
        <p:xfrm>
          <a:off xmlns:a="http://schemas.openxmlformats.org/drawingml/2006/main" x="685800" y="1924050"/>
          <a:ext xmlns:a="http://schemas.openxmlformats.org/drawingml/2006/main" cx="10820400" cy="3048000"/>
        </p:xfrm>
        <a:graphic xmlns:a="http://schemas.openxmlformats.org/drawingml/2006/main">
          <a:graphicData uri="http://schemas.openxmlformats.org/drawingml/2006/table">
            <a:tbl>
              <a:tblPr firstRow="1" bandRow="0"/>
              <a:tblGrid>
                <a:gridCol w="2476500"/>
                <a:gridCol w="4238625"/>
                <a:gridCol w="4105275"/>
              </a:tblGrid>
              <a:tr h="762000">
                <a:tc>
                  <a:txBody>
                    <a:bodyPr>
                      <a:noAutofit/>
                    </a:bodyPr>
                    <a:lstStyle/>
                    <a:p>
                      <a:r>
                        <a:rPr sz="1875" b="1">
                          <a:solidFill>
                            <a:srgbClr val="162A3A"/>
                          </a:solidFill>
                          <a:latin typeface="Arial"/>
                          <a:ea typeface="Arial"/>
                          <a:cs typeface="Arial"/>
                        </a:rPr>
                        <a:t>AI representative</a:t>
                      </a:r>
                    </a:p>
                  </a:txBody>
                  <a:tcPr marL="114300" marR="114300" marT="95250" marB="95250" anchor="ctr">
                    <a:lnL w="6668">
                      <a:solidFill>
                        <a:srgbClr val="D9E2E8"/>
                      </a:solidFill>
                      <a:prstDash val="solid"/>
                    </a:lnL>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75" b="1">
                          <a:solidFill>
                            <a:srgbClr val="162A3A"/>
                          </a:solidFill>
                          <a:latin typeface="Arial"/>
                          <a:ea typeface="Arial"/>
                          <a:cs typeface="Arial"/>
                        </a:rPr>
                        <a:t>Diagnostic tools</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75" b="1">
                          <a:solidFill>
                            <a:srgbClr val="162A3A"/>
                          </a:solidFill>
                          <a:latin typeface="Arial"/>
                          <a:ea typeface="Arial"/>
                          <a:cs typeface="Arial"/>
                        </a:rPr>
                        <a:t>Evidence-linked output</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r>
              <a:tr h="762000">
                <a:tc>
                  <a:txBody>
                    <a:bodyPr>
                      <a:noAutofit/>
                    </a:bodyPr>
                    <a:lstStyle/>
                    <a:p>
                      <a:r>
                        <a:rPr sz="1875" b="0">
                          <a:solidFill>
                            <a:srgbClr val="162A3A"/>
                          </a:solidFill>
                          <a:latin typeface="Arial"/>
                          <a:ea typeface="Arial"/>
                          <a:cs typeface="Arial"/>
                        </a:rPr>
                        <a:t>Momentum PM AI</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Read rankings, holdings</a:t>
                      </a:r>
                    </a:p>
                    <a:p>
                      <a:r>
                        <a:rPr sz="1875" b="0">
                          <a:solidFill>
                            <a:srgbClr val="162A3A"/>
                          </a:solidFill>
                          <a:latin typeface="Arial"/>
                          <a:ea typeface="Arial"/>
                          <a:cs typeface="Arial"/>
                        </a:rPr>
                        <a:t>and sector exposure</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Explain selections and</a:t>
                      </a:r>
                    </a:p>
                    <a:p>
                      <a:r>
                        <a:rPr sz="1875" b="0">
                          <a:solidFill>
                            <a:srgbClr val="162A3A"/>
                          </a:solidFill>
                          <a:latin typeface="Arial"/>
                          <a:ea typeface="Arial"/>
                          <a:cs typeface="Arial"/>
                        </a:rPr>
                        <a:t>concentration concerns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762000">
                <a:tc>
                  <a:txBody>
                    <a:bodyPr>
                      <a:noAutofit/>
                    </a:bodyPr>
                    <a:lstStyle/>
                    <a:p>
                      <a:r>
                        <a:rPr sz="1875" b="0">
                          <a:solidFill>
                            <a:srgbClr val="162A3A"/>
                          </a:solidFill>
                          <a:latin typeface="Arial"/>
                          <a:ea typeface="Arial"/>
                          <a:cs typeface="Arial"/>
                        </a:rPr>
                        <a:t>Pairs PM AI</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Read daily spread signals,</a:t>
                      </a:r>
                    </a:p>
                    <a:p>
                      <a:r>
                        <a:rPr sz="1875" b="0">
                          <a:solidFill>
                            <a:srgbClr val="162A3A"/>
                          </a:solidFill>
                          <a:latin typeface="Arial"/>
                          <a:ea typeface="Arial"/>
                          <a:cs typeface="Arial"/>
                        </a:rPr>
                        <a:t>hedge ratios and pair health</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Explain both legs and</a:t>
                      </a:r>
                    </a:p>
                    <a:p>
                      <a:r>
                        <a:rPr sz="1875" b="0">
                          <a:solidFill>
                            <a:srgbClr val="162A3A"/>
                          </a:solidFill>
                          <a:latin typeface="Arial"/>
                          <a:ea typeface="Arial"/>
                          <a:cs typeface="Arial"/>
                        </a:rPr>
                        <a:t>relationship concerns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762000">
                <a:tc>
                  <a:txBody>
                    <a:bodyPr>
                      <a:noAutofit/>
                    </a:bodyPr>
                    <a:lstStyle/>
                    <a:p>
                      <a:r>
                        <a:rPr sz="1875" b="0">
                          <a:solidFill>
                            <a:srgbClr val="162A3A"/>
                          </a:solidFill>
                          <a:latin typeface="Arial"/>
                          <a:ea typeface="Arial"/>
                          <a:cs typeface="Arial"/>
                        </a:rPr>
                        <a:t>Crypto PM AI</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Read signals, volatility,</a:t>
                      </a:r>
                    </a:p>
                    <a:p>
                      <a:r>
                        <a:rPr sz="1875" b="0">
                          <a:solidFill>
                            <a:srgbClr val="162A3A"/>
                          </a:solidFill>
                          <a:latin typeface="Arial"/>
                          <a:ea typeface="Arial"/>
                          <a:cs typeface="Arial"/>
                        </a:rPr>
                        <a:t>liquidity and trading costs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Explain exposure or cash</a:t>
                      </a:r>
                    </a:p>
                    <a:p>
                      <a:r>
                        <a:rPr sz="1875" b="0">
                          <a:solidFill>
                            <a:srgbClr val="162A3A"/>
                          </a:solidFill>
                          <a:latin typeface="Arial"/>
                          <a:ea typeface="Arial"/>
                          <a:cs typeface="Arial"/>
                        </a:rPr>
                        <a:t>and data concerns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bl>
          </a:graphicData>
        </a:graphic>
      </p:graphicFrame>
      <p:sp>
        <p:nvSpPr>
          <p:cNvPr id="5" name="AI chooses investigations and writes PM memos">
            <a:extLst xmlns:a="http://schemas.openxmlformats.org/drawingml/2006/main">
              <a:ext uri="{FF2B5EF4-FFF2-40B4-BE49-F238E27FC236}">
                <a16:creationId xmlns:a16="http://schemas.microsoft.com/office/drawing/2014/main" id="{F0076FBE-AAC2-4283-8D87-429E29FC6A0C}"/>
              </a:ext>
            </a:extLst>
          </p:cNvPr>
          <p:cNvSpPr>
            <a:spLocks xmlns:a="http://schemas.openxmlformats.org/drawingml/2006/main" noGrp="1"/>
          </p:cNvSpPr>
          <p:nvPr/>
        </p:nvSpPr>
        <p:spPr>
          <a:xfrm xmlns:a="http://schemas.openxmlformats.org/drawingml/2006/main">
            <a:off x="685800" y="53816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E8B"/>
                </a:solidFill>
                <a:latin typeface="Arial"/>
                <a:ea typeface="Arial"/>
                <a:cs typeface="Arial"/>
              </a:defRPr>
            </a:defPPr>
          </a:lstStyle>
          <a:p xmlns:a="http://schemas.openxmlformats.org/drawingml/2006/main">
            <a:pPr algn="l">
              <a:defRPr sz="2175" b="1">
                <a:solidFill>
                  <a:srgbClr val="087E8B"/>
                </a:solidFill>
                <a:latin typeface="Arial"/>
                <a:ea typeface="Arial"/>
                <a:cs typeface="Arial"/>
              </a:defRPr>
            </a:pPr>
            <a:r>
              <a:rPr sz="2175" b="1">
                <a:solidFill>
                  <a:srgbClr val="087E8B"/>
                </a:solidFill>
                <a:latin typeface="Arial"/>
                <a:ea typeface="Arial"/>
                <a:cs typeface="Arial"/>
              </a:rPr>
              <a:t>AI chooses investigations and writes PM memos</a:t>
            </a:r>
          </a:p>
        </p:txBody>
      </p:sp>
      <p:sp>
        <p:nvSpPr>
          <p:cNvPr id="6" name="Quantitative code calculates targets. The coordinator and risk control">
            <a:extLst xmlns:a="http://schemas.openxmlformats.org/drawingml/2006/main">
              <a:ext uri="{FF2B5EF4-FFF2-40B4-BE49-F238E27FC236}">
                <a16:creationId xmlns:a16="http://schemas.microsoft.com/office/drawing/2014/main" id="{5B8C4B36-E2D3-4D29-89BA-63D51DC4D421}"/>
              </a:ext>
            </a:extLst>
          </p:cNvPr>
          <p:cNvSpPr>
            <a:spLocks xmlns:a="http://schemas.openxmlformats.org/drawingml/2006/main" noGrp="1"/>
          </p:cNvSpPr>
          <p:nvPr/>
        </p:nvSpPr>
        <p:spPr>
          <a:xfrm xmlns:a="http://schemas.openxmlformats.org/drawingml/2006/main">
            <a:off x="685800" y="589597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62A3A"/>
                </a:solidFill>
                <a:latin typeface="Arial"/>
                <a:ea typeface="Arial"/>
                <a:cs typeface="Arial"/>
              </a:defRPr>
            </a:defPPr>
          </a:lstStyle>
          <a:p xmlns:a="http://schemas.openxmlformats.org/drawingml/2006/main">
            <a:pPr algn="l">
              <a:defRPr sz="1875" b="0">
                <a:solidFill>
                  <a:srgbClr val="162A3A"/>
                </a:solidFill>
                <a:latin typeface="Arial"/>
                <a:ea typeface="Arial"/>
                <a:cs typeface="Arial"/>
              </a:defRPr>
            </a:pPr>
            <a:r>
              <a:rPr sz="1875" b="0">
                <a:solidFill>
                  <a:srgbClr val="162A3A"/>
                </a:solidFill>
                <a:latin typeface="Arial"/>
                <a:ea typeface="Arial"/>
                <a:cs typeface="Arial"/>
              </a:rPr>
              <a:t>Quantitative code calculates targets. The coordinator and risk controller govern execution.</a:t>
            </a:r>
          </a:p>
        </p:txBody>
      </p:sp>
    </p:spTree>
    <p:extLst>
      <p:ext uri="{BB962C8B-B14F-4D97-AF65-F5344CB8AC3E}">
        <p14:creationId xmlns:p14="http://schemas.microsoft.com/office/powerpoint/2010/main" val="212285202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n AI investment committee in practice">
            <a:extLst xmlns:a="http://schemas.openxmlformats.org/drawingml/2006/main">
              <a:ext uri="{FF2B5EF4-FFF2-40B4-BE49-F238E27FC236}">
                <a16:creationId xmlns:a16="http://schemas.microsoft.com/office/drawing/2014/main" id="{B01C3B79-34F9-4280-B54C-4E8C99118068}"/>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An AI investment committee in practice</a:t>
            </a:r>
          </a:p>
        </p:txBody>
      </p:sp>
      <p:sp>
        <p:nvSpPr>
          <p:cNvPr id="2" name="Illustrative exchange to replace with actual agent traces in the demon">
            <a:extLst xmlns:a="http://schemas.openxmlformats.org/drawingml/2006/main">
              <a:ext uri="{FF2B5EF4-FFF2-40B4-BE49-F238E27FC236}">
                <a16:creationId xmlns:a16="http://schemas.microsoft.com/office/drawing/2014/main" id="{C4929427-6DB4-43B7-B03A-51890B2C542A}"/>
              </a:ext>
            </a:extLst>
          </p:cNvPr>
          <p:cNvSpPr>
            <a:spLocks xmlns:a="http://schemas.openxmlformats.org/drawingml/2006/main" noGrp="1"/>
          </p:cNvSpPr>
          <p:nvPr/>
        </p:nvSpPr>
        <p:spPr>
          <a:xfrm xmlns:a="http://schemas.openxmlformats.org/drawingml/2006/main">
            <a:off x="685800" y="11715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Illustrative exchange to replace with actual agent traces in the demonstration</a:t>
            </a:r>
          </a:p>
        </p:txBody>
      </p:sp>
      <p:sp>
        <p:nvSpPr>
          <p:cNvPr id="3" name="06">
            <a:extLst xmlns:a="http://schemas.openxmlformats.org/drawingml/2006/main">
              <a:ext uri="{FF2B5EF4-FFF2-40B4-BE49-F238E27FC236}">
                <a16:creationId xmlns:a16="http://schemas.microsoft.com/office/drawing/2014/main" id="{8DD882CA-3F55-4CE5-AD11-233A32C3B032}"/>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BFF1F983-DB46-4025-B835-BC2392CC3D8F}"/>
              </a:ext>
            </a:extLst>
          </p:cNvPr>
          <p:cNvGraphicFramePr/>
          <p:nvPr/>
        </p:nvGraphicFramePr>
        <p:xfrm>
          <a:off xmlns:a="http://schemas.openxmlformats.org/drawingml/2006/main" x="685800" y="1924050"/>
          <a:ext xmlns:a="http://schemas.openxmlformats.org/drawingml/2006/main" cx="10820400" cy="3048000"/>
        </p:xfrm>
        <a:graphic xmlns:a="http://schemas.openxmlformats.org/drawingml/2006/main">
          <a:graphicData uri="http://schemas.openxmlformats.org/drawingml/2006/table">
            <a:tbl>
              <a:tblPr firstRow="1" bandRow="0"/>
              <a:tblGrid>
                <a:gridCol w="2524125"/>
                <a:gridCol w="3238500"/>
                <a:gridCol w="5057775"/>
              </a:tblGrid>
              <a:tr h="762000">
                <a:tc>
                  <a:txBody>
                    <a:bodyPr>
                      <a:noAutofit/>
                    </a:bodyPr>
                    <a:lstStyle/>
                    <a:p>
                      <a:r>
                        <a:rPr sz="1800" b="1">
                          <a:solidFill>
                            <a:srgbClr val="162A3A"/>
                          </a:solidFill>
                          <a:latin typeface="Arial"/>
                          <a:ea typeface="Arial"/>
                          <a:cs typeface="Arial"/>
                        </a:rPr>
                        <a:t>AI representative</a:t>
                      </a:r>
                    </a:p>
                  </a:txBody>
                  <a:tcPr marL="114300" marR="114300" marT="95250" marB="95250" anchor="ctr">
                    <a:lnL w="6668">
                      <a:solidFill>
                        <a:srgbClr val="D9E2E8"/>
                      </a:solidFill>
                      <a:prstDash val="solid"/>
                    </a:lnL>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00" b="1">
                          <a:solidFill>
                            <a:srgbClr val="162A3A"/>
                          </a:solidFill>
                          <a:latin typeface="Arial"/>
                          <a:ea typeface="Arial"/>
                          <a:cs typeface="Arial"/>
                        </a:rPr>
                        <a:t>Chosen diagnostic</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00" b="1">
                          <a:solidFill>
                            <a:srgbClr val="162A3A"/>
                          </a:solidFill>
                          <a:latin typeface="Arial"/>
                          <a:ea typeface="Arial"/>
                          <a:cs typeface="Arial"/>
                        </a:rPr>
                        <a:t>Example PM memo</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r>
              <a:tr h="762000">
                <a:tc>
                  <a:txBody>
                    <a:bodyPr>
                      <a:noAutofit/>
                    </a:bodyPr>
                    <a:lstStyle/>
                    <a:p>
                      <a:r>
                        <a:rPr sz="1800" b="0">
                          <a:solidFill>
                            <a:srgbClr val="162A3A"/>
                          </a:solidFill>
                          <a:latin typeface="Arial"/>
                          <a:ea typeface="Arial"/>
                          <a:cs typeface="Arial"/>
                        </a:rPr>
                        <a:t>Momentum PM AI</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Inspect sector exposure</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Several proposed holdings share a sector.</a:t>
                      </a:r>
                    </a:p>
                    <a:p>
                      <a:r>
                        <a:rPr sz="1800" b="0">
                          <a:solidFill>
                            <a:srgbClr val="162A3A"/>
                          </a:solidFill>
                          <a:latin typeface="Arial"/>
                          <a:ea typeface="Arial"/>
                          <a:cs typeface="Arial"/>
                        </a:rPr>
                        <a:t>I flag concentration for fund review.</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762000">
                <a:tc>
                  <a:txBody>
                    <a:bodyPr>
                      <a:noAutofit/>
                    </a:bodyPr>
                    <a:lstStyle/>
                    <a:p>
                      <a:r>
                        <a:rPr sz="1800" b="0">
                          <a:solidFill>
                            <a:srgbClr val="162A3A"/>
                          </a:solidFill>
                          <a:latin typeface="Arial"/>
                          <a:ea typeface="Arial"/>
                          <a:cs typeface="Arial"/>
                        </a:rPr>
                        <a:t>Pairs PM AI</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Inspect both target legs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The target legs retain the hedge ratio.</a:t>
                      </a:r>
                    </a:p>
                    <a:p>
                      <a:r>
                        <a:rPr sz="1800" b="0">
                          <a:solidFill>
                            <a:srgbClr val="162A3A"/>
                          </a:solidFill>
                          <a:latin typeface="Arial"/>
                          <a:ea typeface="Arial"/>
                          <a:cs typeface="Arial"/>
                        </a:rPr>
                        <a:t>I attach the pair-health diagnostics.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762000">
                <a:tc>
                  <a:txBody>
                    <a:bodyPr>
                      <a:noAutofit/>
                    </a:bodyPr>
                    <a:lstStyle/>
                    <a:p>
                      <a:r>
                        <a:rPr sz="1800" b="0">
                          <a:solidFill>
                            <a:srgbClr val="162A3A"/>
                          </a:solidFill>
                          <a:latin typeface="Arial"/>
                          <a:ea typeface="Arial"/>
                          <a:cs typeface="Arial"/>
                        </a:rPr>
                        <a:t>Crypto PM AI</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Read entry qualification</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The strategy has no qualified entry.</a:t>
                      </a:r>
                    </a:p>
                    <a:p>
                      <a:r>
                        <a:rPr sz="1800" b="0">
                          <a:solidFill>
                            <a:srgbClr val="162A3A"/>
                          </a:solidFill>
                          <a:latin typeface="Arial"/>
                          <a:ea typeface="Arial"/>
                          <a:cs typeface="Arial"/>
                        </a:rPr>
                        <a:t>Its quantitative target stays in cash.</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bl>
          </a:graphicData>
        </a:graphic>
      </p:graphicFrame>
      <p:sp>
        <p:nvSpPr>
          <p:cNvPr id="5" name="The coordinator combines targets. The risk controller records its verd">
            <a:extLst xmlns:a="http://schemas.openxmlformats.org/drawingml/2006/main">
              <a:ext uri="{FF2B5EF4-FFF2-40B4-BE49-F238E27FC236}">
                <a16:creationId xmlns:a16="http://schemas.microsoft.com/office/drawing/2014/main" id="{7932B94F-447A-4CB6-846A-D01E324029BE}"/>
              </a:ext>
            </a:extLst>
          </p:cNvPr>
          <p:cNvSpPr>
            <a:spLocks xmlns:a="http://schemas.openxmlformats.org/drawingml/2006/main" noGrp="1"/>
          </p:cNvSpPr>
          <p:nvPr/>
        </p:nvSpPr>
        <p:spPr>
          <a:xfrm xmlns:a="http://schemas.openxmlformats.org/drawingml/2006/main">
            <a:off x="685800" y="54006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B"/>
                </a:solidFill>
                <a:latin typeface="Arial"/>
                <a:ea typeface="Arial"/>
                <a:cs typeface="Arial"/>
              </a:defRPr>
            </a:defPPr>
          </a:lstStyle>
          <a:p xmlns:a="http://schemas.openxmlformats.org/drawingml/2006/main">
            <a:pPr algn="l">
              <a:defRPr sz="2100" b="1">
                <a:solidFill>
                  <a:srgbClr val="087E8B"/>
                </a:solidFill>
                <a:latin typeface="Arial"/>
                <a:ea typeface="Arial"/>
                <a:cs typeface="Arial"/>
              </a:defRPr>
            </a:pPr>
            <a:r>
              <a:rPr sz="2100" b="1">
                <a:solidFill>
                  <a:srgbClr val="087E8B"/>
                </a:solidFill>
                <a:latin typeface="Arial"/>
                <a:ea typeface="Arial"/>
                <a:cs typeface="Arial"/>
              </a:rPr>
              <a:t>The coordinator combines targets. The risk controller records its verdict.</a:t>
            </a:r>
          </a:p>
        </p:txBody>
      </p:sp>
      <p:sp>
        <p:nvSpPr>
          <p:cNvPr id="6" name="Each factual claim links to a saved record. An optional reviewer check">
            <a:extLst xmlns:a="http://schemas.openxmlformats.org/drawingml/2006/main">
              <a:ext uri="{FF2B5EF4-FFF2-40B4-BE49-F238E27FC236}">
                <a16:creationId xmlns:a16="http://schemas.microsoft.com/office/drawing/2014/main" id="{9A365315-0455-447F-9CD8-340490A2E394}"/>
              </a:ext>
            </a:extLst>
          </p:cNvPr>
          <p:cNvSpPr>
            <a:spLocks xmlns:a="http://schemas.openxmlformats.org/drawingml/2006/main" noGrp="1"/>
          </p:cNvSpPr>
          <p:nvPr/>
        </p:nvSpPr>
        <p:spPr>
          <a:xfrm xmlns:a="http://schemas.openxmlformats.org/drawingml/2006/main">
            <a:off x="685800" y="60198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476"/>
                </a:solidFill>
                <a:latin typeface="Arial"/>
                <a:ea typeface="Arial"/>
                <a:cs typeface="Arial"/>
              </a:defRPr>
            </a:defPPr>
          </a:lstStyle>
          <a:p xmlns:a="http://schemas.openxmlformats.org/drawingml/2006/main">
            <a:pPr algn="l">
              <a:defRPr sz="1800" b="0">
                <a:solidFill>
                  <a:srgbClr val="516476"/>
                </a:solidFill>
                <a:latin typeface="Arial"/>
                <a:ea typeface="Arial"/>
                <a:cs typeface="Arial"/>
              </a:defRPr>
            </a:pPr>
            <a:r>
              <a:rPr sz="1800" b="0">
                <a:solidFill>
                  <a:srgbClr val="516476"/>
                </a:solidFill>
                <a:latin typeface="Arial"/>
                <a:ea typeface="Arial"/>
                <a:cs typeface="Arial"/>
              </a:rPr>
              <a:t>Each factual claim links to a saved record. An optional reviewer checks the PM memos.</a:t>
            </a:r>
          </a:p>
        </p:txBody>
      </p:sp>
    </p:spTree>
    <p:extLst>
      <p:ext uri="{BB962C8B-B14F-4D97-AF65-F5344CB8AC3E}">
        <p14:creationId xmlns:p14="http://schemas.microsoft.com/office/powerpoint/2010/main" val="17648764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aily pairs decision cycle">
            <a:extLst xmlns:a="http://schemas.openxmlformats.org/drawingml/2006/main">
              <a:ext uri="{FF2B5EF4-FFF2-40B4-BE49-F238E27FC236}">
                <a16:creationId xmlns:a16="http://schemas.microsoft.com/office/drawing/2014/main" id="{68E221B3-4EF9-4D73-94E6-3E6FF7E4DC57}"/>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Daily pairs decision cycle</a:t>
            </a:r>
          </a:p>
        </p:txBody>
      </p:sp>
      <p:sp>
        <p:nvSpPr>
          <p:cNvPr id="2" name="Pairs frequency is confirmed. Exact signal and fill timing remains to ">
            <a:extLst xmlns:a="http://schemas.openxmlformats.org/drawingml/2006/main">
              <a:ext uri="{FF2B5EF4-FFF2-40B4-BE49-F238E27FC236}">
                <a16:creationId xmlns:a16="http://schemas.microsoft.com/office/drawing/2014/main" id="{AC9C71AB-9FD8-47C6-B748-D59F4929AA53}"/>
              </a:ext>
            </a:extLst>
          </p:cNvPr>
          <p:cNvSpPr>
            <a:spLocks xmlns:a="http://schemas.openxmlformats.org/drawingml/2006/main" noGrp="1"/>
          </p:cNvSpPr>
          <p:nvPr/>
        </p:nvSpPr>
        <p:spPr>
          <a:xfrm xmlns:a="http://schemas.openxmlformats.org/drawingml/2006/main">
            <a:off x="685800" y="11715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Pairs frequency is confirmed. Exact signal and fill timing remains to be agreed.</a:t>
            </a:r>
          </a:p>
        </p:txBody>
      </p:sp>
      <p:sp>
        <p:nvSpPr>
          <p:cNvPr id="3" name="07">
            <a:extLst xmlns:a="http://schemas.openxmlformats.org/drawingml/2006/main">
              <a:ext uri="{FF2B5EF4-FFF2-40B4-BE49-F238E27FC236}">
                <a16:creationId xmlns:a16="http://schemas.microsoft.com/office/drawing/2014/main" id="{7D564379-35C4-4796-90F3-1C9A0913FCE7}"/>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2A646B77-B6B4-4B44-AB19-E051BBE41346}"/>
              </a:ext>
            </a:extLst>
          </p:cNvPr>
          <p:cNvGraphicFramePr/>
          <p:nvPr/>
        </p:nvGraphicFramePr>
        <p:xfrm>
          <a:off xmlns:a="http://schemas.openxmlformats.org/drawingml/2006/main" x="685800" y="1895475"/>
          <a:ext xmlns:a="http://schemas.openxmlformats.org/drawingml/2006/main" cx="10820400" cy="3638550"/>
        </p:xfrm>
        <a:graphic xmlns:a="http://schemas.openxmlformats.org/drawingml/2006/main">
          <a:graphicData uri="http://schemas.openxmlformats.org/drawingml/2006/table">
            <a:tbl>
              <a:tblPr firstRow="1" bandRow="0"/>
              <a:tblGrid>
                <a:gridCol w="2714625"/>
                <a:gridCol w="2857500"/>
                <a:gridCol w="5248275"/>
              </a:tblGrid>
              <a:tr h="606425">
                <a:tc>
                  <a:txBody>
                    <a:bodyPr>
                      <a:noAutofit/>
                    </a:bodyPr>
                    <a:lstStyle/>
                    <a:p>
                      <a:r>
                        <a:rPr sz="1800" b="1">
                          <a:solidFill>
                            <a:srgbClr val="162A3A"/>
                          </a:solidFill>
                          <a:latin typeface="Arial"/>
                          <a:ea typeface="Arial"/>
                          <a:cs typeface="Arial"/>
                        </a:rPr>
                        <a:t>When</a:t>
                      </a:r>
                    </a:p>
                  </a:txBody>
                  <a:tcPr marL="114300" marR="114300" marT="95250" marB="95250" anchor="ctr">
                    <a:lnL w="6668">
                      <a:solidFill>
                        <a:srgbClr val="D9E2E8"/>
                      </a:solidFill>
                      <a:prstDash val="solid"/>
                    </a:lnL>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00" b="1">
                          <a:solidFill>
                            <a:srgbClr val="162A3A"/>
                          </a:solidFill>
                          <a:latin typeface="Arial"/>
                          <a:ea typeface="Arial"/>
                          <a:cs typeface="Arial"/>
                        </a:rPr>
                        <a:t>Owner</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00" b="1">
                          <a:solidFill>
                            <a:srgbClr val="162A3A"/>
                          </a:solidFill>
                          <a:latin typeface="Arial"/>
                          <a:ea typeface="Arial"/>
                          <a:cs typeface="Arial"/>
                        </a:rPr>
                        <a:t>Output</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r>
              <a:tr h="606425">
                <a:tc>
                  <a:txBody>
                    <a:bodyPr>
                      <a:noAutofit/>
                    </a:bodyPr>
                    <a:lstStyle/>
                    <a:p>
                      <a:r>
                        <a:rPr sz="1800" b="0">
                          <a:solidFill>
                            <a:srgbClr val="162A3A"/>
                          </a:solidFill>
                          <a:latin typeface="Arial"/>
                          <a:ea typeface="Arial"/>
                          <a:cs typeface="Arial"/>
                        </a:rPr>
                        <a:t>Session t, after close</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Data adapter</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Completed prices and validated timestamps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606425">
                <a:tc>
                  <a:txBody>
                    <a:bodyPr>
                      <a:noAutofit/>
                    </a:bodyPr>
                    <a:lstStyle/>
                    <a:p>
                      <a:r>
                        <a:rPr sz="1800" b="0">
                          <a:solidFill>
                            <a:srgbClr val="162A3A"/>
                          </a:solidFill>
                          <a:latin typeface="Arial"/>
                          <a:ea typeface="Arial"/>
                          <a:cs typeface="Arial"/>
                        </a:rPr>
                        <a:t>Session t, after close</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Pairs quant engine</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Daily model update and linked target legs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606425">
                <a:tc>
                  <a:txBody>
                    <a:bodyPr>
                      <a:noAutofit/>
                    </a:bodyPr>
                    <a:lstStyle/>
                    <a:p>
                      <a:r>
                        <a:rPr sz="1800" b="0">
                          <a:solidFill>
                            <a:srgbClr val="162A3A"/>
                          </a:solidFill>
                          <a:latin typeface="Arial"/>
                          <a:ea typeface="Arial"/>
                          <a:cs typeface="Arial"/>
                        </a:rPr>
                        <a:t>Before execution</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Coordinator and risk</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Combined exposure and approval verdict</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606425">
                <a:tc>
                  <a:txBody>
                    <a:bodyPr>
                      <a:noAutofit/>
                    </a:bodyPr>
                    <a:lstStyle/>
                    <a:p>
                      <a:r>
                        <a:rPr sz="1800" b="0">
                          <a:solidFill>
                            <a:srgbClr val="162A3A"/>
                          </a:solidFill>
                          <a:latin typeface="Arial"/>
                          <a:ea typeface="Arial"/>
                          <a:cs typeface="Arial"/>
                        </a:rPr>
                        <a:t>Next eligible session</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Paper executor</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Simulated fills under the declared cost model</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606425">
                <a:tc>
                  <a:txBody>
                    <a:bodyPr>
                      <a:noAutofit/>
                    </a:bodyPr>
                    <a:lstStyle/>
                    <a:p>
                      <a:r>
                        <a:rPr sz="1800" b="0">
                          <a:solidFill>
                            <a:srgbClr val="162A3A"/>
                          </a:solidFill>
                          <a:latin typeface="Arial"/>
                          <a:ea typeface="Arial"/>
                          <a:cs typeface="Arial"/>
                        </a:rPr>
                        <a:t>After valuation</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Accounting and AI PMs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Fund NAV, CSV and evidence-linked memos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bl>
          </a:graphicData>
        </a:graphic>
      </p:graphicFrame>
      <p:sp>
        <p:nvSpPr>
          <p:cNvPr id="5" name="Both legs retain their hedge relationship. A daily signal can lead to ">
            <a:extLst xmlns:a="http://schemas.openxmlformats.org/drawingml/2006/main">
              <a:ext uri="{FF2B5EF4-FFF2-40B4-BE49-F238E27FC236}">
                <a16:creationId xmlns:a16="http://schemas.microsoft.com/office/drawing/2014/main" id="{FA3C5088-02D2-495E-8F70-D1C230CDDF1F}"/>
              </a:ext>
            </a:extLst>
          </p:cNvPr>
          <p:cNvSpPr>
            <a:spLocks xmlns:a="http://schemas.openxmlformats.org/drawingml/2006/main" noGrp="1"/>
          </p:cNvSpPr>
          <p:nvPr/>
        </p:nvSpPr>
        <p:spPr>
          <a:xfrm xmlns:a="http://schemas.openxmlformats.org/drawingml/2006/main">
            <a:off x="685800" y="58864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62A3A"/>
                </a:solidFill>
                <a:latin typeface="Arial"/>
                <a:ea typeface="Arial"/>
                <a:cs typeface="Arial"/>
              </a:defRPr>
            </a:defPPr>
          </a:lstStyle>
          <a:p xmlns:a="http://schemas.openxmlformats.org/drawingml/2006/main">
            <a:pPr algn="l">
              <a:defRPr sz="1875" b="0">
                <a:solidFill>
                  <a:srgbClr val="162A3A"/>
                </a:solidFill>
                <a:latin typeface="Arial"/>
                <a:ea typeface="Arial"/>
                <a:cs typeface="Arial"/>
              </a:defRPr>
            </a:pPr>
            <a:r>
              <a:rPr sz="1875" b="0">
                <a:solidFill>
                  <a:srgbClr val="162A3A"/>
                </a:solidFill>
                <a:latin typeface="Arial"/>
                <a:ea typeface="Arial"/>
                <a:cs typeface="Arial"/>
              </a:rPr>
              <a:t>Both legs retain their hedge relationship. A daily signal can lead to no trade.</a:t>
            </a:r>
          </a:p>
        </p:txBody>
      </p:sp>
    </p:spTree>
    <p:extLst>
      <p:ext uri="{BB962C8B-B14F-4D97-AF65-F5344CB8AC3E}">
        <p14:creationId xmlns:p14="http://schemas.microsoft.com/office/powerpoint/2010/main" val="29598286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apital, risk and accounting">
            <a:extLst xmlns:a="http://schemas.openxmlformats.org/drawingml/2006/main">
              <a:ext uri="{FF2B5EF4-FFF2-40B4-BE49-F238E27FC236}">
                <a16:creationId xmlns:a16="http://schemas.microsoft.com/office/drawing/2014/main" id="{F79F8D53-C119-46F8-9B5D-DE39F66182D4}"/>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Capital, risk and accounting</a:t>
            </a:r>
          </a:p>
        </p:txBody>
      </p:sp>
      <p:sp>
        <p:nvSpPr>
          <p:cNvPr id="2" name="The coordinator proposes budgets. The risk controller has final approv">
            <a:extLst xmlns:a="http://schemas.openxmlformats.org/drawingml/2006/main">
              <a:ext uri="{FF2B5EF4-FFF2-40B4-BE49-F238E27FC236}">
                <a16:creationId xmlns:a16="http://schemas.microsoft.com/office/drawing/2014/main" id="{6F2686EC-177A-426B-9B7C-6E9C6CB0568B}"/>
              </a:ext>
            </a:extLst>
          </p:cNvPr>
          <p:cNvSpPr>
            <a:spLocks xmlns:a="http://schemas.openxmlformats.org/drawingml/2006/main" noGrp="1"/>
          </p:cNvSpPr>
          <p:nvPr/>
        </p:nvSpPr>
        <p:spPr>
          <a:xfrm xmlns:a="http://schemas.openxmlformats.org/drawingml/2006/main">
            <a:off x="685800" y="11715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The coordinator proposes budgets. The risk controller has final approval.</a:t>
            </a:r>
          </a:p>
        </p:txBody>
      </p:sp>
      <p:sp>
        <p:nvSpPr>
          <p:cNvPr id="3" name="08">
            <a:extLst xmlns:a="http://schemas.openxmlformats.org/drawingml/2006/main">
              <a:ext uri="{FF2B5EF4-FFF2-40B4-BE49-F238E27FC236}">
                <a16:creationId xmlns:a16="http://schemas.microsoft.com/office/drawing/2014/main" id="{B5AA4B7C-0B9A-493E-B7D4-467898BF4EBB}"/>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08</a:t>
            </a:r>
          </a:p>
        </p:txBody>
      </p:sp>
      <p:sp>
        <p:nvSpPr>
          <p:cNvPr id="4" name="Portfolio coordinator">
            <a:extLst xmlns:a="http://schemas.openxmlformats.org/drawingml/2006/main">
              <a:ext uri="{FF2B5EF4-FFF2-40B4-BE49-F238E27FC236}">
                <a16:creationId xmlns:a16="http://schemas.microsoft.com/office/drawing/2014/main" id="{25195542-D089-4F07-8AF3-F0512BFAE401}"/>
              </a:ext>
            </a:extLst>
          </p:cNvPr>
          <p:cNvSpPr>
            <a:spLocks xmlns:a="http://schemas.openxmlformats.org/drawingml/2006/main" noGrp="1"/>
          </p:cNvSpPr>
          <p:nvPr/>
        </p:nvSpPr>
        <p:spPr>
          <a:xfrm xmlns:a="http://schemas.openxmlformats.org/drawingml/2006/main">
            <a:off x="685800" y="195262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62A3A"/>
                </a:solidFill>
                <a:latin typeface="Arial"/>
                <a:ea typeface="Arial"/>
                <a:cs typeface="Arial"/>
              </a:defRPr>
            </a:defPPr>
          </a:lstStyle>
          <a:p xmlns:a="http://schemas.openxmlformats.org/drawingml/2006/main">
            <a:pPr algn="l">
              <a:defRPr sz="2250" b="1">
                <a:solidFill>
                  <a:srgbClr val="162A3A"/>
                </a:solidFill>
                <a:latin typeface="Arial"/>
                <a:ea typeface="Arial"/>
                <a:cs typeface="Arial"/>
              </a:defRPr>
            </a:pPr>
            <a:r>
              <a:rPr sz="2250" b="1">
                <a:solidFill>
                  <a:srgbClr val="162A3A"/>
                </a:solidFill>
                <a:latin typeface="Arial"/>
                <a:ea typeface="Arial"/>
                <a:cs typeface="Arial"/>
              </a:rPr>
              <a:t>Portfolio coordinator</a:t>
            </a:r>
          </a:p>
        </p:txBody>
      </p:sp>
      <p:sp>
        <p:nvSpPr>
          <p:cNvPr id="5" name="">
            <a:extLst xmlns:a="http://schemas.openxmlformats.org/drawingml/2006/main">
              <a:ext uri="{FF2B5EF4-FFF2-40B4-BE49-F238E27FC236}">
                <a16:creationId xmlns:a16="http://schemas.microsoft.com/office/drawing/2014/main" id="{B31BA59A-2FCB-45AF-9E43-CEB384426F58}"/>
              </a:ext>
            </a:extLst>
          </p:cNvPr>
          <p:cNvSpPr>
            <a:spLocks xmlns:a="http://schemas.openxmlformats.org/drawingml/2006/main" noGrp="1"/>
          </p:cNvSpPr>
          <p:nvPr/>
        </p:nvSpPr>
        <p:spPr>
          <a:xfrm xmlns:a="http://schemas.openxmlformats.org/drawingml/2006/main">
            <a:off x="685800" y="2533650"/>
            <a:ext cx="5048250"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2A3A"/>
                </a:solidFill>
                <a:latin typeface="Arial"/>
                <a:ea typeface="Arial"/>
                <a:cs typeface="Arial"/>
              </a:defRPr>
            </a:defPPr>
          </a:lstStyle>
          <a:p xmlns:a="http://schemas.openxmlformats.org/drawingml/2006/main">
            <a:pPr marL="228600" indent="-114300" algn="l">
              <a:spcAft>
                <a:spcPts val="1300"/>
              </a:spcAft>
              <a:buChar char="•"/>
              <a:defRPr sz="1950" b="0">
                <a:solidFill>
                  <a:srgbClr val="162A3A"/>
                </a:solidFill>
                <a:latin typeface="Arial"/>
                <a:ea typeface="Arial"/>
                <a:cs typeface="Arial"/>
              </a:defRPr>
            </a:pPr>
            <a:r>
              <a:t>Assign the initial PM capital mandates</a:t>
            </a:r>
          </a:p>
          <a:p xmlns:a="http://schemas.openxmlformats.org/drawingml/2006/main">
            <a:pPr marL="228600" indent="-114300" algn="l">
              <a:spcAft>
                <a:spcPts val="1300"/>
              </a:spcAft>
              <a:buChar char="•"/>
              <a:defRPr sz="1950" b="0">
                <a:solidFill>
                  <a:srgbClr val="162A3A"/>
                </a:solidFill>
                <a:latin typeface="Arial"/>
                <a:ea typeface="Arial"/>
                <a:cs typeface="Arial"/>
              </a:defRPr>
            </a:pPr>
            <a:r>
              <a:t>Combine holdings and identify overlap</a:t>
            </a:r>
          </a:p>
          <a:p xmlns:a="http://schemas.openxmlformats.org/drawingml/2006/main">
            <a:pPr marL="228600" indent="-114300" algn="l">
              <a:spcAft>
                <a:spcPts val="1300"/>
              </a:spcAft>
              <a:buChar char="•"/>
              <a:defRPr sz="1950" b="0">
                <a:solidFill>
                  <a:srgbClr val="162A3A"/>
                </a:solidFill>
                <a:latin typeface="Arial"/>
                <a:ea typeface="Arial"/>
                <a:cs typeface="Arial"/>
              </a:defRPr>
            </a:pPr>
            <a:r>
              <a:t>Track PM contribution to fund P&amp;L</a:t>
            </a:r>
          </a:p>
          <a:p xmlns:a="http://schemas.openxmlformats.org/drawingml/2006/main">
            <a:pPr marL="228600" indent="-114300" algn="l">
              <a:spcAft>
                <a:spcPts val="1300"/>
              </a:spcAft>
              <a:buChar char="•"/>
              <a:defRPr sz="1950" b="0">
                <a:solidFill>
                  <a:srgbClr val="162A3A"/>
                </a:solidFill>
                <a:latin typeface="Arial"/>
                <a:ea typeface="Arial"/>
                <a:cs typeface="Arial"/>
              </a:defRPr>
            </a:pPr>
            <a:r>
              <a:t>Log transfers separately from returns</a:t>
            </a:r>
          </a:p>
        </p:txBody>
      </p:sp>
      <p:sp>
        <p:nvSpPr>
          <p:cNvPr id="6" name="Independent risk controller">
            <a:extLst xmlns:a="http://schemas.openxmlformats.org/drawingml/2006/main">
              <a:ext uri="{FF2B5EF4-FFF2-40B4-BE49-F238E27FC236}">
                <a16:creationId xmlns:a16="http://schemas.microsoft.com/office/drawing/2014/main" id="{413ADB8B-BBB6-42CF-8F20-D662D2E21D23}"/>
              </a:ext>
            </a:extLst>
          </p:cNvPr>
          <p:cNvSpPr>
            <a:spLocks xmlns:a="http://schemas.openxmlformats.org/drawingml/2006/main" noGrp="1"/>
          </p:cNvSpPr>
          <p:nvPr/>
        </p:nvSpPr>
        <p:spPr>
          <a:xfrm xmlns:a="http://schemas.openxmlformats.org/drawingml/2006/main">
            <a:off x="6457950" y="195262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62A3A"/>
                </a:solidFill>
                <a:latin typeface="Arial"/>
                <a:ea typeface="Arial"/>
                <a:cs typeface="Arial"/>
              </a:defRPr>
            </a:defPPr>
          </a:lstStyle>
          <a:p xmlns:a="http://schemas.openxmlformats.org/drawingml/2006/main">
            <a:pPr algn="l">
              <a:defRPr sz="2250" b="1">
                <a:solidFill>
                  <a:srgbClr val="162A3A"/>
                </a:solidFill>
                <a:latin typeface="Arial"/>
                <a:ea typeface="Arial"/>
                <a:cs typeface="Arial"/>
              </a:defRPr>
            </a:pPr>
            <a:r>
              <a:rPr sz="2250" b="1">
                <a:solidFill>
                  <a:srgbClr val="162A3A"/>
                </a:solidFill>
                <a:latin typeface="Arial"/>
                <a:ea typeface="Arial"/>
                <a:cs typeface="Arial"/>
              </a:rPr>
              <a:t>Independent risk controller</a:t>
            </a:r>
          </a:p>
        </p:txBody>
      </p:sp>
      <p:sp>
        <p:nvSpPr>
          <p:cNvPr id="7" name="">
            <a:extLst xmlns:a="http://schemas.openxmlformats.org/drawingml/2006/main">
              <a:ext uri="{FF2B5EF4-FFF2-40B4-BE49-F238E27FC236}">
                <a16:creationId xmlns:a16="http://schemas.microsoft.com/office/drawing/2014/main" id="{96846B0B-7A23-48CC-87FD-CD10B19D41A2}"/>
              </a:ext>
            </a:extLst>
          </p:cNvPr>
          <p:cNvSpPr>
            <a:spLocks xmlns:a="http://schemas.openxmlformats.org/drawingml/2006/main" noGrp="1"/>
          </p:cNvSpPr>
          <p:nvPr/>
        </p:nvSpPr>
        <p:spPr>
          <a:xfrm xmlns:a="http://schemas.openxmlformats.org/drawingml/2006/main">
            <a:off x="6457950" y="2533650"/>
            <a:ext cx="5048250"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2A3A"/>
                </a:solidFill>
                <a:latin typeface="Arial"/>
                <a:ea typeface="Arial"/>
                <a:cs typeface="Arial"/>
              </a:defRPr>
            </a:defPPr>
          </a:lstStyle>
          <a:p xmlns:a="http://schemas.openxmlformats.org/drawingml/2006/main">
            <a:pPr marL="228600" indent="-114300" algn="l">
              <a:spcAft>
                <a:spcPts val="1300"/>
              </a:spcAft>
              <a:buChar char="•"/>
              <a:defRPr sz="1950" b="0">
                <a:solidFill>
                  <a:srgbClr val="162A3A"/>
                </a:solidFill>
                <a:latin typeface="Arial"/>
                <a:ea typeface="Arial"/>
                <a:cs typeface="Arial"/>
              </a:defRPr>
            </a:pPr>
            <a:r>
              <a:t>Check concentration and gross/net exposure</a:t>
            </a:r>
          </a:p>
          <a:p xmlns:a="http://schemas.openxmlformats.org/drawingml/2006/main">
            <a:pPr marL="228600" indent="-114300" algn="l">
              <a:spcAft>
                <a:spcPts val="1300"/>
              </a:spcAft>
              <a:buChar char="•"/>
              <a:defRPr sz="1950" b="0">
                <a:solidFill>
                  <a:srgbClr val="162A3A"/>
                </a:solidFill>
                <a:latin typeface="Arial"/>
                <a:ea typeface="Arial"/>
                <a:cs typeface="Arial"/>
              </a:defRPr>
            </a:pPr>
            <a:r>
              <a:t>Preserve linked pair positions</a:t>
            </a:r>
          </a:p>
          <a:p xmlns:a="http://schemas.openxmlformats.org/drawingml/2006/main">
            <a:pPr marL="228600" indent="-114300" algn="l">
              <a:spcAft>
                <a:spcPts val="1300"/>
              </a:spcAft>
              <a:buChar char="•"/>
              <a:defRPr sz="1950" b="0">
                <a:solidFill>
                  <a:srgbClr val="162A3A"/>
                </a:solidFill>
                <a:latin typeface="Arial"/>
                <a:ea typeface="Arial"/>
                <a:cs typeface="Arial"/>
              </a:defRPr>
            </a:pPr>
            <a:r>
              <a:t>Check available cash, margin and data</a:t>
            </a:r>
          </a:p>
          <a:p xmlns:a="http://schemas.openxmlformats.org/drawingml/2006/main">
            <a:pPr marL="228600" indent="-114300" algn="l">
              <a:spcAft>
                <a:spcPts val="1300"/>
              </a:spcAft>
              <a:buChar char="•"/>
              <a:defRPr sz="1950" b="0">
                <a:solidFill>
                  <a:srgbClr val="162A3A"/>
                </a:solidFill>
                <a:latin typeface="Arial"/>
                <a:ea typeface="Arial"/>
                <a:cs typeface="Arial"/>
              </a:defRPr>
            </a:pPr>
            <a:r>
              <a:t>Reject breaches and record the reason</a:t>
            </a:r>
          </a:p>
        </p:txBody>
      </p:sp>
      <p:sp>
        <p:nvSpPr>
          <p:cNvPr id="8" name="Fund NAV = sum of PM NAVs + central cash">
            <a:extLst xmlns:a="http://schemas.openxmlformats.org/drawingml/2006/main">
              <a:ext uri="{FF2B5EF4-FFF2-40B4-BE49-F238E27FC236}">
                <a16:creationId xmlns:a16="http://schemas.microsoft.com/office/drawing/2014/main" id="{F07C04C6-0928-4145-8F64-F9F49F27D478}"/>
              </a:ext>
            </a:extLst>
          </p:cNvPr>
          <p:cNvSpPr>
            <a:spLocks xmlns:a="http://schemas.openxmlformats.org/drawingml/2006/main" noGrp="1"/>
          </p:cNvSpPr>
          <p:nvPr/>
        </p:nvSpPr>
        <p:spPr>
          <a:xfrm xmlns:a="http://schemas.openxmlformats.org/drawingml/2006/main">
            <a:off x="685800" y="545782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87E8B"/>
                </a:solidFill>
                <a:latin typeface="Arial"/>
                <a:ea typeface="Arial"/>
                <a:cs typeface="Arial"/>
              </a:defRPr>
            </a:defPPr>
          </a:lstStyle>
          <a:p xmlns:a="http://schemas.openxmlformats.org/drawingml/2006/main">
            <a:pPr algn="l">
              <a:defRPr sz="2325" b="1">
                <a:solidFill>
                  <a:srgbClr val="087E8B"/>
                </a:solidFill>
                <a:latin typeface="Arial"/>
                <a:ea typeface="Arial"/>
                <a:cs typeface="Arial"/>
              </a:defRPr>
            </a:pPr>
            <a:r>
              <a:rPr sz="2325" b="1">
                <a:solidFill>
                  <a:srgbClr val="087E8B"/>
                </a:solidFill>
                <a:latin typeface="Arial"/>
                <a:ea typeface="Arial"/>
                <a:cs typeface="Arial"/>
              </a:rPr>
              <a:t>Fund NAV = sum of PM NAVs + central cash</a:t>
            </a:r>
          </a:p>
        </p:txBody>
      </p:sp>
      <p:sp>
        <p:nvSpPr>
          <p:cNvPr id="9" name="Capital transfers preserve fund NAV. Costs enter the ledger once.">
            <a:extLst xmlns:a="http://schemas.openxmlformats.org/drawingml/2006/main">
              <a:ext uri="{FF2B5EF4-FFF2-40B4-BE49-F238E27FC236}">
                <a16:creationId xmlns:a16="http://schemas.microsoft.com/office/drawing/2014/main" id="{758E17AB-56C8-41D5-987D-5E7419155C5E}"/>
              </a:ext>
            </a:extLst>
          </p:cNvPr>
          <p:cNvSpPr>
            <a:spLocks xmlns:a="http://schemas.openxmlformats.org/drawingml/2006/main" noGrp="1"/>
          </p:cNvSpPr>
          <p:nvPr/>
        </p:nvSpPr>
        <p:spPr>
          <a:xfrm xmlns:a="http://schemas.openxmlformats.org/drawingml/2006/main">
            <a:off x="685800" y="60388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476"/>
                </a:solidFill>
                <a:latin typeface="Arial"/>
                <a:ea typeface="Arial"/>
                <a:cs typeface="Arial"/>
              </a:defRPr>
            </a:defPPr>
          </a:lstStyle>
          <a:p xmlns:a="http://schemas.openxmlformats.org/drawingml/2006/main">
            <a:pPr algn="l">
              <a:defRPr sz="1800" b="0">
                <a:solidFill>
                  <a:srgbClr val="516476"/>
                </a:solidFill>
                <a:latin typeface="Arial"/>
                <a:ea typeface="Arial"/>
                <a:cs typeface="Arial"/>
              </a:defRPr>
            </a:pPr>
            <a:r>
              <a:rPr sz="1800" b="0">
                <a:solidFill>
                  <a:srgbClr val="516476"/>
                </a:solidFill>
                <a:latin typeface="Arial"/>
                <a:ea typeface="Arial"/>
                <a:cs typeface="Arial"/>
              </a:rPr>
              <a:t>Capital transfers preserve fund NAV. Costs enter the ledger once.</a:t>
            </a:r>
          </a:p>
        </p:txBody>
      </p:sp>
    </p:spTree>
    <p:extLst>
      <p:ext uri="{BB962C8B-B14F-4D97-AF65-F5344CB8AC3E}">
        <p14:creationId xmlns:p14="http://schemas.microsoft.com/office/powerpoint/2010/main" val="44855802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Performance evidence">
            <a:extLst xmlns:a="http://schemas.openxmlformats.org/drawingml/2006/main">
              <a:ext uri="{FF2B5EF4-FFF2-40B4-BE49-F238E27FC236}">
                <a16:creationId xmlns:a16="http://schemas.microsoft.com/office/drawing/2014/main" id="{E5A8B730-B6E6-430D-9C6A-97450730C8D5}"/>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Performance evidence</a:t>
            </a:r>
          </a:p>
        </p:txBody>
      </p:sp>
      <p:sp>
        <p:nvSpPr>
          <p:cNvPr id="2" name="Every consolidated result reconciles to the PM ledgers">
            <a:extLst xmlns:a="http://schemas.openxmlformats.org/drawingml/2006/main">
              <a:ext uri="{FF2B5EF4-FFF2-40B4-BE49-F238E27FC236}">
                <a16:creationId xmlns:a16="http://schemas.microsoft.com/office/drawing/2014/main" id="{D3CEC849-5903-4128-A40A-890DC3F60E99}"/>
              </a:ext>
            </a:extLst>
          </p:cNvPr>
          <p:cNvSpPr>
            <a:spLocks xmlns:a="http://schemas.openxmlformats.org/drawingml/2006/main" noGrp="1"/>
          </p:cNvSpPr>
          <p:nvPr/>
        </p:nvSpPr>
        <p:spPr>
          <a:xfrm xmlns:a="http://schemas.openxmlformats.org/drawingml/2006/main">
            <a:off x="685800" y="11715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Every consolidated result reconciles to the PM ledgers</a:t>
            </a:r>
          </a:p>
        </p:txBody>
      </p:sp>
      <p:sp>
        <p:nvSpPr>
          <p:cNvPr id="3" name="09">
            <a:extLst xmlns:a="http://schemas.openxmlformats.org/drawingml/2006/main">
              <a:ext uri="{FF2B5EF4-FFF2-40B4-BE49-F238E27FC236}">
                <a16:creationId xmlns:a16="http://schemas.microsoft.com/office/drawing/2014/main" id="{9176415A-A49C-433B-833E-DD4455B9F4E6}"/>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09</a:t>
            </a:r>
          </a:p>
        </p:txBody>
      </p:sp>
      <p:sp>
        <p:nvSpPr>
          <p:cNvPr id="4" name="Required course KPIs">
            <a:extLst xmlns:a="http://schemas.openxmlformats.org/drawingml/2006/main">
              <a:ext uri="{FF2B5EF4-FFF2-40B4-BE49-F238E27FC236}">
                <a16:creationId xmlns:a16="http://schemas.microsoft.com/office/drawing/2014/main" id="{EB902477-B016-45B2-9D8F-0CE7563358C8}"/>
              </a:ext>
            </a:extLst>
          </p:cNvPr>
          <p:cNvSpPr>
            <a:spLocks xmlns:a="http://schemas.openxmlformats.org/drawingml/2006/main" noGrp="1"/>
          </p:cNvSpPr>
          <p:nvPr/>
        </p:nvSpPr>
        <p:spPr>
          <a:xfrm xmlns:a="http://schemas.openxmlformats.org/drawingml/2006/main">
            <a:off x="685800" y="195262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62A3A"/>
                </a:solidFill>
                <a:latin typeface="Arial"/>
                <a:ea typeface="Arial"/>
                <a:cs typeface="Arial"/>
              </a:defRPr>
            </a:defPPr>
          </a:lstStyle>
          <a:p xmlns:a="http://schemas.openxmlformats.org/drawingml/2006/main">
            <a:pPr algn="l">
              <a:defRPr sz="2250" b="1">
                <a:solidFill>
                  <a:srgbClr val="162A3A"/>
                </a:solidFill>
                <a:latin typeface="Arial"/>
                <a:ea typeface="Arial"/>
                <a:cs typeface="Arial"/>
              </a:defRPr>
            </a:pPr>
            <a:r>
              <a:rPr sz="2250" b="1">
                <a:solidFill>
                  <a:srgbClr val="162A3A"/>
                </a:solidFill>
                <a:latin typeface="Arial"/>
                <a:ea typeface="Arial"/>
                <a:cs typeface="Arial"/>
              </a:rPr>
              <a:t>Required course KPIs</a:t>
            </a:r>
          </a:p>
        </p:txBody>
      </p:sp>
      <p:sp>
        <p:nvSpPr>
          <p:cNvPr id="5" name="">
            <a:extLst xmlns:a="http://schemas.openxmlformats.org/drawingml/2006/main">
              <a:ext uri="{FF2B5EF4-FFF2-40B4-BE49-F238E27FC236}">
                <a16:creationId xmlns:a16="http://schemas.microsoft.com/office/drawing/2014/main" id="{DA06C214-9639-4BFB-A243-BDECED6E80A5}"/>
              </a:ext>
            </a:extLst>
          </p:cNvPr>
          <p:cNvSpPr>
            <a:spLocks xmlns:a="http://schemas.openxmlformats.org/drawingml/2006/main" noGrp="1"/>
          </p:cNvSpPr>
          <p:nvPr/>
        </p:nvSpPr>
        <p:spPr>
          <a:xfrm xmlns:a="http://schemas.openxmlformats.org/drawingml/2006/main">
            <a:off x="685800" y="2533650"/>
            <a:ext cx="5048250" cy="287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2A3A"/>
                </a:solidFill>
                <a:latin typeface="Arial"/>
                <a:ea typeface="Arial"/>
                <a:cs typeface="Arial"/>
              </a:defRPr>
            </a:defPPr>
          </a:lstStyle>
          <a:p xmlns:a="http://schemas.openxmlformats.org/drawingml/2006/main">
            <a:pPr marL="228600" indent="-114300" algn="l">
              <a:spcAft>
                <a:spcPts val="1300"/>
              </a:spcAft>
              <a:buChar char="•"/>
              <a:defRPr sz="1950" b="0">
                <a:solidFill>
                  <a:srgbClr val="162A3A"/>
                </a:solidFill>
                <a:latin typeface="Arial"/>
                <a:ea typeface="Arial"/>
                <a:cs typeface="Arial"/>
              </a:defRPr>
            </a:pPr>
            <a:r>
              <a:t>Net P&amp;L, total return and annualized return</a:t>
            </a:r>
          </a:p>
          <a:p xmlns:a="http://schemas.openxmlformats.org/drawingml/2006/main">
            <a:pPr marL="228600" indent="-114300" algn="l">
              <a:spcAft>
                <a:spcPts val="1300"/>
              </a:spcAft>
              <a:buChar char="•"/>
              <a:defRPr sz="1950" b="0">
                <a:solidFill>
                  <a:srgbClr val="162A3A"/>
                </a:solidFill>
                <a:latin typeface="Arial"/>
                <a:ea typeface="Arial"/>
                <a:cs typeface="Arial"/>
              </a:defRPr>
            </a:pPr>
            <a:r>
              <a:t>Sharpe ratio and annualized volatility</a:t>
            </a:r>
          </a:p>
          <a:p xmlns:a="http://schemas.openxmlformats.org/drawingml/2006/main">
            <a:pPr marL="228600" indent="-114300" algn="l">
              <a:spcAft>
                <a:spcPts val="1300"/>
              </a:spcAft>
              <a:buChar char="•"/>
              <a:defRPr sz="1950" b="0">
                <a:solidFill>
                  <a:srgbClr val="162A3A"/>
                </a:solidFill>
                <a:latin typeface="Arial"/>
                <a:ea typeface="Arial"/>
                <a:cs typeface="Arial"/>
              </a:defRPr>
            </a:pPr>
            <a:r>
              <a:t>Maximum drawdown, its frequency and duration</a:t>
            </a:r>
          </a:p>
          <a:p xmlns:a="http://schemas.openxmlformats.org/drawingml/2006/main">
            <a:pPr marL="228600" indent="-114300" algn="l">
              <a:spcAft>
                <a:spcPts val="1300"/>
              </a:spcAft>
              <a:buChar char="•"/>
              <a:defRPr sz="1950" b="0">
                <a:solidFill>
                  <a:srgbClr val="162A3A"/>
                </a:solidFill>
                <a:latin typeface="Arial"/>
                <a:ea typeface="Arial"/>
                <a:cs typeface="Arial"/>
              </a:defRPr>
            </a:pPr>
            <a:r>
              <a:t>Win rate, profit per trade, trade count and holding period</a:t>
            </a:r>
          </a:p>
        </p:txBody>
      </p:sp>
      <p:sp>
        <p:nvSpPr>
          <p:cNvPr id="6" name="Fund and PM reporting">
            <a:extLst xmlns:a="http://schemas.openxmlformats.org/drawingml/2006/main">
              <a:ext uri="{FF2B5EF4-FFF2-40B4-BE49-F238E27FC236}">
                <a16:creationId xmlns:a16="http://schemas.microsoft.com/office/drawing/2014/main" id="{D7BF4224-91F7-4DBB-B202-4D0EC37F335F}"/>
              </a:ext>
            </a:extLst>
          </p:cNvPr>
          <p:cNvSpPr>
            <a:spLocks xmlns:a="http://schemas.openxmlformats.org/drawingml/2006/main" noGrp="1"/>
          </p:cNvSpPr>
          <p:nvPr/>
        </p:nvSpPr>
        <p:spPr>
          <a:xfrm xmlns:a="http://schemas.openxmlformats.org/drawingml/2006/main">
            <a:off x="6457950" y="195262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62A3A"/>
                </a:solidFill>
                <a:latin typeface="Arial"/>
                <a:ea typeface="Arial"/>
                <a:cs typeface="Arial"/>
              </a:defRPr>
            </a:defPPr>
          </a:lstStyle>
          <a:p xmlns:a="http://schemas.openxmlformats.org/drawingml/2006/main">
            <a:pPr algn="l">
              <a:defRPr sz="2250" b="1">
                <a:solidFill>
                  <a:srgbClr val="162A3A"/>
                </a:solidFill>
                <a:latin typeface="Arial"/>
                <a:ea typeface="Arial"/>
                <a:cs typeface="Arial"/>
              </a:defRPr>
            </a:pPr>
            <a:r>
              <a:rPr sz="2250" b="1">
                <a:solidFill>
                  <a:srgbClr val="162A3A"/>
                </a:solidFill>
                <a:latin typeface="Arial"/>
                <a:ea typeface="Arial"/>
                <a:cs typeface="Arial"/>
              </a:rPr>
              <a:t>Fund and PM reporting</a:t>
            </a:r>
          </a:p>
        </p:txBody>
      </p:sp>
      <p:sp>
        <p:nvSpPr>
          <p:cNvPr id="7" name="">
            <a:extLst xmlns:a="http://schemas.openxmlformats.org/drawingml/2006/main">
              <a:ext uri="{FF2B5EF4-FFF2-40B4-BE49-F238E27FC236}">
                <a16:creationId xmlns:a16="http://schemas.microsoft.com/office/drawing/2014/main" id="{54870262-BBF4-4C11-8575-7728C3ADFAD6}"/>
              </a:ext>
            </a:extLst>
          </p:cNvPr>
          <p:cNvSpPr>
            <a:spLocks xmlns:a="http://schemas.openxmlformats.org/drawingml/2006/main" noGrp="1"/>
          </p:cNvSpPr>
          <p:nvPr/>
        </p:nvSpPr>
        <p:spPr>
          <a:xfrm xmlns:a="http://schemas.openxmlformats.org/drawingml/2006/main">
            <a:off x="6457950" y="2533650"/>
            <a:ext cx="5048250" cy="287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2A3A"/>
                </a:solidFill>
                <a:latin typeface="Arial"/>
                <a:ea typeface="Arial"/>
                <a:cs typeface="Arial"/>
              </a:defRPr>
            </a:defPPr>
          </a:lstStyle>
          <a:p xmlns:a="http://schemas.openxmlformats.org/drawingml/2006/main">
            <a:pPr marL="228600" indent="-114300" algn="l">
              <a:spcAft>
                <a:spcPts val="1300"/>
              </a:spcAft>
              <a:buChar char="•"/>
              <a:defRPr sz="1950" b="0">
                <a:solidFill>
                  <a:srgbClr val="162A3A"/>
                </a:solidFill>
                <a:latin typeface="Arial"/>
                <a:ea typeface="Arial"/>
                <a:cs typeface="Arial"/>
              </a:defRPr>
            </a:pPr>
            <a:r>
              <a:t>Fund NAV against the official benchmark</a:t>
            </a:r>
          </a:p>
          <a:p xmlns:a="http://schemas.openxmlformats.org/drawingml/2006/main">
            <a:pPr marL="228600" indent="-114300" algn="l">
              <a:spcAft>
                <a:spcPts val="1300"/>
              </a:spcAft>
              <a:buChar char="•"/>
              <a:defRPr sz="1950" b="0">
                <a:solidFill>
                  <a:srgbClr val="162A3A"/>
                </a:solidFill>
                <a:latin typeface="Arial"/>
                <a:ea typeface="Arial"/>
                <a:cs typeface="Arial"/>
              </a:defRPr>
            </a:pPr>
            <a:r>
              <a:t>Each PM’s contribution to profit and drawdown</a:t>
            </a:r>
          </a:p>
          <a:p xmlns:a="http://schemas.openxmlformats.org/drawingml/2006/main">
            <a:pPr marL="228600" indent="-114300" algn="l">
              <a:spcAft>
                <a:spcPts val="1300"/>
              </a:spcAft>
              <a:buChar char="•"/>
              <a:defRPr sz="1950" b="0">
                <a:solidFill>
                  <a:srgbClr val="162A3A"/>
                </a:solidFill>
                <a:latin typeface="Arial"/>
                <a:ea typeface="Arial"/>
                <a:cs typeface="Arial"/>
              </a:defRPr>
            </a:pPr>
            <a:r>
              <a:t>Fees, slippage and applicable financing costs</a:t>
            </a:r>
          </a:p>
          <a:p xmlns:a="http://schemas.openxmlformats.org/drawingml/2006/main">
            <a:pPr marL="228600" indent="-114300" algn="l">
              <a:spcAft>
                <a:spcPts val="1300"/>
              </a:spcAft>
              <a:buChar char="•"/>
              <a:defRPr sz="1950" b="0">
                <a:solidFill>
                  <a:srgbClr val="162A3A"/>
                </a:solidFill>
                <a:latin typeface="Arial"/>
                <a:ea typeface="Arial"/>
                <a:cs typeface="Arial"/>
              </a:defRPr>
            </a:pPr>
            <a:r>
              <a:t>Capital transfers recorded separately from returns</a:t>
            </a:r>
          </a:p>
        </p:txBody>
      </p:sp>
      <p:sp>
        <p:nvSpPr>
          <p:cNvPr id="8" name="Saved evidence: closing prices, signals, orders, fills, allocation dec">
            <a:extLst xmlns:a="http://schemas.openxmlformats.org/drawingml/2006/main">
              <a:ext uri="{FF2B5EF4-FFF2-40B4-BE49-F238E27FC236}">
                <a16:creationId xmlns:a16="http://schemas.microsoft.com/office/drawing/2014/main" id="{43835E18-7B99-4DD8-B180-70D610A97154}"/>
              </a:ext>
            </a:extLst>
          </p:cNvPr>
          <p:cNvSpPr>
            <a:spLocks xmlns:a="http://schemas.openxmlformats.org/drawingml/2006/main" noGrp="1"/>
          </p:cNvSpPr>
          <p:nvPr/>
        </p:nvSpPr>
        <p:spPr>
          <a:xfrm xmlns:a="http://schemas.openxmlformats.org/drawingml/2006/main">
            <a:off x="685800" y="57912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87E8B"/>
                </a:solidFill>
                <a:latin typeface="Arial"/>
                <a:ea typeface="Arial"/>
                <a:cs typeface="Arial"/>
              </a:defRPr>
            </a:def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Saved evidence: closing prices, signals, orders, fills, allocation decisions and AI tool traces</a:t>
            </a:r>
          </a:p>
        </p:txBody>
      </p:sp>
    </p:spTree>
    <p:extLst>
      <p:ext uri="{BB962C8B-B14F-4D97-AF65-F5344CB8AC3E}">
        <p14:creationId xmlns:p14="http://schemas.microsoft.com/office/powerpoint/2010/main" val="80866443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Evaluation plan">
            <a:extLst xmlns:a="http://schemas.openxmlformats.org/drawingml/2006/main">
              <a:ext uri="{FF2B5EF4-FFF2-40B4-BE49-F238E27FC236}">
                <a16:creationId xmlns:a16="http://schemas.microsoft.com/office/drawing/2014/main" id="{739054BF-ED6D-4D95-8119-8160F86BAA66}"/>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Evaluation plan</a:t>
            </a:r>
          </a:p>
        </p:txBody>
      </p:sp>
      <p:sp>
        <p:nvSpPr>
          <p:cNvPr id="2" name="Trading performance and AI review quality have separate tests">
            <a:extLst xmlns:a="http://schemas.openxmlformats.org/drawingml/2006/main">
              <a:ext uri="{FF2B5EF4-FFF2-40B4-BE49-F238E27FC236}">
                <a16:creationId xmlns:a16="http://schemas.microsoft.com/office/drawing/2014/main" id="{32250964-CE06-4786-9197-B5C341637163}"/>
              </a:ext>
            </a:extLst>
          </p:cNvPr>
          <p:cNvSpPr>
            <a:spLocks xmlns:a="http://schemas.openxmlformats.org/drawingml/2006/main" noGrp="1"/>
          </p:cNvSpPr>
          <p:nvPr/>
        </p:nvSpPr>
        <p:spPr>
          <a:xfrm xmlns:a="http://schemas.openxmlformats.org/drawingml/2006/main">
            <a:off x="685800" y="11715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Trading performance and AI review quality have separate tests</a:t>
            </a:r>
          </a:p>
        </p:txBody>
      </p:sp>
      <p:sp>
        <p:nvSpPr>
          <p:cNvPr id="3" name="10">
            <a:extLst xmlns:a="http://schemas.openxmlformats.org/drawingml/2006/main">
              <a:ext uri="{FF2B5EF4-FFF2-40B4-BE49-F238E27FC236}">
                <a16:creationId xmlns:a16="http://schemas.microsoft.com/office/drawing/2014/main" id="{88FCC537-07F3-400B-A1CA-BEB335E9FC4A}"/>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87B5B599-EAF3-4858-8DA5-F818609CD315}"/>
              </a:ext>
            </a:extLst>
          </p:cNvPr>
          <p:cNvGraphicFramePr/>
          <p:nvPr/>
        </p:nvGraphicFramePr>
        <p:xfrm>
          <a:off xmlns:a="http://schemas.openxmlformats.org/drawingml/2006/main" x="685800" y="1905000"/>
          <a:ext xmlns:a="http://schemas.openxmlformats.org/drawingml/2006/main" cx="10820400" cy="3333750"/>
        </p:xfrm>
        <a:graphic xmlns:a="http://schemas.openxmlformats.org/drawingml/2006/main">
          <a:graphicData uri="http://schemas.openxmlformats.org/drawingml/2006/table">
            <a:tbl>
              <a:tblPr firstRow="1" bandRow="0"/>
              <a:tblGrid>
                <a:gridCol w="2619375"/>
                <a:gridCol w="4286250"/>
                <a:gridCol w="3914775"/>
              </a:tblGrid>
              <a:tr h="666750">
                <a:tc>
                  <a:txBody>
                    <a:bodyPr>
                      <a:noAutofit/>
                    </a:bodyPr>
                    <a:lstStyle/>
                    <a:p>
                      <a:r>
                        <a:rPr sz="1800" b="1">
                          <a:solidFill>
                            <a:srgbClr val="162A3A"/>
                          </a:solidFill>
                          <a:latin typeface="Arial"/>
                          <a:ea typeface="Arial"/>
                          <a:cs typeface="Arial"/>
                        </a:rPr>
                        <a:t>Experiment</a:t>
                      </a:r>
                    </a:p>
                  </a:txBody>
                  <a:tcPr marL="114300" marR="114300" marT="95250" marB="95250" anchor="ctr">
                    <a:lnL w="6668">
                      <a:solidFill>
                        <a:srgbClr val="D9E2E8"/>
                      </a:solidFill>
                      <a:prstDash val="solid"/>
                    </a:lnL>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00" b="1">
                          <a:solidFill>
                            <a:srgbClr val="162A3A"/>
                          </a:solidFill>
                          <a:latin typeface="Arial"/>
                          <a:ea typeface="Arial"/>
                          <a:cs typeface="Arial"/>
                        </a:rPr>
                        <a:t>Question</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00" b="1">
                          <a:solidFill>
                            <a:srgbClr val="162A3A"/>
                          </a:solidFill>
                          <a:latin typeface="Arial"/>
                          <a:ea typeface="Arial"/>
                          <a:cs typeface="Arial"/>
                        </a:rPr>
                        <a:t>Main evidence</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r>
              <a:tr h="666750">
                <a:tc>
                  <a:txBody>
                    <a:bodyPr>
                      <a:noAutofit/>
                    </a:bodyPr>
                    <a:lstStyle/>
                    <a:p>
                      <a:r>
                        <a:rPr sz="1800" b="0">
                          <a:solidFill>
                            <a:srgbClr val="162A3A"/>
                          </a:solidFill>
                          <a:latin typeface="Arial"/>
                          <a:ea typeface="Arial"/>
                          <a:cs typeface="Arial"/>
                        </a:rPr>
                        <a:t>Each PM alone</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Profitable after costs?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Net return, Sharpe and drawdown</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666750">
                <a:tc>
                  <a:txBody>
                    <a:bodyPr>
                      <a:noAutofit/>
                    </a:bodyPr>
                    <a:lstStyle/>
                    <a:p>
                      <a:r>
                        <a:rPr sz="1800" b="0">
                          <a:solidFill>
                            <a:srgbClr val="162A3A"/>
                          </a:solidFill>
                          <a:latin typeface="Arial"/>
                          <a:ea typeface="Arial"/>
                          <a:cs typeface="Arial"/>
                        </a:rPr>
                        <a:t>Initial-budget blend</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Better as a combined fund?</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Fund NAV, correlation and PM P&amp;L</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666750">
                <a:tc>
                  <a:txBody>
                    <a:bodyPr>
                      <a:noAutofit/>
                    </a:bodyPr>
                    <a:lstStyle/>
                    <a:p>
                      <a:r>
                        <a:rPr sz="1800" b="0">
                          <a:solidFill>
                            <a:srgbClr val="162A3A"/>
                          </a:solidFill>
                          <a:latin typeface="Arial"/>
                          <a:ea typeface="Arial"/>
                          <a:cs typeface="Arial"/>
                        </a:rPr>
                        <a:t>Allocation alternative</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Better after reallocation costs?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Incremental return, risk and turnover</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666750">
                <a:tc>
                  <a:txBody>
                    <a:bodyPr>
                      <a:noAutofit/>
                    </a:bodyPr>
                    <a:lstStyle/>
                    <a:p>
                      <a:r>
                        <a:rPr sz="1800" b="0">
                          <a:solidFill>
                            <a:srgbClr val="162A3A"/>
                          </a:solidFill>
                          <a:latin typeface="Arial"/>
                          <a:ea typeface="Arial"/>
                          <a:cs typeface="Arial"/>
                        </a:rPr>
                        <a:t>AI enabled / disabled</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Accurate and useful explanations?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Cited facts, review time and cost</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bl>
          </a:graphicData>
        </a:graphic>
      </p:graphicFrame>
      <p:sp>
        <p:nvSpPr>
          <p:cNvPr id="5" name="The AI comparison keeps quantitative portfolio decisions identical">
            <a:extLst xmlns:a="http://schemas.openxmlformats.org/drawingml/2006/main">
              <a:ext uri="{FF2B5EF4-FFF2-40B4-BE49-F238E27FC236}">
                <a16:creationId xmlns:a16="http://schemas.microsoft.com/office/drawing/2014/main" id="{B28E5906-121A-4030-814F-1C87EEA28947}"/>
              </a:ext>
            </a:extLst>
          </p:cNvPr>
          <p:cNvSpPr>
            <a:spLocks xmlns:a="http://schemas.openxmlformats.org/drawingml/2006/main" noGrp="1"/>
          </p:cNvSpPr>
          <p:nvPr/>
        </p:nvSpPr>
        <p:spPr>
          <a:xfrm xmlns:a="http://schemas.openxmlformats.org/drawingml/2006/main">
            <a:off x="685800" y="55530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E8B"/>
                </a:solidFill>
                <a:latin typeface="Arial"/>
                <a:ea typeface="Arial"/>
                <a:cs typeface="Arial"/>
              </a:defRPr>
            </a:defPPr>
          </a:lstStyle>
          <a:p xmlns:a="http://schemas.openxmlformats.org/drawingml/2006/main">
            <a:pPr algn="l">
              <a:defRPr sz="2175" b="1">
                <a:solidFill>
                  <a:srgbClr val="087E8B"/>
                </a:solidFill>
                <a:latin typeface="Arial"/>
                <a:ea typeface="Arial"/>
                <a:cs typeface="Arial"/>
              </a:defRPr>
            </a:pPr>
            <a:r>
              <a:rPr sz="2175" b="1">
                <a:solidFill>
                  <a:srgbClr val="087E8B"/>
                </a:solidFill>
                <a:latin typeface="Arial"/>
                <a:ea typeface="Arial"/>
                <a:cs typeface="Arial"/>
              </a:rPr>
              <a:t>The AI comparison keeps quantitative portfolio decisions identical</a:t>
            </a:r>
          </a:p>
        </p:txBody>
      </p:sp>
      <p:sp>
        <p:nvSpPr>
          <p:cNvPr id="6" name="Use the official benchmark and consistent dates, costs and capital con">
            <a:extLst xmlns:a="http://schemas.openxmlformats.org/drawingml/2006/main">
              <a:ext uri="{FF2B5EF4-FFF2-40B4-BE49-F238E27FC236}">
                <a16:creationId xmlns:a16="http://schemas.microsoft.com/office/drawing/2014/main" id="{98A2FF1D-C024-43EC-997A-5D9C35B5E87C}"/>
              </a:ext>
            </a:extLst>
          </p:cNvPr>
          <p:cNvSpPr>
            <a:spLocks xmlns:a="http://schemas.openxmlformats.org/drawingml/2006/main" noGrp="1"/>
          </p:cNvSpPr>
          <p:nvPr/>
        </p:nvSpPr>
        <p:spPr>
          <a:xfrm xmlns:a="http://schemas.openxmlformats.org/drawingml/2006/main">
            <a:off x="685800" y="60579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476"/>
                </a:solidFill>
                <a:latin typeface="Arial"/>
                <a:ea typeface="Arial"/>
                <a:cs typeface="Arial"/>
              </a:defRPr>
            </a:defPPr>
          </a:lstStyle>
          <a:p xmlns:a="http://schemas.openxmlformats.org/drawingml/2006/main">
            <a:pPr algn="l">
              <a:defRPr sz="1800" b="0">
                <a:solidFill>
                  <a:srgbClr val="516476"/>
                </a:solidFill>
                <a:latin typeface="Arial"/>
                <a:ea typeface="Arial"/>
                <a:cs typeface="Arial"/>
              </a:defRPr>
            </a:pPr>
            <a:r>
              <a:rPr sz="1800" b="0">
                <a:solidFill>
                  <a:srgbClr val="516476"/>
                </a:solidFill>
                <a:latin typeface="Arial"/>
                <a:ea typeface="Arial"/>
                <a:cs typeface="Arial"/>
              </a:rPr>
              <a:t>Use the official benchmark and consistent dates, costs and capital conventions.</a:t>
            </a:r>
          </a:p>
        </p:txBody>
      </p:sp>
    </p:spTree>
    <p:extLst>
      <p:ext uri="{BB962C8B-B14F-4D97-AF65-F5344CB8AC3E}">
        <p14:creationId xmlns:p14="http://schemas.microsoft.com/office/powerpoint/2010/main" val="99682870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livery and ownership">
            <a:extLst xmlns:a="http://schemas.openxmlformats.org/drawingml/2006/main">
              <a:ext uri="{FF2B5EF4-FFF2-40B4-BE49-F238E27FC236}">
                <a16:creationId xmlns:a16="http://schemas.microsoft.com/office/drawing/2014/main" id="{009DFA7D-5552-422D-A8A6-5692ED8EFDD4}"/>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Delivery and ownership</a:t>
            </a:r>
          </a:p>
        </p:txBody>
      </p:sp>
      <p:sp>
        <p:nvSpPr>
          <p:cNvPr id="2" name="One application hosts the PM views and the daily decision history">
            <a:extLst xmlns:a="http://schemas.openxmlformats.org/drawingml/2006/main">
              <a:ext uri="{FF2B5EF4-FFF2-40B4-BE49-F238E27FC236}">
                <a16:creationId xmlns:a16="http://schemas.microsoft.com/office/drawing/2014/main" id="{32BC338F-F6E7-431D-98F5-B7A79183EE96}"/>
              </a:ext>
            </a:extLst>
          </p:cNvPr>
          <p:cNvSpPr>
            <a:spLocks xmlns:a="http://schemas.openxmlformats.org/drawingml/2006/main" noGrp="1"/>
          </p:cNvSpPr>
          <p:nvPr/>
        </p:nvSpPr>
        <p:spPr>
          <a:xfrm xmlns:a="http://schemas.openxmlformats.org/drawingml/2006/main">
            <a:off x="685800" y="11715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One application hosts the PM views and the daily decision history</a:t>
            </a:r>
          </a:p>
        </p:txBody>
      </p:sp>
      <p:sp>
        <p:nvSpPr>
          <p:cNvPr id="3" name="11">
            <a:extLst xmlns:a="http://schemas.openxmlformats.org/drawingml/2006/main">
              <a:ext uri="{FF2B5EF4-FFF2-40B4-BE49-F238E27FC236}">
                <a16:creationId xmlns:a16="http://schemas.microsoft.com/office/drawing/2014/main" id="{53C68F92-7BB5-4D80-A2B6-54CEF3F81D33}"/>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11</a:t>
            </a:r>
          </a:p>
        </p:txBody>
      </p:sp>
      <p:sp>
        <p:nvSpPr>
          <p:cNvPr id="4" name="Submission and demonstration">
            <a:extLst xmlns:a="http://schemas.openxmlformats.org/drawingml/2006/main">
              <a:ext uri="{FF2B5EF4-FFF2-40B4-BE49-F238E27FC236}">
                <a16:creationId xmlns:a16="http://schemas.microsoft.com/office/drawing/2014/main" id="{3069367E-5779-4D50-A22F-6DFC51553543}"/>
              </a:ext>
            </a:extLst>
          </p:cNvPr>
          <p:cNvSpPr>
            <a:spLocks xmlns:a="http://schemas.openxmlformats.org/drawingml/2006/main" noGrp="1"/>
          </p:cNvSpPr>
          <p:nvPr/>
        </p:nvSpPr>
        <p:spPr>
          <a:xfrm xmlns:a="http://schemas.openxmlformats.org/drawingml/2006/main">
            <a:off x="685800" y="19526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62A3A"/>
                </a:solidFill>
                <a:latin typeface="Arial"/>
                <a:ea typeface="Arial"/>
                <a:cs typeface="Arial"/>
              </a:defRPr>
            </a:defPPr>
          </a:lstStyle>
          <a:p xmlns:a="http://schemas.openxmlformats.org/drawingml/2006/main">
            <a:pPr algn="l">
              <a:defRPr sz="2250" b="1">
                <a:solidFill>
                  <a:srgbClr val="162A3A"/>
                </a:solidFill>
                <a:latin typeface="Arial"/>
                <a:ea typeface="Arial"/>
                <a:cs typeface="Arial"/>
              </a:defRPr>
            </a:pPr>
            <a:r>
              <a:rPr sz="2250" b="1">
                <a:solidFill>
                  <a:srgbClr val="162A3A"/>
                </a:solidFill>
                <a:latin typeface="Arial"/>
                <a:ea typeface="Arial"/>
                <a:cs typeface="Arial"/>
              </a:rPr>
              <a:t>Submission and demonstration</a:t>
            </a:r>
          </a:p>
        </p:txBody>
      </p:sp>
      <p:sp>
        <p:nvSpPr>
          <p:cNvPr id="5" name="">
            <a:extLst xmlns:a="http://schemas.openxmlformats.org/drawingml/2006/main">
              <a:ext uri="{FF2B5EF4-FFF2-40B4-BE49-F238E27FC236}">
                <a16:creationId xmlns:a16="http://schemas.microsoft.com/office/drawing/2014/main" id="{B37A4733-898F-4546-A11C-6507B5BD52F4}"/>
              </a:ext>
            </a:extLst>
          </p:cNvPr>
          <p:cNvSpPr>
            <a:spLocks xmlns:a="http://schemas.openxmlformats.org/drawingml/2006/main" noGrp="1"/>
          </p:cNvSpPr>
          <p:nvPr/>
        </p:nvSpPr>
        <p:spPr>
          <a:xfrm xmlns:a="http://schemas.openxmlformats.org/drawingml/2006/main">
            <a:off x="685800" y="2533650"/>
            <a:ext cx="5238750" cy="2657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2A3A"/>
                </a:solidFill>
                <a:latin typeface="Arial"/>
                <a:ea typeface="Arial"/>
                <a:cs typeface="Arial"/>
              </a:defRPr>
            </a:defPPr>
          </a:lstStyle>
          <a:p xmlns:a="http://schemas.openxmlformats.org/drawingml/2006/main">
            <a:pPr marL="228600" indent="-114300" algn="l">
              <a:spcAft>
                <a:spcPts val="1300"/>
              </a:spcAft>
              <a:buChar char="•"/>
              <a:defRPr sz="1950" b="0">
                <a:solidFill>
                  <a:srgbClr val="162A3A"/>
                </a:solidFill>
                <a:latin typeface="Arial"/>
                <a:ea typeface="Arial"/>
                <a:cs typeface="Arial"/>
              </a:defRPr>
            </a:pPr>
            <a:r>
              <a:t>Reproducible strategy code and closing-price CSV</a:t>
            </a:r>
          </a:p>
          <a:p xmlns:a="http://schemas.openxmlformats.org/drawingml/2006/main">
            <a:pPr marL="228600" indent="-114300" algn="l">
              <a:spcAft>
                <a:spcPts val="1300"/>
              </a:spcAft>
              <a:buChar char="•"/>
              <a:defRPr sz="1950" b="0">
                <a:solidFill>
                  <a:srgbClr val="162A3A"/>
                </a:solidFill>
                <a:latin typeface="Arial"/>
                <a:ea typeface="Arial"/>
                <a:cs typeface="Arial"/>
              </a:defRPr>
            </a:pPr>
            <a:r>
              <a:t>Fund and PM performance dashboard</a:t>
            </a:r>
          </a:p>
          <a:p xmlns:a="http://schemas.openxmlformats.org/drawingml/2006/main">
            <a:pPr marL="228600" indent="-114300" algn="l">
              <a:spcAft>
                <a:spcPts val="1300"/>
              </a:spcAft>
              <a:buChar char="•"/>
              <a:defRPr sz="1950" b="0">
                <a:solidFill>
                  <a:srgbClr val="162A3A"/>
                </a:solidFill>
                <a:latin typeface="Arial"/>
                <a:ea typeface="Arial"/>
                <a:cs typeface="Arial"/>
              </a:defRPr>
            </a:pPr>
            <a:r>
              <a:t>Actual tool calls, risk verdicts and PM memos</a:t>
            </a:r>
          </a:p>
          <a:p xmlns:a="http://schemas.openxmlformats.org/drawingml/2006/main">
            <a:pPr marL="228600" indent="-114300" algn="l">
              <a:spcAft>
                <a:spcPts val="1300"/>
              </a:spcAft>
              <a:buChar char="•"/>
              <a:defRPr sz="1950" b="0">
                <a:solidFill>
                  <a:srgbClr val="162A3A"/>
                </a:solidFill>
                <a:latin typeface="Arial"/>
                <a:ea typeface="Arial"/>
                <a:cs typeface="Arial"/>
              </a:defRPr>
            </a:pPr>
            <a:r>
              <a:t>An isolated replay of a selected historical day</a:t>
            </a:r>
          </a:p>
        </p:txBody>
      </p:sp>
      <p:sp>
        <p:nvSpPr>
          <p:cNvPr id="6" name="Proposed hosting">
            <a:extLst xmlns:a="http://schemas.openxmlformats.org/drawingml/2006/main">
              <a:ext uri="{FF2B5EF4-FFF2-40B4-BE49-F238E27FC236}">
                <a16:creationId xmlns:a16="http://schemas.microsoft.com/office/drawing/2014/main" id="{4D7136AB-E36A-4910-983C-5FA2CADBC2BF}"/>
              </a:ext>
            </a:extLst>
          </p:cNvPr>
          <p:cNvSpPr>
            <a:spLocks xmlns:a="http://schemas.openxmlformats.org/drawingml/2006/main" noGrp="1"/>
          </p:cNvSpPr>
          <p:nvPr/>
        </p:nvSpPr>
        <p:spPr>
          <a:xfrm xmlns:a="http://schemas.openxmlformats.org/drawingml/2006/main">
            <a:off x="6762750" y="1952625"/>
            <a:ext cx="4743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62A3A"/>
                </a:solidFill>
                <a:latin typeface="Arial"/>
                <a:ea typeface="Arial"/>
                <a:cs typeface="Arial"/>
              </a:defRPr>
            </a:defPPr>
          </a:lstStyle>
          <a:p xmlns:a="http://schemas.openxmlformats.org/drawingml/2006/main">
            <a:pPr algn="l">
              <a:defRPr sz="2250" b="1">
                <a:solidFill>
                  <a:srgbClr val="162A3A"/>
                </a:solidFill>
                <a:latin typeface="Arial"/>
                <a:ea typeface="Arial"/>
                <a:cs typeface="Arial"/>
              </a:defRPr>
            </a:pPr>
            <a:r>
              <a:rPr sz="2250" b="1">
                <a:solidFill>
                  <a:srgbClr val="162A3A"/>
                </a:solidFill>
                <a:latin typeface="Arial"/>
                <a:ea typeface="Arial"/>
                <a:cs typeface="Arial"/>
              </a:rPr>
              <a:t>Proposed hosting</a:t>
            </a:r>
          </a:p>
        </p:txBody>
      </p:sp>
      <p:sp>
        <p:nvSpPr>
          <p:cNvPr id="7" name="">
            <a:extLst xmlns:a="http://schemas.openxmlformats.org/drawingml/2006/main">
              <a:ext uri="{FF2B5EF4-FFF2-40B4-BE49-F238E27FC236}">
                <a16:creationId xmlns:a16="http://schemas.microsoft.com/office/drawing/2014/main" id="{9A91508A-31D8-4CCA-92E7-687439F3DF2F}"/>
              </a:ext>
            </a:extLst>
          </p:cNvPr>
          <p:cNvSpPr>
            <a:spLocks xmlns:a="http://schemas.openxmlformats.org/drawingml/2006/main" noGrp="1"/>
          </p:cNvSpPr>
          <p:nvPr/>
        </p:nvSpPr>
        <p:spPr>
          <a:xfrm xmlns:a="http://schemas.openxmlformats.org/drawingml/2006/main">
            <a:off x="6762750" y="2533650"/>
            <a:ext cx="4743450" cy="2657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2A3A"/>
                </a:solidFill>
                <a:latin typeface="Arial"/>
                <a:ea typeface="Arial"/>
                <a:cs typeface="Arial"/>
              </a:defRPr>
            </a:defPPr>
          </a:lstStyle>
          <a:p xmlns:a="http://schemas.openxmlformats.org/drawingml/2006/main">
            <a:pPr marL="228600" indent="-114300" algn="l">
              <a:spcAft>
                <a:spcPts val="1300"/>
              </a:spcAft>
              <a:buChar char="•"/>
              <a:defRPr sz="1950" b="0">
                <a:solidFill>
                  <a:srgbClr val="162A3A"/>
                </a:solidFill>
                <a:latin typeface="Arial"/>
                <a:ea typeface="Arial"/>
                <a:cs typeface="Arial"/>
              </a:defRPr>
            </a:pPr>
            <a:r>
              <a:t>Streamlit dashboard</a:t>
            </a:r>
          </a:p>
          <a:p xmlns:a="http://schemas.openxmlformats.org/drawingml/2006/main">
            <a:pPr marL="228600" indent="-114300" algn="l">
              <a:spcAft>
                <a:spcPts val="1300"/>
              </a:spcAft>
              <a:buChar char="•"/>
              <a:defRPr sz="1950" b="0">
                <a:solidFill>
                  <a:srgbClr val="162A3A"/>
                </a:solidFill>
                <a:latin typeface="Arial"/>
                <a:ea typeface="Arial"/>
                <a:cs typeface="Arial"/>
              </a:defRPr>
            </a:pPr>
            <a:r>
              <a:t>One Python engine with a scheduled runner</a:t>
            </a:r>
          </a:p>
          <a:p xmlns:a="http://schemas.openxmlformats.org/drawingml/2006/main">
            <a:pPr marL="228600" indent="-114300" algn="l">
              <a:spcAft>
                <a:spcPts val="1300"/>
              </a:spcAft>
              <a:buChar char="•"/>
              <a:defRPr sz="1950" b="0">
                <a:solidFill>
                  <a:srgbClr val="162A3A"/>
                </a:solidFill>
                <a:latin typeface="Arial"/>
                <a:ea typeface="Arial"/>
                <a:cs typeface="Arial"/>
              </a:defRPr>
            </a:pPr>
            <a:r>
              <a:t>SQLite on persistent storage</a:t>
            </a:r>
          </a:p>
          <a:p xmlns:a="http://schemas.openxmlformats.org/drawingml/2006/main">
            <a:pPr marL="228600" indent="-114300" algn="l">
              <a:spcAft>
                <a:spcPts val="1300"/>
              </a:spcAft>
              <a:buChar char="•"/>
              <a:defRPr sz="1950" b="0">
                <a:solidFill>
                  <a:srgbClr val="162A3A"/>
                </a:solidFill>
                <a:latin typeface="Arial"/>
                <a:ea typeface="Arial"/>
                <a:cs typeface="Arial"/>
              </a:defRPr>
            </a:pPr>
            <a:r>
              <a:t>Server-side data and model credentials</a:t>
            </a:r>
          </a:p>
        </p:txBody>
      </p:sp>
      <p:sp>
        <p:nvSpPr>
          <p:cNvPr id="8" name="Ownership: three PM owners, an integration lead and a reporting/operat">
            <a:extLst xmlns:a="http://schemas.openxmlformats.org/drawingml/2006/main">
              <a:ext uri="{FF2B5EF4-FFF2-40B4-BE49-F238E27FC236}">
                <a16:creationId xmlns:a16="http://schemas.microsoft.com/office/drawing/2014/main" id="{0599E419-AF14-46DE-A241-1C2958F62729}"/>
              </a:ext>
            </a:extLst>
          </p:cNvPr>
          <p:cNvSpPr>
            <a:spLocks xmlns:a="http://schemas.openxmlformats.org/drawingml/2006/main" noGrp="1"/>
          </p:cNvSpPr>
          <p:nvPr/>
        </p:nvSpPr>
        <p:spPr>
          <a:xfrm xmlns:a="http://schemas.openxmlformats.org/drawingml/2006/main">
            <a:off x="685800" y="55626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62A3A"/>
                </a:solidFill>
                <a:latin typeface="Arial"/>
                <a:ea typeface="Arial"/>
                <a:cs typeface="Arial"/>
              </a:defRPr>
            </a:defPPr>
          </a:lstStyle>
          <a:p xmlns:a="http://schemas.openxmlformats.org/drawingml/2006/main">
            <a:pPr algn="l">
              <a:defRPr sz="1875" b="0">
                <a:solidFill>
                  <a:srgbClr val="162A3A"/>
                </a:solidFill>
                <a:latin typeface="Arial"/>
                <a:ea typeface="Arial"/>
                <a:cs typeface="Arial"/>
              </a:defRPr>
            </a:pPr>
            <a:r>
              <a:rPr sz="1875" b="0">
                <a:solidFill>
                  <a:srgbClr val="162A3A"/>
                </a:solidFill>
                <a:latin typeface="Arial"/>
                <a:ea typeface="Arial"/>
                <a:cs typeface="Arial"/>
              </a:rPr>
              <a:t>Ownership: three PM owners, an integration lead and a reporting/operations lead</a:t>
            </a:r>
          </a:p>
        </p:txBody>
      </p:sp>
      <p:sp>
        <p:nvSpPr>
          <p:cNvPr id="9" name="For four members, share reporting and operations. Final slides must na">
            <a:extLst xmlns:a="http://schemas.openxmlformats.org/drawingml/2006/main">
              <a:ext uri="{FF2B5EF4-FFF2-40B4-BE49-F238E27FC236}">
                <a16:creationId xmlns:a16="http://schemas.microsoft.com/office/drawing/2014/main" id="{91E8E115-855C-4B1F-A708-11FBA75039CC}"/>
              </a:ext>
            </a:extLst>
          </p:cNvPr>
          <p:cNvSpPr>
            <a:spLocks xmlns:a="http://schemas.openxmlformats.org/drawingml/2006/main" noGrp="1"/>
          </p:cNvSpPr>
          <p:nvPr/>
        </p:nvSpPr>
        <p:spPr>
          <a:xfrm xmlns:a="http://schemas.openxmlformats.org/drawingml/2006/main">
            <a:off x="685800" y="619125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16476"/>
                </a:solidFill>
                <a:latin typeface="Arial"/>
                <a:ea typeface="Arial"/>
                <a:cs typeface="Arial"/>
              </a:defRPr>
            </a:defPPr>
          </a:lstStyle>
          <a:p xmlns:a="http://schemas.openxmlformats.org/drawingml/2006/main">
            <a:pPr algn="l">
              <a:defRPr sz="1650" b="0">
                <a:solidFill>
                  <a:srgbClr val="516476"/>
                </a:solidFill>
                <a:latin typeface="Arial"/>
                <a:ea typeface="Arial"/>
                <a:cs typeface="Arial"/>
              </a:defRPr>
            </a:pPr>
            <a:r>
              <a:rPr sz="1650" b="0">
                <a:solidFill>
                  <a:srgbClr val="516476"/>
                </a:solidFill>
                <a:latin typeface="Arial"/>
                <a:ea typeface="Arial"/>
                <a:cs typeface="Arial"/>
              </a:rPr>
              <a:t>For four members, share reporting and operations. Final slides must name every member.</a:t>
            </a:r>
          </a:p>
        </p:txBody>
      </p:sp>
    </p:spTree>
    <p:extLst>
      <p:ext uri="{BB962C8B-B14F-4D97-AF65-F5344CB8AC3E}">
        <p14:creationId xmlns:p14="http://schemas.microsoft.com/office/powerpoint/2010/main" val="41647671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adiness and remaining inputs">
            <a:extLst xmlns:a="http://schemas.openxmlformats.org/drawingml/2006/main">
              <a:ext uri="{FF2B5EF4-FFF2-40B4-BE49-F238E27FC236}">
                <a16:creationId xmlns:a16="http://schemas.microsoft.com/office/drawing/2014/main" id="{E6A0DA4C-E54D-4355-8E3E-ED6C5E0987C4}"/>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Readiness and remaining inputs</a:t>
            </a:r>
          </a:p>
        </p:txBody>
      </p:sp>
      <p:sp>
        <p:nvSpPr>
          <p:cNvPr id="2" name="The combined fund and connected AI PMs are proposed work">
            <a:extLst xmlns:a="http://schemas.openxmlformats.org/drawingml/2006/main">
              <a:ext uri="{FF2B5EF4-FFF2-40B4-BE49-F238E27FC236}">
                <a16:creationId xmlns:a16="http://schemas.microsoft.com/office/drawing/2014/main" id="{B099794B-50F7-40D6-A8C3-E4552A4768C6}"/>
              </a:ext>
            </a:extLst>
          </p:cNvPr>
          <p:cNvSpPr>
            <a:spLocks xmlns:a="http://schemas.openxmlformats.org/drawingml/2006/main" noGrp="1"/>
          </p:cNvSpPr>
          <p:nvPr/>
        </p:nvSpPr>
        <p:spPr>
          <a:xfrm xmlns:a="http://schemas.openxmlformats.org/drawingml/2006/main">
            <a:off x="685800" y="11715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The combined fund and connected AI PMs are proposed work</a:t>
            </a:r>
          </a:p>
        </p:txBody>
      </p:sp>
      <p:sp>
        <p:nvSpPr>
          <p:cNvPr id="3" name="12">
            <a:extLst xmlns:a="http://schemas.openxmlformats.org/drawingml/2006/main">
              <a:ext uri="{FF2B5EF4-FFF2-40B4-BE49-F238E27FC236}">
                <a16:creationId xmlns:a16="http://schemas.microsoft.com/office/drawing/2014/main" id="{3812B119-5569-4DF3-8CB3-791B91772D4D}"/>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12</a:t>
            </a:r>
          </a:p>
        </p:txBody>
      </p:sp>
      <p:sp>
        <p:nvSpPr>
          <p:cNvPr id="4" name="Existing foundation">
            <a:extLst xmlns:a="http://schemas.openxmlformats.org/drawingml/2006/main">
              <a:ext uri="{FF2B5EF4-FFF2-40B4-BE49-F238E27FC236}">
                <a16:creationId xmlns:a16="http://schemas.microsoft.com/office/drawing/2014/main" id="{3D20A997-FB7A-4A81-8334-B9E9CC656BDC}"/>
              </a:ext>
            </a:extLst>
          </p:cNvPr>
          <p:cNvSpPr>
            <a:spLocks xmlns:a="http://schemas.openxmlformats.org/drawingml/2006/main" noGrp="1"/>
          </p:cNvSpPr>
          <p:nvPr/>
        </p:nvSpPr>
        <p:spPr>
          <a:xfrm xmlns:a="http://schemas.openxmlformats.org/drawingml/2006/main">
            <a:off x="685800" y="19431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62A3A"/>
                </a:solidFill>
                <a:latin typeface="Arial"/>
                <a:ea typeface="Arial"/>
                <a:cs typeface="Arial"/>
              </a:defRPr>
            </a:defPPr>
          </a:lstStyle>
          <a:p xmlns:a="http://schemas.openxmlformats.org/drawingml/2006/main">
            <a:pPr algn="l">
              <a:defRPr sz="2250" b="1">
                <a:solidFill>
                  <a:srgbClr val="162A3A"/>
                </a:solidFill>
                <a:latin typeface="Arial"/>
                <a:ea typeface="Arial"/>
                <a:cs typeface="Arial"/>
              </a:defRPr>
            </a:pPr>
            <a:r>
              <a:rPr sz="2250" b="1">
                <a:solidFill>
                  <a:srgbClr val="162A3A"/>
                </a:solidFill>
                <a:latin typeface="Arial"/>
                <a:ea typeface="Arial"/>
                <a:cs typeface="Arial"/>
              </a:rPr>
              <a:t>Existing foundation</a:t>
            </a:r>
          </a:p>
        </p:txBody>
      </p:sp>
      <p:sp>
        <p:nvSpPr>
          <p:cNvPr id="5" name="">
            <a:extLst xmlns:a="http://schemas.openxmlformats.org/drawingml/2006/main">
              <a:ext uri="{FF2B5EF4-FFF2-40B4-BE49-F238E27FC236}">
                <a16:creationId xmlns:a16="http://schemas.microsoft.com/office/drawing/2014/main" id="{FF8EA3E5-95BB-40E6-8280-32B95A309FB0}"/>
              </a:ext>
            </a:extLst>
          </p:cNvPr>
          <p:cNvSpPr>
            <a:spLocks xmlns:a="http://schemas.openxmlformats.org/drawingml/2006/main" noGrp="1"/>
          </p:cNvSpPr>
          <p:nvPr/>
        </p:nvSpPr>
        <p:spPr>
          <a:xfrm xmlns:a="http://schemas.openxmlformats.org/drawingml/2006/main">
            <a:off x="685800" y="2524125"/>
            <a:ext cx="5048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62A3A"/>
                </a:solidFill>
                <a:latin typeface="Arial"/>
                <a:ea typeface="Arial"/>
                <a:cs typeface="Arial"/>
              </a:defRPr>
            </a:defPPr>
          </a:lstStyle>
          <a:p xmlns:a="http://schemas.openxmlformats.org/drawingml/2006/main">
            <a:pPr marL="228600" indent="-114300" algn="l">
              <a:spcAft>
                <a:spcPts val="1300"/>
              </a:spcAft>
              <a:buChar char="•"/>
              <a:defRPr sz="2025" b="0">
                <a:solidFill>
                  <a:srgbClr val="162A3A"/>
                </a:solidFill>
                <a:latin typeface="Arial"/>
                <a:ea typeface="Arial"/>
                <a:cs typeface="Arial"/>
              </a:defRPr>
            </a:pPr>
            <a:r>
              <a:t>Crypto data and daily paper workflow</a:t>
            </a:r>
          </a:p>
          <a:p xmlns:a="http://schemas.openxmlformats.org/drawingml/2006/main">
            <a:pPr marL="228600" indent="-114300" algn="l">
              <a:spcAft>
                <a:spcPts val="1300"/>
              </a:spcAft>
              <a:buChar char="•"/>
              <a:defRPr sz="2025" b="0">
                <a:solidFill>
                  <a:srgbClr val="162A3A"/>
                </a:solidFill>
                <a:latin typeface="Arial"/>
                <a:ea typeface="Arial"/>
                <a:cs typeface="Arial"/>
              </a:defRPr>
            </a:pPr>
            <a:r>
              <a:t>Agent orchestration, risk checks and logs</a:t>
            </a:r>
          </a:p>
          <a:p xmlns:a="http://schemas.openxmlformats.org/drawingml/2006/main">
            <a:pPr marL="228600" indent="-114300" algn="l">
              <a:spcAft>
                <a:spcPts val="1300"/>
              </a:spcAft>
              <a:buChar char="•"/>
              <a:defRPr sz="2025" b="0">
                <a:solidFill>
                  <a:srgbClr val="162A3A"/>
                </a:solidFill>
                <a:latin typeface="Arial"/>
                <a:ea typeface="Arial"/>
                <a:cs typeface="Arial"/>
              </a:defRPr>
            </a:pPr>
            <a:r>
              <a:t>Recorded intents and optional AI replies</a:t>
            </a:r>
          </a:p>
        </p:txBody>
      </p:sp>
      <p:sp>
        <p:nvSpPr>
          <p:cNvPr id="6" name="Inputs before integration">
            <a:extLst xmlns:a="http://schemas.openxmlformats.org/drawingml/2006/main">
              <a:ext uri="{FF2B5EF4-FFF2-40B4-BE49-F238E27FC236}">
                <a16:creationId xmlns:a16="http://schemas.microsoft.com/office/drawing/2014/main" id="{0CC52C95-8E5D-4CEE-89E9-4F546C77D365}"/>
              </a:ext>
            </a:extLst>
          </p:cNvPr>
          <p:cNvSpPr>
            <a:spLocks xmlns:a="http://schemas.openxmlformats.org/drawingml/2006/main" noGrp="1"/>
          </p:cNvSpPr>
          <p:nvPr/>
        </p:nvSpPr>
        <p:spPr>
          <a:xfrm xmlns:a="http://schemas.openxmlformats.org/drawingml/2006/main">
            <a:off x="6457950" y="19431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62A3A"/>
                </a:solidFill>
                <a:latin typeface="Arial"/>
                <a:ea typeface="Arial"/>
                <a:cs typeface="Arial"/>
              </a:defRPr>
            </a:defPPr>
          </a:lstStyle>
          <a:p xmlns:a="http://schemas.openxmlformats.org/drawingml/2006/main">
            <a:pPr algn="l">
              <a:defRPr sz="2250" b="1">
                <a:solidFill>
                  <a:srgbClr val="162A3A"/>
                </a:solidFill>
                <a:latin typeface="Arial"/>
                <a:ea typeface="Arial"/>
                <a:cs typeface="Arial"/>
              </a:defRPr>
            </a:pPr>
            <a:r>
              <a:rPr sz="2250" b="1">
                <a:solidFill>
                  <a:srgbClr val="162A3A"/>
                </a:solidFill>
                <a:latin typeface="Arial"/>
                <a:ea typeface="Arial"/>
                <a:cs typeface="Arial"/>
              </a:rPr>
              <a:t>Inputs before integration</a:t>
            </a:r>
          </a:p>
        </p:txBody>
      </p:sp>
      <p:sp>
        <p:nvSpPr>
          <p:cNvPr id="7" name="">
            <a:extLst xmlns:a="http://schemas.openxmlformats.org/drawingml/2006/main">
              <a:ext uri="{FF2B5EF4-FFF2-40B4-BE49-F238E27FC236}">
                <a16:creationId xmlns:a16="http://schemas.microsoft.com/office/drawing/2014/main" id="{725CA3C9-85D8-4F12-BFCC-74CB79B47F3C}"/>
              </a:ext>
            </a:extLst>
          </p:cNvPr>
          <p:cNvSpPr>
            <a:spLocks xmlns:a="http://schemas.openxmlformats.org/drawingml/2006/main" noGrp="1"/>
          </p:cNvSpPr>
          <p:nvPr/>
        </p:nvSpPr>
        <p:spPr>
          <a:xfrm xmlns:a="http://schemas.openxmlformats.org/drawingml/2006/main">
            <a:off x="6457950" y="2524125"/>
            <a:ext cx="504825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2A3A"/>
                </a:solidFill>
                <a:latin typeface="Arial"/>
                <a:ea typeface="Arial"/>
                <a:cs typeface="Arial"/>
              </a:defRPr>
            </a:defPPr>
          </a:lstStyle>
          <a:p xmlns:a="http://schemas.openxmlformats.org/drawingml/2006/main">
            <a:pPr marL="228600" indent="-114300" algn="l">
              <a:spcAft>
                <a:spcPts val="1300"/>
              </a:spcAft>
              <a:buChar char="•"/>
              <a:defRPr sz="1950" b="0">
                <a:solidFill>
                  <a:srgbClr val="162A3A"/>
                </a:solidFill>
                <a:latin typeface="Arial"/>
                <a:ea typeface="Arial"/>
                <a:cs typeface="Arial"/>
              </a:defRPr>
            </a:pPr>
            <a:r>
              <a:t>Strategy packages, assets and momentum cadence</a:t>
            </a:r>
          </a:p>
          <a:p xmlns:a="http://schemas.openxmlformats.org/drawingml/2006/main">
            <a:pPr marL="228600" indent="-114300" algn="l">
              <a:spcAft>
                <a:spcPts val="1300"/>
              </a:spcAft>
              <a:buChar char="•"/>
              <a:defRPr sz="1950" b="0">
                <a:solidFill>
                  <a:srgbClr val="162A3A"/>
                </a:solidFill>
                <a:latin typeface="Arial"/>
                <a:ea typeface="Arial"/>
                <a:cs typeface="Arial"/>
              </a:defRPr>
            </a:pPr>
            <a:r>
              <a:t>Mandatory assets and official benchmark</a:t>
            </a:r>
          </a:p>
          <a:p xmlns:a="http://schemas.openxmlformats.org/drawingml/2006/main">
            <a:pPr marL="228600" indent="-114300" algn="l">
              <a:spcAft>
                <a:spcPts val="1300"/>
              </a:spcAft>
              <a:buChar char="•"/>
              <a:defRPr sz="1950" b="0">
                <a:solidFill>
                  <a:srgbClr val="162A3A"/>
                </a:solidFill>
                <a:latin typeface="Arial"/>
                <a:ea typeface="Arial"/>
                <a:cs typeface="Arial"/>
              </a:defRPr>
            </a:pPr>
            <a:r>
              <a:t>Capital, costs, shorting and execution rules</a:t>
            </a:r>
          </a:p>
          <a:p xmlns:a="http://schemas.openxmlformats.org/drawingml/2006/main">
            <a:pPr marL="228600" indent="-114300" algn="l">
              <a:spcAft>
                <a:spcPts val="1300"/>
              </a:spcAft>
              <a:buChar char="•"/>
              <a:defRPr sz="1950" b="0">
                <a:solidFill>
                  <a:srgbClr val="162A3A"/>
                </a:solidFill>
                <a:latin typeface="Arial"/>
                <a:ea typeface="Arial"/>
                <a:cs typeface="Arial"/>
              </a:defRPr>
            </a:pPr>
            <a:r>
              <a:t>Member names and individual responsibilities</a:t>
            </a:r>
          </a:p>
        </p:txBody>
      </p:sp>
      <p:sp>
        <p:nvSpPr>
          <p:cNvPr id="8" name="First version: initial budgets, shared accounting, fund risk and AI to">
            <a:extLst xmlns:a="http://schemas.openxmlformats.org/drawingml/2006/main">
              <a:ext uri="{FF2B5EF4-FFF2-40B4-BE49-F238E27FC236}">
                <a16:creationId xmlns:a16="http://schemas.microsoft.com/office/drawing/2014/main" id="{AB8B1AAA-B561-44AE-A947-ABEA64CC4C10}"/>
              </a:ext>
            </a:extLst>
          </p:cNvPr>
          <p:cNvSpPr>
            <a:spLocks xmlns:a="http://schemas.openxmlformats.org/drawingml/2006/main" noGrp="1"/>
          </p:cNvSpPr>
          <p:nvPr/>
        </p:nvSpPr>
        <p:spPr>
          <a:xfrm xmlns:a="http://schemas.openxmlformats.org/drawingml/2006/main">
            <a:off x="685800" y="54006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E8B"/>
                </a:solidFill>
                <a:latin typeface="Arial"/>
                <a:ea typeface="Arial"/>
                <a:cs typeface="Arial"/>
              </a:defRPr>
            </a:defPPr>
          </a:lstStyle>
          <a:p xmlns:a="http://schemas.openxmlformats.org/drawingml/2006/main">
            <a:pPr algn="l">
              <a:defRPr sz="2025" b="1">
                <a:solidFill>
                  <a:srgbClr val="087E8B"/>
                </a:solidFill>
                <a:latin typeface="Arial"/>
                <a:ea typeface="Arial"/>
                <a:cs typeface="Arial"/>
              </a:defRPr>
            </a:pPr>
            <a:r>
              <a:rPr sz="2025" b="1">
                <a:solidFill>
                  <a:srgbClr val="087E8B"/>
                </a:solidFill>
                <a:latin typeface="Arial"/>
                <a:ea typeface="Arial"/>
                <a:cs typeface="Arial"/>
              </a:rPr>
              <a:t>First version: initial budgets, shared accounting, fund risk and AI tool access</a:t>
            </a:r>
          </a:p>
        </p:txBody>
      </p:sp>
      <p:sp>
        <p:nvSpPr>
          <p:cNvPr id="9" name="Extensions: dynamic allocation, regime routing and physical order nett">
            <a:extLst xmlns:a="http://schemas.openxmlformats.org/drawingml/2006/main">
              <a:ext uri="{FF2B5EF4-FFF2-40B4-BE49-F238E27FC236}">
                <a16:creationId xmlns:a16="http://schemas.microsoft.com/office/drawing/2014/main" id="{C3821AB0-EFBE-46A2-88BC-7340F147C8C5}"/>
              </a:ext>
            </a:extLst>
          </p:cNvPr>
          <p:cNvSpPr>
            <a:spLocks xmlns:a="http://schemas.openxmlformats.org/drawingml/2006/main" noGrp="1"/>
          </p:cNvSpPr>
          <p:nvPr/>
        </p:nvSpPr>
        <p:spPr>
          <a:xfrm xmlns:a="http://schemas.openxmlformats.org/drawingml/2006/main">
            <a:off x="685800" y="59817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476"/>
                </a:solidFill>
                <a:latin typeface="Arial"/>
                <a:ea typeface="Arial"/>
                <a:cs typeface="Arial"/>
              </a:defRPr>
            </a:defPPr>
          </a:lstStyle>
          <a:p xmlns:a="http://schemas.openxmlformats.org/drawingml/2006/main">
            <a:pPr algn="l">
              <a:defRPr sz="1800" b="0">
                <a:solidFill>
                  <a:srgbClr val="516476"/>
                </a:solidFill>
                <a:latin typeface="Arial"/>
                <a:ea typeface="Arial"/>
                <a:cs typeface="Arial"/>
              </a:defRPr>
            </a:pPr>
            <a:r>
              <a:rPr sz="1800" b="0">
                <a:solidFill>
                  <a:srgbClr val="516476"/>
                </a:solidFill>
                <a:latin typeface="Arial"/>
                <a:ea typeface="Arial"/>
                <a:cs typeface="Arial"/>
              </a:rPr>
              <a:t>Extensions: dynamic allocation, regime routing and physical order netting</a:t>
            </a:r>
          </a:p>
        </p:txBody>
      </p:sp>
    </p:spTree>
    <p:extLst>
      <p:ext uri="{BB962C8B-B14F-4D97-AF65-F5344CB8AC3E}">
        <p14:creationId xmlns:p14="http://schemas.microsoft.com/office/powerpoint/2010/main" val="21387506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2026-10-14T02:31:30.3380000Z</dcterms:created>
  <dcterms:modified xsi:type="dcterms:W3CDTF">2026-10-14T02:31:30.3390000Z</dcterms:modified>
</coreProperties>
</file>
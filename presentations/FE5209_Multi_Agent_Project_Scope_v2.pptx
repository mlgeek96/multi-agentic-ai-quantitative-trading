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9f32fc2d8b494f" /><Relationship Type="http://schemas.openxmlformats.org/officeDocument/2006/relationships/extended-properties" Target="/docProps/app.xml" Id="Rbdb946792f314f25" /><Relationship Type="http://schemas.openxmlformats.org/officeDocument/2006/relationships/officeDocument" Target="/ppt/presentation.xml" Id="R2feeef2295824bd0" /></Relationships>
</file>

<file path=ppt/presentation.xml><?xml version="1.0" encoding="utf-8"?>
<p:presentation xmlns:p="http://schemas.openxmlformats.org/presentationml/2006/main">
  <p:sldMasterIdLst>
    <p:sldMasterId xmlns:r="http://schemas.openxmlformats.org/officeDocument/2006/relationships" id="2147483648" r:id="Rdc35629bf6ee4f55"/>
  </p:sldMasterIdLst>
  <p:notesMasterIdLst>
    <p:notesMasterId xmlns:r="http://schemas.openxmlformats.org/officeDocument/2006/relationships" r:id="R4468af8454114f3b"/>
  </p:notesMasterIdLst>
  <p:sldIdLst>
    <p:sldId xmlns:r="http://schemas.openxmlformats.org/officeDocument/2006/relationships" id="256" r:id="R4d07ae641fac42f6"/>
    <p:sldId xmlns:r="http://schemas.openxmlformats.org/officeDocument/2006/relationships" id="257" r:id="R08aa749c5e704ab7"/>
    <p:sldId xmlns:r="http://schemas.openxmlformats.org/officeDocument/2006/relationships" id="258" r:id="R4bd0c624c2ad45c8"/>
    <p:sldId xmlns:r="http://schemas.openxmlformats.org/officeDocument/2006/relationships" id="259" r:id="R4a5004c4bcb44dce"/>
    <p:sldId xmlns:r="http://schemas.openxmlformats.org/officeDocument/2006/relationships" id="260" r:id="R68df6089b67f4882"/>
    <p:sldId xmlns:r="http://schemas.openxmlformats.org/officeDocument/2006/relationships" id="261" r:id="Rebdafbc1a12e4e92"/>
    <p:sldId xmlns:r="http://schemas.openxmlformats.org/officeDocument/2006/relationships" id="262" r:id="R20ee354d2a974f63"/>
    <p:sldId xmlns:r="http://schemas.openxmlformats.org/officeDocument/2006/relationships" id="263" r:id="Rdf8b4893f4be44fc"/>
    <p:sldId xmlns:r="http://schemas.openxmlformats.org/officeDocument/2006/relationships" id="264" r:id="Rcea8bce254124c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c9d309791a4870" /><Relationship Type="http://schemas.openxmlformats.org/officeDocument/2006/relationships/slideMaster" Target="/ppt/slideMasters/slideMaster1.xml" Id="Rdc35629bf6ee4f55" /><Relationship Type="http://schemas.openxmlformats.org/officeDocument/2006/relationships/notesMaster" Target="/ppt/notesMasters/notesMaster1.xml" Id="R4468af8454114f3b" /><Relationship Type="http://schemas.openxmlformats.org/officeDocument/2006/relationships/presProps" Target="/ppt/presProps.xml" Id="R9cfd5b758c904dab" /><Relationship Type="http://schemas.openxmlformats.org/officeDocument/2006/relationships/tableStyles" Target="/ppt/tableStyles.xml" Id="Racb837d8a7d84e8c" /><Relationship Type="http://schemas.openxmlformats.org/officeDocument/2006/relationships/slide" Target="/ppt/slides/slide1.xml" Id="R4d07ae641fac42f6" /><Relationship Type="http://schemas.openxmlformats.org/officeDocument/2006/relationships/slide" Target="/ppt/slides/slide2.xml" Id="R08aa749c5e704ab7" /><Relationship Type="http://schemas.openxmlformats.org/officeDocument/2006/relationships/slide" Target="/ppt/slides/slide3.xml" Id="R4bd0c624c2ad45c8" /><Relationship Type="http://schemas.openxmlformats.org/officeDocument/2006/relationships/slide" Target="/ppt/slides/slide4.xml" Id="R4a5004c4bcb44dce" /><Relationship Type="http://schemas.openxmlformats.org/officeDocument/2006/relationships/slide" Target="/ppt/slides/slide5.xml" Id="R68df6089b67f4882" /><Relationship Type="http://schemas.openxmlformats.org/officeDocument/2006/relationships/slide" Target="/ppt/slides/slide6.xml" Id="Rebdafbc1a12e4e92" /><Relationship Type="http://schemas.openxmlformats.org/officeDocument/2006/relationships/slide" Target="/ppt/slides/slide7.xml" Id="R20ee354d2a974f63" /><Relationship Type="http://schemas.openxmlformats.org/officeDocument/2006/relationships/slide" Target="/ppt/slides/slide8.xml" Id="Rdf8b4893f4be44fc" /><Relationship Type="http://schemas.openxmlformats.org/officeDocument/2006/relationships/slide" Target="/ppt/slides/slide9.xml" Id="Rcea8bce254124c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98392e4d1f4d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0bcb3bc68449f7" /><Relationship Type="http://schemas.openxmlformats.org/officeDocument/2006/relationships/notesMaster" Target="/ppt/notesMasters/notesMaster1.xml" Id="R4cedaa8410b043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74845b337749aa" /><Relationship Type="http://schemas.openxmlformats.org/officeDocument/2006/relationships/notesMaster" Target="/ppt/notesMasters/notesMaster1.xml" Id="R8ce2e2faea414f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79ae6b90524def" /><Relationship Type="http://schemas.openxmlformats.org/officeDocument/2006/relationships/notesMaster" Target="/ppt/notesMasters/notesMaster1.xml" Id="R057fb4046ce74a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f0015de22745ff" /><Relationship Type="http://schemas.openxmlformats.org/officeDocument/2006/relationships/notesMaster" Target="/ppt/notesMasters/notesMaster1.xml" Id="R067fd83637e247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3e83d566c04057" /><Relationship Type="http://schemas.openxmlformats.org/officeDocument/2006/relationships/notesMaster" Target="/ppt/notesMasters/notesMaster1.xml" Id="Rbda642e87c0346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42a2754f8b41d0" /><Relationship Type="http://schemas.openxmlformats.org/officeDocument/2006/relationships/notesMaster" Target="/ppt/notesMasters/notesMaster1.xml" Id="Rf95bf70821c843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53de63035241ff" /><Relationship Type="http://schemas.openxmlformats.org/officeDocument/2006/relationships/notesMaster" Target="/ppt/notesMasters/notesMaster1.xml" Id="R8a4a5f94d11647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a6d6d6698f413e" /><Relationship Type="http://schemas.openxmlformats.org/officeDocument/2006/relationships/notesMaster" Target="/ppt/notesMasters/notesMaster1.xml" Id="R4f5443988a7747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d2da9188b74303" /><Relationship Type="http://schemas.openxmlformats.org/officeDocument/2006/relationships/notesMaster" Target="/ppt/notesMasters/notesMaster1.xml" Id="Rb3f531e37b4c4b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combines an equity momentum strategy, a daily pairs strategy and a crypto strategy. Each PM has a quantitative engine and a planned AI representative with diagnostic tools. A coordinator allocates capital and a deterministic risk controller approves portfolio changes. USD 5 million is the team’s proposed simulated capital, subject to the instructor’s starting-capital convention. This deck describes scope and design, with no claim that the combined fund is implemented or profitable.</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Local source: C:\Users\user\OneDrive\Personal Work Repos\Crypto Trading Strategy Research\ARCHITECTURE.md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confirmed workspace brief permits a coherent multi-model ensemble. The mandatory core assets must appear in the selected universe, and each included asset needs history before 1 August 2025. The date range is 23 calendar days, not 23 US equity trading sessions. The required closing-price file covers all included portfolio assets. Live-tested code does not by itself establish instructor acceptance of paper execution. Keep the existing October history intact and label historical replays and backfilled records separately.</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totals USD 5 million: three allocations of USD 1.5 million and USD 0.5 million of central cash. These are capital mandates, not instructions to deploy every dollar. The baseline makes no transfers between PMs, so sleeve weights drift with returns. Restoring constant weights is a separate policy that must include turnover and costs. Compare a predefined alternative, such as capped inverse-volatility budgets, only after the initial allocation works. Preserve the same accounting and exposure limits across the comparison.</a:t>
            </a:r>
          </a:p>
          <a:p xmlns:a="http://schemas.openxmlformats.org/drawingml/2006/main">
            <a:r>
              <a:t/>
            </a:r>
          </a:p>
          <a:p xmlns:a="http://schemas.openxmlformats.org/drawingml/2006/main">
            <a:r>
              <a:t>Source: https://waylandz.com/quant-book-en/Lesson-16-Portfolio-Construction-and-Exposure-Management/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agents may use the same underlying model with separate mandates, tool access and state. To demonstrate agent behaviour, each representative chooses which permitted diagnostic tool to inspect in response to a question. A fixed sequence of prompts is an AI workflow. The numerical strategy engine still runs on schedule if AI is unavailable. AI reporting is the output of these agents, rather than a separate additional agent. An optional reviewer checks the PM memos against saved evidence. Code validates quoted metrics. No connected LLM agent is claimed in the existing scaffold, which currently accepts imported research replies.</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Source: https://docs.langchain.com/oss/python/langgraph/workflows-agents</a:t>
            </a:r>
          </a:p>
          <a:p xmlns:a="http://schemas.openxmlformats.org/drawingml/2006/main">
            <a:r>
              <a:t>Source: https://waylandz.com/quant-book-en/Lesson-14-LLM-Applications-in-Quant/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teammate’s pairs strategy operates daily. The after-close and next-session timing shown here is a proposal, not a verified feature of that strategy. Inspect the actual decision timestamp, update method and fill convention before integration. Inputs must be available at the decision time, and a signal formed from a completed close cannot assume a fill at that same already-observed close. Keep equity sessions and holidays distinct from the crypto calendar. Use a common UTC valuation cutoff, preserve source price timestamps and record approved market-closed carry marks. Confirm momentum frequency. Daily crypto is proposed for the first integrated version.</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https://www.nyse.com/trade/hours-calendars</a:t>
            </a:r>
          </a:p>
          <a:p xmlns:a="http://schemas.openxmlformats.org/drawingml/2006/main">
            <a:r>
              <a:t>Source: https://waylandz.com/quant-book-en/Lesson-19-Execution-System/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PM maintains positions, cash, model state, orders and costs in a virtual sleeve ledger. Normalize consolidated reporting to USD and record the conversion used for USDT positions. Short-sale proceeds require a cash and margin policy. The initial paper model simulates sleeve orders separately and charges their respective costs, while reporting consolidated net exposure and sleeve gross exposure. Physical order netting is an extension requiring an attribution rule. Withdraw only unencumbered cash. Resizing a pair must preserve its declared hedge relationship. Each approved intent must reconcile to an execution record before the ledger claims a fill.</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Source: https://waylandz.com/quant-book-en/Lesson-16-Portfolio-Construction-and-Exposure-Management/</a:t>
            </a:r>
          </a:p>
          <a:p xmlns:a="http://schemas.openxmlformats.org/drawingml/2006/main">
            <a:r>
              <a:t>Source: https://waylandz.com/quant-book-en/Lesson-15-Risk-Control-and-Money-Management/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course KPIs include P&amp;L, total and annualized return, Sharpe ratio, maximum drawdown, annualized volatility, win rate, average profit per trade, trade count, holding period, and drawdown frequency and duration. Add PM attribution and exposure to evaluate coordination. Align annualization with the actual return series. A mixed-asset daily fund series needs a declared calendar and valuation policy. Show unavailable statistics when there are no qualifying trades or too few observations. Costs include applicable commissions, slippage and borrowing or funding. Fix allocation policies using development data and preserve the October evaluation history. The AI-on/off comparison tests operations and explanations, not an AI trading-alpha claim.</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https://waylandz.com/quant-book-en/Lesson-16-Portfolio-Construction-and-Exposure-Management/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strategy owners provide their assets, cadence, update method and target-position interface. The integration lead owns fund accounting, allocation, risk and execution reconciliation. The reporting and operations lead owns the hosted dashboard, AI trace presentation, scheduled runs and submission outputs. For a four-person team, distribute the latter responsibilities explicitly. Names are not supplied, so this is a proposed role allocation rather than a final individual-contribution statement. A small paid Render deployment can host the dashboard and separate scheduled engine in one service. Persistent disks belong to one service instance, and native Render cron jobs cannot access them. Keep the daily engine independent of dashboard visits. Streamlit Community Cloud is a demo alternative with a separate runner because idle applications hibernate.</a:t>
            </a:r>
          </a:p>
          <a:p xmlns:a="http://schemas.openxmlformats.org/drawingml/2006/main">
            <a:r>
              <a:t/>
            </a:r>
          </a:p>
          <a:p xmlns:a="http://schemas.openxmlformats.org/drawingml/2006/main">
            <a:r>
              <a:t>Local source: C:\Users\user\OneDrive\Personal Work Repos\Crypto Trading Strategy Research\algorithmic_trading_strategy_project_brief_execution_roadmap.md</a:t>
            </a:r>
          </a:p>
          <a:p xmlns:a="http://schemas.openxmlformats.org/drawingml/2006/main">
            <a:r>
              <a:t>Source: https://render.com/docs/disks</a:t>
            </a:r>
          </a:p>
          <a:p xmlns:a="http://schemas.openxmlformats.org/drawingml/2006/main">
            <a:r>
              <a:t>Source: https://docs.streamlit.io/deploy/streamlit-community-cloud/manage-your-app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agent architecture is a local crypto prototype. Its execution component records intents without fills, while the separate daily runner performs paper accounting. Direct LLM provider integration is deferred. Holdings currently use non-negative units and USDT cash, so equity calendars, signed pair positions and consolidated USD sleeve accounting need adaptation. The daily BTC/ETH baseline trails its equal-weight validation benchmark. The larger futures research has a documented failed quality gate and remains a research candidate. These are evidence limits, not invented results for the new fund. As of 13 October 2026, the course evaluation window has begun. Preserve existing records, log the new fund’s actual introduction date and label earlier replays or backfills. One application and one authoritative ledger are enough for the first version.</a:t>
            </a:r>
          </a:p>
          <a:p xmlns:a="http://schemas.openxmlformats.org/drawingml/2006/main">
            <a:r>
              <a:t/>
            </a:r>
          </a:p>
          <a:p xmlns:a="http://schemas.openxmlformats.org/drawingml/2006/main">
            <a:r>
              <a:t>Local source: C:\Users\user\OneDrive\Personal Work Repos\Crypto Trading Strategy Research\ARCHITECTURE.md</a:t>
            </a:r>
          </a:p>
          <a:p xmlns:a="http://schemas.openxmlformats.org/drawingml/2006/main">
            <a:r>
              <a:t>Local source: C:\Users\user\OneDrive\Personal Work Repos\Crypto Trading Strategy Research\crypto_agents\models.py</a:t>
            </a:r>
          </a:p>
          <a:p xmlns:a="http://schemas.openxmlformats.org/drawingml/2006/main">
            <a:r>
              <a:t>Local source: C:\Users\user\OneDrive\Personal Work Repos\Crypto Trading Strategy Research\reports\daily_portfolio\research_report.md</a:t>
            </a:r>
          </a:p>
          <a:p xmlns:a="http://schemas.openxmlformats.org/drawingml/2006/main">
            <a:r>
              <a:t>Local source: C:\Users\user\OneDrive\Personal Work Repos\Crypto Trading Strategy Research\freqtrade\reports\2026_million_usdt_quality\million_usdt_quality_report.md</a:t>
            </a:r>
          </a:p>
          <a:p xmlns:a="http://schemas.openxmlformats.org/drawingml/2006/main">
            <a:r>
              <a:t>Local source: C:\Users\user\OneDrive\Personal Work Repos\Crypto Trading Strategy Research\algorithmic_trading_strategy_project_brief_execution_roadmap.md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10057b809542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ed34c633664e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00d94bae5c44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13305f780646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c12b7a1cd342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b49c6d3b2147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2C600C-FB9C-4792-8063-032905BCA7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0D6E49-3992-49F1-99B2-DD74C1C76E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6DB4C4-B5B9-4FF2-8C07-32963FDD07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69AA56-5581-45D5-8461-9C3A451D1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019A97-C0F5-4DFB-B171-80D6E3C03A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354F6-44B8-42CB-AC46-7F523B915F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4DADD0-201C-4057-96C5-1682D41C4B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C1DB84-3BD7-4C14-B0C5-37ABDA2272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3FC8FD-5378-493F-A504-C987A75A67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85DFAF-3BE7-484B-9CCC-FBE2FBB2A3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f5c5454e3c4baa" /><Relationship Type="http://schemas.openxmlformats.org/officeDocument/2006/relationships/slideLayout" Target="/ppt/slideLayouts/slideLayout1.xml" Id="R6c738ffa4fdc4a56" /><Relationship Type="http://schemas.openxmlformats.org/officeDocument/2006/relationships/slideLayout" Target="/ppt/slideLayouts/slideLayout2.xml" Id="R61dbb31ec217487b" /><Relationship Type="http://schemas.openxmlformats.org/officeDocument/2006/relationships/slideLayout" Target="/ppt/slideLayouts/slideLayout3.xml" Id="R63840b07c8ea49b8" /><Relationship Type="http://schemas.openxmlformats.org/officeDocument/2006/relationships/slideLayout" Target="/ppt/slideLayouts/slideLayout4.xml" Id="R19d39839c3684101" /><Relationship Type="http://schemas.openxmlformats.org/officeDocument/2006/relationships/slideLayout" Target="/ppt/slideLayouts/slideLayout5.xml" Id="R976df4c3be2b4c6a" /><Relationship Type="http://schemas.openxmlformats.org/officeDocument/2006/relationships/slideLayout" Target="/ppt/slideLayouts/slideLayout6.xml" Id="R1c297b0aa3b945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738ffa4fdc4a56"/>
    <p:sldLayoutId xmlns:r="http://schemas.openxmlformats.org/officeDocument/2006/relationships" id="2147483650" r:id="R61dbb31ec217487b"/>
    <p:sldLayoutId xmlns:r="http://schemas.openxmlformats.org/officeDocument/2006/relationships" id="2147483651" r:id="R63840b07c8ea49b8"/>
    <p:sldLayoutId xmlns:r="http://schemas.openxmlformats.org/officeDocument/2006/relationships" id="2147483652" r:id="R19d39839c3684101"/>
    <p:sldLayoutId xmlns:r="http://schemas.openxmlformats.org/officeDocument/2006/relationships" id="2147483653" r:id="R976df4c3be2b4c6a"/>
    <p:sldLayoutId xmlns:r="http://schemas.openxmlformats.org/officeDocument/2006/relationships" id="2147483654" r:id="R1c297b0aa3b945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57c65041da4d60" /><Relationship Type="http://schemas.openxmlformats.org/officeDocument/2006/relationships/notesSlide" Target="/ppt/notesSlides/notesSlide1.xml" Id="Rb9152d61e58a48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2c02393a6146b4" /><Relationship Type="http://schemas.openxmlformats.org/officeDocument/2006/relationships/notesSlide" Target="/ppt/notesSlides/notesSlide2.xml" Id="Rb61902933df145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b5a2c9dba34601" /><Relationship Type="http://schemas.openxmlformats.org/officeDocument/2006/relationships/chart" Target="/ppt/slides/charts/chart1.xml" Id="Re38f036fc0604066" /><Relationship Type="http://schemas.openxmlformats.org/officeDocument/2006/relationships/notesSlide" Target="/ppt/notesSlides/notesSlide3.xml" Id="R1c6b0772ccf842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04a80fcaca47e3" /><Relationship Type="http://schemas.openxmlformats.org/officeDocument/2006/relationships/notesSlide" Target="/ppt/notesSlides/notesSlide4.xml" Id="R1900ae29736e4d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d91ad719e540b3" /><Relationship Type="http://schemas.openxmlformats.org/officeDocument/2006/relationships/notesSlide" Target="/ppt/notesSlides/notesSlide5.xml" Id="R439b377c281d40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d1813b2da0425a" /><Relationship Type="http://schemas.openxmlformats.org/officeDocument/2006/relationships/notesSlide" Target="/ppt/notesSlides/notesSlide6.xml" Id="Rdfbd6b2b05f746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b317d02262483b" /><Relationship Type="http://schemas.openxmlformats.org/officeDocument/2006/relationships/notesSlide" Target="/ppt/notesSlides/notesSlide7.xml" Id="R15267be2a09e43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a2747795474fcf" /><Relationship Type="http://schemas.openxmlformats.org/officeDocument/2006/relationships/notesSlide" Target="/ppt/notesSlides/notesSlide8.xml" Id="R1eeb037eb2cd4f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3cacaf3f904a8b" /><Relationship Type="http://schemas.openxmlformats.org/officeDocument/2006/relationships/notesSlide" Target="/ppt/notesSlides/notesSlide9.xml" Id="R2ade6529dcd44d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Initial capital</c:v>
          </c:tx>
          <c:spPr>
            <a:solidFill xmlns:a="http://schemas.openxmlformats.org/drawingml/2006/main">
              <a:srgbClr val="2864A0"/>
            </a:solidFill>
          </c:spPr>
          <c:invertIfNegative val="0"/>
          <c:dPt>
            <c:idx val="0"/>
            <c:invertIfNegative val="0"/>
            <c:spPr>
              <a:solidFill xmlns:a="http://schemas.openxmlformats.org/drawingml/2006/main">
                <a:srgbClr val="2864A0"/>
              </a:solidFill>
            </c:spPr>
          </c:dPt>
          <c:dPt>
            <c:idx val="1"/>
            <c:invertIfNegative val="0"/>
            <c:spPr>
              <a:solidFill xmlns:a="http://schemas.openxmlformats.org/drawingml/2006/main">
                <a:srgbClr val="087E8B"/>
              </a:solidFill>
            </c:spPr>
          </c:dPt>
          <c:dPt>
            <c:idx val="2"/>
            <c:invertIfNegative val="0"/>
            <c:spPr>
              <a:solidFill xmlns:a="http://schemas.openxmlformats.org/drawingml/2006/main">
                <a:srgbClr val="7757A1"/>
              </a:solidFill>
            </c:spPr>
          </c:dPt>
          <c:dPt>
            <c:idx val="3"/>
            <c:invertIfNegative val="0"/>
            <c:spPr>
              <a:solidFill xmlns:a="http://schemas.openxmlformats.org/drawingml/2006/main">
                <a:srgbClr val="80909B"/>
              </a:solidFill>
            </c:spPr>
          </c:dPt>
          <c:cat>
            <c:strRef>
              <c:f>'Chart Data'!$A$2:$A$5</c:f>
              <c:strCache>
                <c:ptCount val="4"/>
                <c:pt idx="0">
                  <c:v>Momentum</c:v>
                </c:pt>
                <c:pt idx="1">
                  <c:v>Pairs</c:v>
                </c:pt>
                <c:pt idx="2">
                  <c:v>Crypto</c:v>
                </c:pt>
                <c:pt idx="3">
                  <c:v>Cash</c:v>
                </c:pt>
              </c:strCache>
            </c:strRef>
          </c:cat>
          <c:val>
            <c:numRef>
              <c:f>'Chart Data'!$B$2:$B$5</c:f>
              <c:numCache>
                <c:formatCode>0.0</c:formatCode>
                <c:ptCount val="4"/>
                <c:pt idx="0">
                  <c:v>1.5</c:v>
                </c:pt>
                <c:pt idx="1">
                  <c:v>1.5</c:v>
                </c:pt>
                <c:pt idx="2">
                  <c:v>1.5</c:v>
                </c:pt>
                <c:pt idx="3">
                  <c:v>0.5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162A3A"/>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51647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2A3A"/>
        </a:solidFill>
      </p:bgPr>
    </p:bg>
    <p:spTree>
      <p:nvGrpSpPr>
        <p:cNvPr id="1" name=""/>
        <p:cNvGrpSpPr/>
        <p:nvPr/>
      </p:nvGrpSpPr>
      <p:grpSpPr>
        <a:xfrm xmlns:a="http://schemas.openxmlformats.org/drawingml/2006/main"/>
      </p:grpSpPr>
      <p:sp>
        <p:nvSpPr>
          <p:cNvPr id="5" name="AI-assisted multi-agent">
            <a:extLst xmlns:a="http://schemas.openxmlformats.org/drawingml/2006/main">
              <a:ext uri="{FF2B5EF4-FFF2-40B4-BE49-F238E27FC236}">
                <a16:creationId xmlns:a16="http://schemas.microsoft.com/office/drawing/2014/main" id="{1E86FB8D-1117-4827-AF80-8729428697BB}"/>
              </a:ext>
            </a:extLst>
          </p:cNvPr>
          <p:cNvSpPr>
            <a:spLocks xmlns:a="http://schemas.openxmlformats.org/drawingml/2006/main" noGrp="1"/>
          </p:cNvSpPr>
          <p:nvPr/>
        </p:nvSpPr>
        <p:spPr>
          <a:xfrm xmlns:a="http://schemas.openxmlformats.org/drawingml/2006/main">
            <a:off x="685800" y="15811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Arial"/>
                <a:ea typeface="Arial"/>
                <a:cs typeface="Arial"/>
              </a:defRPr>
            </a:defPPr>
          </a:lstStyle>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AI-assisted multi-agent</a:t>
            </a:r>
          </a:p>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quantitative fund</a:t>
            </a:r>
          </a:p>
        </p:txBody>
      </p:sp>
      <p:sp>
        <p:nvSpPr>
          <p:cNvPr id="2" name="FE5209 project scope and design">
            <a:extLst xmlns:a="http://schemas.openxmlformats.org/drawingml/2006/main">
              <a:ext uri="{FF2B5EF4-FFF2-40B4-BE49-F238E27FC236}">
                <a16:creationId xmlns:a16="http://schemas.microsoft.com/office/drawing/2014/main" id="{37A2D070-26D9-4402-BC7C-7CE5AD4340C6}"/>
              </a:ext>
            </a:extLst>
          </p:cNvPr>
          <p:cNvSpPr>
            <a:spLocks xmlns:a="http://schemas.openxmlformats.org/drawingml/2006/main" noGrp="1"/>
          </p:cNvSpPr>
          <p:nvPr/>
        </p:nvSpPr>
        <p:spPr>
          <a:xfrm xmlns:a="http://schemas.openxmlformats.org/drawingml/2006/main">
            <a:off x="685800" y="3686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C9E1E8"/>
                </a:solidFill>
                <a:latin typeface="Arial"/>
                <a:ea typeface="Arial"/>
                <a:cs typeface="Arial"/>
              </a:defRPr>
            </a:defPPr>
          </a:lstStyle>
          <a:p xmlns:a="http://schemas.openxmlformats.org/drawingml/2006/main">
            <a:pPr algn="l">
              <a:defRPr sz="2400" b="0">
                <a:solidFill>
                  <a:srgbClr val="C9E1E8"/>
                </a:solidFill>
                <a:latin typeface="Arial"/>
                <a:ea typeface="Arial"/>
                <a:cs typeface="Arial"/>
              </a:defRPr>
            </a:pPr>
            <a:r>
              <a:rPr sz="2400" b="0">
                <a:solidFill>
                  <a:srgbClr val="C9E1E8"/>
                </a:solidFill>
                <a:latin typeface="Arial"/>
                <a:ea typeface="Arial"/>
                <a:cs typeface="Arial"/>
              </a:rPr>
              <a:t>FE5209 project scope and design</a:t>
            </a:r>
          </a:p>
        </p:txBody>
      </p:sp>
      <p:sp>
        <p:nvSpPr>
          <p:cNvPr id="3" name="Three strategy PMs managing a USD 5m paper fund">
            <a:extLst xmlns:a="http://schemas.openxmlformats.org/drawingml/2006/main">
              <a:ext uri="{FF2B5EF4-FFF2-40B4-BE49-F238E27FC236}">
                <a16:creationId xmlns:a16="http://schemas.microsoft.com/office/drawing/2014/main" id="{7EA370CC-2138-4EBF-B528-85E922A3AF94}"/>
              </a:ext>
            </a:extLst>
          </p:cNvPr>
          <p:cNvSpPr>
            <a:spLocks xmlns:a="http://schemas.openxmlformats.org/drawingml/2006/main" noGrp="1"/>
          </p:cNvSpPr>
          <p:nvPr/>
        </p:nvSpPr>
        <p:spPr>
          <a:xfrm xmlns:a="http://schemas.openxmlformats.org/drawingml/2006/main">
            <a:off x="685800" y="4410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Three strategy PMs managing a USD 5m paper fund</a:t>
            </a:r>
          </a:p>
        </p:txBody>
      </p:sp>
      <p:sp>
        <p:nvSpPr>
          <p:cNvPr id="4" name="Proposed design">
            <a:extLst xmlns:a="http://schemas.openxmlformats.org/drawingml/2006/main">
              <a:ext uri="{FF2B5EF4-FFF2-40B4-BE49-F238E27FC236}">
                <a16:creationId xmlns:a16="http://schemas.microsoft.com/office/drawing/2014/main" id="{6A564C1F-D923-418B-AA9D-A56E91F1AA90}"/>
              </a:ext>
            </a:extLst>
          </p:cNvPr>
          <p:cNvSpPr>
            <a:spLocks xmlns:a="http://schemas.openxmlformats.org/drawingml/2006/main" noGrp="1"/>
          </p:cNvSpPr>
          <p:nvPr/>
        </p:nvSpPr>
        <p:spPr>
          <a:xfrm xmlns:a="http://schemas.openxmlformats.org/drawingml/2006/main">
            <a:off x="685800" y="562927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9E1E8"/>
                </a:solidFill>
                <a:latin typeface="Arial"/>
                <a:ea typeface="Arial"/>
                <a:cs typeface="Arial"/>
              </a:defRPr>
            </a:defPPr>
          </a:lstStyle>
          <a:p xmlns:a="http://schemas.openxmlformats.org/drawingml/2006/main">
            <a:pPr algn="l">
              <a:defRPr sz="1725" b="0">
                <a:solidFill>
                  <a:srgbClr val="C9E1E8"/>
                </a:solidFill>
                <a:latin typeface="Arial"/>
                <a:ea typeface="Arial"/>
                <a:cs typeface="Arial"/>
              </a:defRPr>
            </a:pPr>
            <a:r>
              <a:rPr sz="1725" b="0">
                <a:solidFill>
                  <a:srgbClr val="C9E1E8"/>
                </a:solidFill>
                <a:latin typeface="Arial"/>
                <a:ea typeface="Arial"/>
                <a:cs typeface="Arial"/>
              </a:rPr>
              <a:t>Proposed design</a:t>
            </a:r>
          </a:p>
          <a:p xmlns:a="http://schemas.openxmlformats.org/drawingml/2006/main">
            <a:pPr algn="l">
              <a:defRPr sz="1725" b="0">
                <a:solidFill>
                  <a:srgbClr val="C9E1E8"/>
                </a:solidFill>
                <a:latin typeface="Arial"/>
                <a:ea typeface="Arial"/>
                <a:cs typeface="Arial"/>
              </a:defRPr>
            </a:pPr>
            <a:r>
              <a:rPr sz="1725" b="0">
                <a:solidFill>
                  <a:srgbClr val="C9E1E8"/>
                </a:solidFill>
                <a:latin typeface="Arial"/>
                <a:ea typeface="Arial"/>
                <a:cs typeface="Arial"/>
              </a:rPr>
              <a:t>13 October 2026</a:t>
            </a:r>
          </a:p>
        </p:txBody>
      </p:sp>
    </p:spTree>
    <p:extLst>
      <p:ext uri="{BB962C8B-B14F-4D97-AF65-F5344CB8AC3E}">
        <p14:creationId xmlns:p14="http://schemas.microsoft.com/office/powerpoint/2010/main" val="19795103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oject scope">
            <a:extLst xmlns:a="http://schemas.openxmlformats.org/drawingml/2006/main">
              <a:ext uri="{FF2B5EF4-FFF2-40B4-BE49-F238E27FC236}">
                <a16:creationId xmlns:a16="http://schemas.microsoft.com/office/drawing/2014/main" id="{EDDCD985-1797-4DF6-87D1-C5A0CA186D90}"/>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Project scope</a:t>
            </a:r>
          </a:p>
        </p:txBody>
      </p:sp>
      <p:sp>
        <p:nvSpPr>
          <p:cNvPr id="2" name="A portfolio experiment with a visible AI review workflow">
            <a:extLst xmlns:a="http://schemas.openxmlformats.org/drawingml/2006/main">
              <a:ext uri="{FF2B5EF4-FFF2-40B4-BE49-F238E27FC236}">
                <a16:creationId xmlns:a16="http://schemas.microsoft.com/office/drawing/2014/main" id="{317FBC6B-0011-4501-A24A-1CC882F63D46}"/>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A portfolio experiment with a visible AI review workflow</a:t>
            </a:r>
          </a:p>
        </p:txBody>
      </p:sp>
      <p:sp>
        <p:nvSpPr>
          <p:cNvPr id="3" name="02">
            <a:extLst xmlns:a="http://schemas.openxmlformats.org/drawingml/2006/main">
              <a:ext uri="{FF2B5EF4-FFF2-40B4-BE49-F238E27FC236}">
                <a16:creationId xmlns:a16="http://schemas.microsoft.com/office/drawing/2014/main" id="{DEC4D40E-72C9-4AEA-B6CE-470AA2F7B7D1}"/>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02</a:t>
            </a:r>
          </a:p>
        </p:txBody>
      </p:sp>
      <p:sp>
        <p:nvSpPr>
          <p:cNvPr id="4" name="Course requirements">
            <a:extLst xmlns:a="http://schemas.openxmlformats.org/drawingml/2006/main">
              <a:ext uri="{FF2B5EF4-FFF2-40B4-BE49-F238E27FC236}">
                <a16:creationId xmlns:a16="http://schemas.microsoft.com/office/drawing/2014/main" id="{DA52D306-CFCB-4986-AEE5-FC73F6B7B2C0}"/>
              </a:ext>
            </a:extLst>
          </p:cNvPr>
          <p:cNvSpPr>
            <a:spLocks xmlns:a="http://schemas.openxmlformats.org/drawingml/2006/main" noGrp="1"/>
          </p:cNvSpPr>
          <p:nvPr/>
        </p:nvSpPr>
        <p:spPr>
          <a:xfrm xmlns:a="http://schemas.openxmlformats.org/drawingml/2006/main">
            <a:off x="68580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Course requirements</a:t>
            </a:r>
          </a:p>
        </p:txBody>
      </p:sp>
      <p:sp>
        <p:nvSpPr>
          <p:cNvPr id="5" name="">
            <a:extLst xmlns:a="http://schemas.openxmlformats.org/drawingml/2006/main">
              <a:ext uri="{FF2B5EF4-FFF2-40B4-BE49-F238E27FC236}">
                <a16:creationId xmlns:a16="http://schemas.microsoft.com/office/drawing/2014/main" id="{C9D571D6-64B9-4BA9-800E-C57EA0C5A1E5}"/>
              </a:ext>
            </a:extLst>
          </p:cNvPr>
          <p:cNvSpPr>
            <a:spLocks xmlns:a="http://schemas.openxmlformats.org/drawingml/2006/main" noGrp="1"/>
          </p:cNvSpPr>
          <p:nvPr/>
        </p:nvSpPr>
        <p:spPr>
          <a:xfrm xmlns:a="http://schemas.openxmlformats.org/drawingml/2006/main">
            <a:off x="685800" y="2543175"/>
            <a:ext cx="504825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Automated model updates and daily forecasts</a:t>
            </a:r>
          </a:p>
          <a:p xmlns:a="http://schemas.openxmlformats.org/drawingml/2006/main">
            <a:pPr marL="228600" indent="-114300" algn="l">
              <a:spcAft>
                <a:spcPts val="1300"/>
              </a:spcAft>
              <a:buChar char="•"/>
              <a:defRPr sz="2025" b="0">
                <a:solidFill>
                  <a:srgbClr val="162A3A"/>
                </a:solidFill>
                <a:latin typeface="Arial"/>
                <a:ea typeface="Arial"/>
                <a:cs typeface="Arial"/>
              </a:defRPr>
            </a:pPr>
            <a:r>
              <a:t>Mandatory class assets with eligible history</a:t>
            </a:r>
          </a:p>
          <a:p xmlns:a="http://schemas.openxmlformats.org/drawingml/2006/main">
            <a:pPr marL="228600" indent="-114300" algn="l">
              <a:spcAft>
                <a:spcPts val="1300"/>
              </a:spcAft>
              <a:buChar char="•"/>
              <a:defRPr sz="2025" b="0">
                <a:solidFill>
                  <a:srgbClr val="162A3A"/>
                </a:solidFill>
                <a:latin typeface="Arial"/>
                <a:ea typeface="Arial"/>
                <a:cs typeface="Arial"/>
              </a:defRPr>
            </a:pPr>
            <a:r>
              <a:t>Out-of-sample evaluation: 1–23 October 2026</a:t>
            </a:r>
          </a:p>
          <a:p xmlns:a="http://schemas.openxmlformats.org/drawingml/2006/main">
            <a:pPr marL="228600" indent="-114300" algn="l">
              <a:spcAft>
                <a:spcPts val="1300"/>
              </a:spcAft>
              <a:buChar char="•"/>
              <a:defRPr sz="2025" b="0">
                <a:solidFill>
                  <a:srgbClr val="162A3A"/>
                </a:solidFill>
                <a:latin typeface="Arial"/>
                <a:ea typeface="Arial"/>
                <a:cs typeface="Arial"/>
              </a:defRPr>
            </a:pPr>
            <a:r>
              <a:t>Code, closing-price CSV and presentation</a:t>
            </a:r>
          </a:p>
        </p:txBody>
      </p:sp>
      <p:sp>
        <p:nvSpPr>
          <p:cNvPr id="6" name="Proposed first version">
            <a:extLst xmlns:a="http://schemas.openxmlformats.org/drawingml/2006/main">
              <a:ext uri="{FF2B5EF4-FFF2-40B4-BE49-F238E27FC236}">
                <a16:creationId xmlns:a16="http://schemas.microsoft.com/office/drawing/2014/main" id="{F3EEAD80-244A-419F-AD49-21AB89505E80}"/>
              </a:ext>
            </a:extLst>
          </p:cNvPr>
          <p:cNvSpPr>
            <a:spLocks xmlns:a="http://schemas.openxmlformats.org/drawingml/2006/main" noGrp="1"/>
          </p:cNvSpPr>
          <p:nvPr/>
        </p:nvSpPr>
        <p:spPr>
          <a:xfrm xmlns:a="http://schemas.openxmlformats.org/drawingml/2006/main">
            <a:off x="645795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Proposed first version</a:t>
            </a:r>
          </a:p>
        </p:txBody>
      </p:sp>
      <p:sp>
        <p:nvSpPr>
          <p:cNvPr id="7" name="">
            <a:extLst xmlns:a="http://schemas.openxmlformats.org/drawingml/2006/main">
              <a:ext uri="{FF2B5EF4-FFF2-40B4-BE49-F238E27FC236}">
                <a16:creationId xmlns:a16="http://schemas.microsoft.com/office/drawing/2014/main" id="{D8847ABD-DD7C-49E3-A50A-BD7637159379}"/>
              </a:ext>
            </a:extLst>
          </p:cNvPr>
          <p:cNvSpPr>
            <a:spLocks xmlns:a="http://schemas.openxmlformats.org/drawingml/2006/main" noGrp="1"/>
          </p:cNvSpPr>
          <p:nvPr/>
        </p:nvSpPr>
        <p:spPr>
          <a:xfrm xmlns:a="http://schemas.openxmlformats.org/drawingml/2006/main">
            <a:off x="6457950" y="2543175"/>
            <a:ext cx="504825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Three PMs with separate paper ledgers</a:t>
            </a:r>
          </a:p>
          <a:p xmlns:a="http://schemas.openxmlformats.org/drawingml/2006/main">
            <a:pPr marL="228600" indent="-114300" algn="l">
              <a:spcAft>
                <a:spcPts val="1300"/>
              </a:spcAft>
              <a:buChar char="•"/>
              <a:defRPr sz="2025" b="0">
                <a:solidFill>
                  <a:srgbClr val="162A3A"/>
                </a:solidFill>
                <a:latin typeface="Arial"/>
                <a:ea typeface="Arial"/>
                <a:cs typeface="Arial"/>
              </a:defRPr>
            </a:pPr>
            <a:r>
              <a:t>Shared allocation and fund risk controls</a:t>
            </a:r>
          </a:p>
          <a:p xmlns:a="http://schemas.openxmlformats.org/drawingml/2006/main">
            <a:pPr marL="228600" indent="-114300" algn="l">
              <a:spcAft>
                <a:spcPts val="1300"/>
              </a:spcAft>
              <a:buChar char="•"/>
              <a:defRPr sz="2025" b="0">
                <a:solidFill>
                  <a:srgbClr val="162A3A"/>
                </a:solidFill>
                <a:latin typeface="Arial"/>
                <a:ea typeface="Arial"/>
                <a:cs typeface="Arial"/>
              </a:defRPr>
            </a:pPr>
            <a:r>
              <a:t>AI agents inspect tools and cite evidence</a:t>
            </a:r>
          </a:p>
          <a:p xmlns:a="http://schemas.openxmlformats.org/drawingml/2006/main">
            <a:pPr marL="228600" indent="-114300" algn="l">
              <a:spcAft>
                <a:spcPts val="1300"/>
              </a:spcAft>
              <a:buChar char="•"/>
              <a:defRPr sz="2025" b="0">
                <a:solidFill>
                  <a:srgbClr val="162A3A"/>
                </a:solidFill>
                <a:latin typeface="Arial"/>
                <a:ea typeface="Arial"/>
                <a:cs typeface="Arial"/>
              </a:defRPr>
            </a:pPr>
            <a:r>
              <a:t>One hosted application with saved run history</a:t>
            </a:r>
          </a:p>
        </p:txBody>
      </p:sp>
      <p:sp>
        <p:nvSpPr>
          <p:cNvPr id="8" name="Initial capital and execution assumptions need instructor confirmation">
            <a:extLst xmlns:a="http://schemas.openxmlformats.org/drawingml/2006/main">
              <a:ext uri="{FF2B5EF4-FFF2-40B4-BE49-F238E27FC236}">
                <a16:creationId xmlns:a16="http://schemas.microsoft.com/office/drawing/2014/main" id="{EC2E96F4-7E3B-43B4-BF4C-FF212CE94C9C}"/>
              </a:ext>
            </a:extLst>
          </p:cNvPr>
          <p:cNvSpPr>
            <a:spLocks xmlns:a="http://schemas.openxmlformats.org/drawingml/2006/main" noGrp="1"/>
          </p:cNvSpPr>
          <p:nvPr/>
        </p:nvSpPr>
        <p:spPr>
          <a:xfrm xmlns:a="http://schemas.openxmlformats.org/drawingml/2006/main">
            <a:off x="685800" y="59150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Initial capital and execution assumptions need instructor confirmation</a:t>
            </a:r>
          </a:p>
        </p:txBody>
      </p:sp>
    </p:spTree>
    <p:extLst>
      <p:ext uri="{BB962C8B-B14F-4D97-AF65-F5344CB8AC3E}">
        <p14:creationId xmlns:p14="http://schemas.microsoft.com/office/powerpoint/2010/main" val="5848769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USD 5m fund allocation">
            <a:extLst xmlns:a="http://schemas.openxmlformats.org/drawingml/2006/main">
              <a:ext uri="{FF2B5EF4-FFF2-40B4-BE49-F238E27FC236}">
                <a16:creationId xmlns:a16="http://schemas.microsoft.com/office/drawing/2014/main" id="{2A31C7F9-ED55-4B6E-B02D-2340189D2AEE}"/>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USD 5m fund allocation</a:t>
            </a:r>
          </a:p>
        </p:txBody>
      </p:sp>
      <p:sp>
        <p:nvSpPr>
          <p:cNvPr id="2" name="Illustrative initial mandates, with USD 0.5m held centrally">
            <a:extLst xmlns:a="http://schemas.openxmlformats.org/drawingml/2006/main">
              <a:ext uri="{FF2B5EF4-FFF2-40B4-BE49-F238E27FC236}">
                <a16:creationId xmlns:a16="http://schemas.microsoft.com/office/drawing/2014/main" id="{E14B7A14-873B-4D93-B2A5-753D4BEC37EF}"/>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Illustrative initial mandates, with USD 0.5m held centrally</a:t>
            </a:r>
          </a:p>
        </p:txBody>
      </p:sp>
      <p:sp>
        <p:nvSpPr>
          <p:cNvPr id="3" name="03">
            <a:extLst xmlns:a="http://schemas.openxmlformats.org/drawingml/2006/main">
              <a:ext uri="{FF2B5EF4-FFF2-40B4-BE49-F238E27FC236}">
                <a16:creationId xmlns:a16="http://schemas.microsoft.com/office/drawing/2014/main" id="{871F631B-0663-41C9-ABF1-DC58FF6A889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56A9A48B-A7EB-47E4-8966-0EC482D66F6B}"/>
              </a:ext>
            </a:extLst>
          </p:cNvPr>
          <p:cNvGraphicFramePr/>
          <p:nvPr/>
        </p:nvGraphicFramePr>
        <p:xfrm>
          <a:off xmlns:a="http://schemas.openxmlformats.org/drawingml/2006/main" x="685800" y="1895475"/>
          <a:ext xmlns:a="http://schemas.openxmlformats.org/drawingml/2006/main" cx="5762625" cy="3352800"/>
        </p:xfrm>
        <a:graphic xmlns:a="http://schemas.openxmlformats.org/drawingml/2006/main">
          <a:graphicData uri="http://schemas.openxmlformats.org/drawingml/2006/table">
            <a:tbl>
              <a:tblPr firstRow="1" bandRow="0"/>
              <a:tblGrid>
                <a:gridCol w="2381250"/>
                <a:gridCol w="1809750"/>
                <a:gridCol w="1571625"/>
              </a:tblGrid>
              <a:tr h="558800">
                <a:tc>
                  <a:txBody>
                    <a:bodyPr>
                      <a:noAutofit/>
                    </a:bodyPr>
                    <a:lstStyle/>
                    <a:p>
                      <a:r>
                        <a:rPr sz="1800" b="1">
                          <a:solidFill>
                            <a:srgbClr val="162A3A"/>
                          </a:solidFill>
                          <a:latin typeface="Arial"/>
                          <a:ea typeface="Arial"/>
                          <a:cs typeface="Arial"/>
                        </a:rPr>
                        <a:t>Capital owner</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USD</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Share</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558800">
                <a:tc>
                  <a:txBody>
                    <a:bodyPr>
                      <a:noAutofit/>
                    </a:bodyPr>
                    <a:lstStyle/>
                    <a:p>
                      <a:r>
                        <a:rPr sz="1800" b="0">
                          <a:solidFill>
                            <a:srgbClr val="162A3A"/>
                          </a:solidFill>
                          <a:latin typeface="Arial"/>
                          <a:ea typeface="Arial"/>
                          <a:cs typeface="Arial"/>
                        </a:rPr>
                        <a:t>Momentum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Pairs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Crypto PM</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30%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Central cash</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500,000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558800">
                <a:tc>
                  <a:txBody>
                    <a:bodyPr>
                      <a:noAutofit/>
                    </a:bodyPr>
                    <a:lstStyle/>
                    <a:p>
                      <a:r>
                        <a:rPr sz="1800" b="0">
                          <a:solidFill>
                            <a:srgbClr val="162A3A"/>
                          </a:solidFill>
                          <a:latin typeface="Arial"/>
                          <a:ea typeface="Arial"/>
                          <a:cs typeface="Arial"/>
                        </a:rPr>
                        <a:t>Total fund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5,000,000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100%</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Initial capital, USD millions">
            <a:extLst xmlns:a="http://schemas.openxmlformats.org/drawingml/2006/main">
              <a:ext uri="{FF2B5EF4-FFF2-40B4-BE49-F238E27FC236}">
                <a16:creationId xmlns:a16="http://schemas.microsoft.com/office/drawing/2014/main" id="{A3E30A02-5BB1-4C71-89FA-BFC51316B10D}"/>
              </a:ext>
            </a:extLst>
          </p:cNvPr>
          <p:cNvSpPr>
            <a:spLocks xmlns:a="http://schemas.openxmlformats.org/drawingml/2006/main" noGrp="1"/>
          </p:cNvSpPr>
          <p:nvPr/>
        </p:nvSpPr>
        <p:spPr>
          <a:xfrm xmlns:a="http://schemas.openxmlformats.org/drawingml/2006/main">
            <a:off x="7096125" y="19431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2A3A"/>
                </a:solidFill>
                <a:latin typeface="Arial"/>
                <a:ea typeface="Arial"/>
                <a:cs typeface="Arial"/>
              </a:defRPr>
            </a:defPPr>
          </a:lstStyle>
          <a:p xmlns:a="http://schemas.openxmlformats.org/drawingml/2006/main">
            <a:pPr algn="l">
              <a:defRPr sz="1950" b="1">
                <a:solidFill>
                  <a:srgbClr val="162A3A"/>
                </a:solidFill>
                <a:latin typeface="Arial"/>
                <a:ea typeface="Arial"/>
                <a:cs typeface="Arial"/>
              </a:defRPr>
            </a:pPr>
            <a:r>
              <a:rPr sz="1950" b="1">
                <a:solidFill>
                  <a:srgbClr val="162A3A"/>
                </a:solidFill>
                <a:latin typeface="Arial"/>
                <a:ea typeface="Arial"/>
                <a:cs typeface="Arial"/>
              </a:rPr>
              <a:t>Initial capital, USD millions</a:t>
            </a:r>
          </a:p>
        </p:txBody>
      </p:sp>
      <p:graphicFrame>
        <p:nvGraphicFramePr>
          <p:cNvPr id="6" name="Chart">
            <a:extLst xmlns:a="http://schemas.openxmlformats.org/drawingml/2006/main">
              <a:ext uri="{FF2B5EF4-FFF2-40B4-BE49-F238E27FC236}">
                <a16:creationId xmlns:a16="http://schemas.microsoft.com/office/drawing/2014/main" id="{25BA39DD-3D55-4DB4-91BA-FFAE36E39DF2}"/>
              </a:ext>
            </a:extLst>
          </p:cNvPr>
          <p:cNvGraphicFramePr/>
          <p:nvPr/>
        </p:nvGraphicFramePr>
        <p:xfrm>
          <a:off xmlns:a="http://schemas.openxmlformats.org/drawingml/2006/main" x="7000875" y="2466975"/>
          <a:ext xmlns:a="http://schemas.openxmlformats.org/drawingml/2006/main" cx="4505325" cy="2781300"/>
        </p:xfrm>
        <a:graphic xmlns:a="http://schemas.openxmlformats.org/drawingml/2006/main">
          <a:graphicData uri="http://schemas.openxmlformats.org/drawingml/2006/chart">
            <c:chart xmlns:r="http://schemas.openxmlformats.org/officeDocument/2006/relationships" xmlns:c="http://schemas.openxmlformats.org/drawingml/2006/chart" r:id="Re38f036fc0604066"/>
          </a:graphicData>
        </a:graphic>
      </p:graphicFrame>
      <p:sp>
        <p:nvSpPr>
          <p:cNvPr id="7" name="The baseline keeps capital in each sleeve. Returns cause fund weights ">
            <a:extLst xmlns:a="http://schemas.openxmlformats.org/drawingml/2006/main">
              <a:ext uri="{FF2B5EF4-FFF2-40B4-BE49-F238E27FC236}">
                <a16:creationId xmlns:a16="http://schemas.microsoft.com/office/drawing/2014/main" id="{0C6880EB-B272-43D4-B3A5-12C7552DDD50}"/>
              </a:ext>
            </a:extLst>
          </p:cNvPr>
          <p:cNvSpPr>
            <a:spLocks xmlns:a="http://schemas.openxmlformats.org/drawingml/2006/main" noGrp="1"/>
          </p:cNvSpPr>
          <p:nvPr/>
        </p:nvSpPr>
        <p:spPr>
          <a:xfrm xmlns:a="http://schemas.openxmlformats.org/drawingml/2006/main">
            <a:off x="685800" y="56673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The baseline keeps capital in each sleeve. Returns cause fund weights to drift.</a:t>
            </a:r>
          </a:p>
        </p:txBody>
      </p:sp>
      <p:sp>
        <p:nvSpPr>
          <p:cNvPr id="8" name="Equal initial capital can produce different risk. Each PM can retain c">
            <a:extLst xmlns:a="http://schemas.openxmlformats.org/drawingml/2006/main">
              <a:ext uri="{FF2B5EF4-FFF2-40B4-BE49-F238E27FC236}">
                <a16:creationId xmlns:a16="http://schemas.microsoft.com/office/drawing/2014/main" id="{5C60AB3C-419C-4E6F-8DB0-C3D4FE16F6F8}"/>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16476"/>
                </a:solidFill>
                <a:latin typeface="Arial"/>
                <a:ea typeface="Arial"/>
                <a:cs typeface="Arial"/>
              </a:defRPr>
            </a:defPPr>
          </a:lstStyle>
          <a:p xmlns:a="http://schemas.openxmlformats.org/drawingml/2006/main">
            <a:pPr algn="l">
              <a:defRPr sz="1725" b="0">
                <a:solidFill>
                  <a:srgbClr val="516476"/>
                </a:solidFill>
                <a:latin typeface="Arial"/>
                <a:ea typeface="Arial"/>
                <a:cs typeface="Arial"/>
              </a:defRPr>
            </a:pPr>
            <a:r>
              <a:rPr sz="1725" b="0">
                <a:solidFill>
                  <a:srgbClr val="516476"/>
                </a:solidFill>
                <a:latin typeface="Arial"/>
                <a:ea typeface="Arial"/>
                <a:cs typeface="Arial"/>
              </a:rPr>
              <a:t>Equal initial capital can produce different risk. Each PM can retain cash.</a:t>
            </a:r>
          </a:p>
        </p:txBody>
      </p:sp>
    </p:spTree>
    <p:extLst>
      <p:ext uri="{BB962C8B-B14F-4D97-AF65-F5344CB8AC3E}">
        <p14:creationId xmlns:p14="http://schemas.microsoft.com/office/powerpoint/2010/main" val="7573124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multi-AI contribution">
            <a:extLst xmlns:a="http://schemas.openxmlformats.org/drawingml/2006/main">
              <a:ext uri="{FF2B5EF4-FFF2-40B4-BE49-F238E27FC236}">
                <a16:creationId xmlns:a16="http://schemas.microsoft.com/office/drawing/2014/main" id="{CAC5CAE3-957A-451A-B7F4-15E3A0360ED3}"/>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The multi-AI contribution</a:t>
            </a:r>
          </a:p>
        </p:txBody>
      </p:sp>
      <p:sp>
        <p:nvSpPr>
          <p:cNvPr id="2" name="Each PM combines its existing strategy with a planned tool-using AI re">
            <a:extLst xmlns:a="http://schemas.openxmlformats.org/drawingml/2006/main">
              <a:ext uri="{FF2B5EF4-FFF2-40B4-BE49-F238E27FC236}">
                <a16:creationId xmlns:a16="http://schemas.microsoft.com/office/drawing/2014/main" id="{2A0C642E-73C2-4C83-9387-F208C8526251}"/>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Each PM combines its existing strategy with a planned tool-using AI representative</a:t>
            </a:r>
          </a:p>
        </p:txBody>
      </p:sp>
      <p:sp>
        <p:nvSpPr>
          <p:cNvPr id="3" name="04">
            <a:extLst xmlns:a="http://schemas.openxmlformats.org/drawingml/2006/main">
              <a:ext uri="{FF2B5EF4-FFF2-40B4-BE49-F238E27FC236}">
                <a16:creationId xmlns:a16="http://schemas.microsoft.com/office/drawing/2014/main" id="{DB0FDECA-B0F3-405C-83C9-D0B3F8A44456}"/>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D6C6945A-B1CD-4EAC-97D5-F2385D489ADE}"/>
              </a:ext>
            </a:extLst>
          </p:cNvPr>
          <p:cNvGraphicFramePr/>
          <p:nvPr/>
        </p:nvGraphicFramePr>
        <p:xfrm>
          <a:off xmlns:a="http://schemas.openxmlformats.org/drawingml/2006/main" x="685800" y="1924050"/>
          <a:ext xmlns:a="http://schemas.openxmlformats.org/drawingml/2006/main" cx="10820400" cy="3048000"/>
        </p:xfrm>
        <a:graphic xmlns:a="http://schemas.openxmlformats.org/drawingml/2006/main">
          <a:graphicData uri="http://schemas.openxmlformats.org/drawingml/2006/table">
            <a:tbl>
              <a:tblPr firstRow="1" bandRow="0"/>
              <a:tblGrid>
                <a:gridCol w="2476500"/>
                <a:gridCol w="4238625"/>
                <a:gridCol w="4105275"/>
              </a:tblGrid>
              <a:tr h="762000">
                <a:tc>
                  <a:txBody>
                    <a:bodyPr>
                      <a:noAutofit/>
                    </a:bodyPr>
                    <a:lstStyle/>
                    <a:p>
                      <a:r>
                        <a:rPr sz="1875" b="1">
                          <a:solidFill>
                            <a:srgbClr val="162A3A"/>
                          </a:solidFill>
                          <a:latin typeface="Arial"/>
                          <a:ea typeface="Arial"/>
                          <a:cs typeface="Arial"/>
                        </a:rPr>
                        <a:t>AI representative</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Diagnostic tools</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75" b="1">
                          <a:solidFill>
                            <a:srgbClr val="162A3A"/>
                          </a:solidFill>
                          <a:latin typeface="Arial"/>
                          <a:ea typeface="Arial"/>
                          <a:cs typeface="Arial"/>
                        </a:rPr>
                        <a:t>Evidence-linked output</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762000">
                <a:tc>
                  <a:txBody>
                    <a:bodyPr>
                      <a:noAutofit/>
                    </a:bodyPr>
                    <a:lstStyle/>
                    <a:p>
                      <a:r>
                        <a:rPr sz="1875" b="0">
                          <a:solidFill>
                            <a:srgbClr val="162A3A"/>
                          </a:solidFill>
                          <a:latin typeface="Arial"/>
                          <a:ea typeface="Arial"/>
                          <a:cs typeface="Arial"/>
                        </a:rPr>
                        <a:t>Momentum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Read rankings, holdings</a:t>
                      </a:r>
                    </a:p>
                    <a:p>
                      <a:r>
                        <a:rPr sz="1875" b="0">
                          <a:solidFill>
                            <a:srgbClr val="162A3A"/>
                          </a:solidFill>
                          <a:latin typeface="Arial"/>
                          <a:ea typeface="Arial"/>
                          <a:cs typeface="Arial"/>
                        </a:rPr>
                        <a:t>and sector exposure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Explain selections and</a:t>
                      </a:r>
                    </a:p>
                    <a:p>
                      <a:r>
                        <a:rPr sz="1875" b="0">
                          <a:solidFill>
                            <a:srgbClr val="162A3A"/>
                          </a:solidFill>
                          <a:latin typeface="Arial"/>
                          <a:ea typeface="Arial"/>
                          <a:cs typeface="Arial"/>
                        </a:rPr>
                        <a:t>concentration concerns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62000">
                <a:tc>
                  <a:txBody>
                    <a:bodyPr>
                      <a:noAutofit/>
                    </a:bodyPr>
                    <a:lstStyle/>
                    <a:p>
                      <a:r>
                        <a:rPr sz="1875" b="0">
                          <a:solidFill>
                            <a:srgbClr val="162A3A"/>
                          </a:solidFill>
                          <a:latin typeface="Arial"/>
                          <a:ea typeface="Arial"/>
                          <a:cs typeface="Arial"/>
                        </a:rPr>
                        <a:t>Pairs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Read daily spread signals,</a:t>
                      </a:r>
                    </a:p>
                    <a:p>
                      <a:r>
                        <a:rPr sz="1875" b="0">
                          <a:solidFill>
                            <a:srgbClr val="162A3A"/>
                          </a:solidFill>
                          <a:latin typeface="Arial"/>
                          <a:ea typeface="Arial"/>
                          <a:cs typeface="Arial"/>
                        </a:rPr>
                        <a:t>hedge ratios and pair health</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Explain both legs and</a:t>
                      </a:r>
                    </a:p>
                    <a:p>
                      <a:r>
                        <a:rPr sz="1875" b="0">
                          <a:solidFill>
                            <a:srgbClr val="162A3A"/>
                          </a:solidFill>
                          <a:latin typeface="Arial"/>
                          <a:ea typeface="Arial"/>
                          <a:cs typeface="Arial"/>
                        </a:rPr>
                        <a:t>relationship concerns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762000">
                <a:tc>
                  <a:txBody>
                    <a:bodyPr>
                      <a:noAutofit/>
                    </a:bodyPr>
                    <a:lstStyle/>
                    <a:p>
                      <a:r>
                        <a:rPr sz="1875" b="0">
                          <a:solidFill>
                            <a:srgbClr val="162A3A"/>
                          </a:solidFill>
                          <a:latin typeface="Arial"/>
                          <a:ea typeface="Arial"/>
                          <a:cs typeface="Arial"/>
                        </a:rPr>
                        <a:t>Crypto PM AI</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Read signals, volatility,</a:t>
                      </a:r>
                    </a:p>
                    <a:p>
                      <a:r>
                        <a:rPr sz="1875" b="0">
                          <a:solidFill>
                            <a:srgbClr val="162A3A"/>
                          </a:solidFill>
                          <a:latin typeface="Arial"/>
                          <a:ea typeface="Arial"/>
                          <a:cs typeface="Arial"/>
                        </a:rPr>
                        <a:t>liquidity and trading costs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75" b="0">
                          <a:solidFill>
                            <a:srgbClr val="162A3A"/>
                          </a:solidFill>
                          <a:latin typeface="Arial"/>
                          <a:ea typeface="Arial"/>
                          <a:cs typeface="Arial"/>
                        </a:rPr>
                        <a:t>Explain exposure or cash</a:t>
                      </a:r>
                    </a:p>
                    <a:p>
                      <a:r>
                        <a:rPr sz="1875" b="0">
                          <a:solidFill>
                            <a:srgbClr val="162A3A"/>
                          </a:solidFill>
                          <a:latin typeface="Arial"/>
                          <a:ea typeface="Arial"/>
                          <a:cs typeface="Arial"/>
                        </a:rPr>
                        <a:t>and data concerns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AI chooses investigations and writes PM memos">
            <a:extLst xmlns:a="http://schemas.openxmlformats.org/drawingml/2006/main">
              <a:ext uri="{FF2B5EF4-FFF2-40B4-BE49-F238E27FC236}">
                <a16:creationId xmlns:a16="http://schemas.microsoft.com/office/drawing/2014/main" id="{E4519E65-4A1B-4DF9-B767-4A130F13B65A}"/>
              </a:ext>
            </a:extLst>
          </p:cNvPr>
          <p:cNvSpPr>
            <a:spLocks xmlns:a="http://schemas.openxmlformats.org/drawingml/2006/main" noGrp="1"/>
          </p:cNvSpPr>
          <p:nvPr/>
        </p:nvSpPr>
        <p:spPr>
          <a:xfrm xmlns:a="http://schemas.openxmlformats.org/drawingml/2006/main">
            <a:off x="685800" y="5381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AI chooses investigations and writes PM memos</a:t>
            </a:r>
          </a:p>
        </p:txBody>
      </p:sp>
      <p:sp>
        <p:nvSpPr>
          <p:cNvPr id="6" name="Quantitative code calculates targets. The coordinator and risk control">
            <a:extLst xmlns:a="http://schemas.openxmlformats.org/drawingml/2006/main">
              <a:ext uri="{FF2B5EF4-FFF2-40B4-BE49-F238E27FC236}">
                <a16:creationId xmlns:a16="http://schemas.microsoft.com/office/drawing/2014/main" id="{A861286A-5EDF-4670-B0CE-8FAA2A33B762}"/>
              </a:ext>
            </a:extLst>
          </p:cNvPr>
          <p:cNvSpPr>
            <a:spLocks xmlns:a="http://schemas.openxmlformats.org/drawingml/2006/main" noGrp="1"/>
          </p:cNvSpPr>
          <p:nvPr/>
        </p:nvSpPr>
        <p:spPr>
          <a:xfrm xmlns:a="http://schemas.openxmlformats.org/drawingml/2006/main">
            <a:off x="685800" y="5895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Quantitative code calculates targets. The coordinator and risk controller govern execution.</a:t>
            </a:r>
          </a:p>
        </p:txBody>
      </p:sp>
    </p:spTree>
    <p:extLst>
      <p:ext uri="{BB962C8B-B14F-4D97-AF65-F5344CB8AC3E}">
        <p14:creationId xmlns:p14="http://schemas.microsoft.com/office/powerpoint/2010/main" val="17797680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aily pairs decision cycle">
            <a:extLst xmlns:a="http://schemas.openxmlformats.org/drawingml/2006/main">
              <a:ext uri="{FF2B5EF4-FFF2-40B4-BE49-F238E27FC236}">
                <a16:creationId xmlns:a16="http://schemas.microsoft.com/office/drawing/2014/main" id="{4179C59E-876B-4E41-B072-4630498C18B6}"/>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Daily pairs decision cycle</a:t>
            </a:r>
          </a:p>
        </p:txBody>
      </p:sp>
      <p:sp>
        <p:nvSpPr>
          <p:cNvPr id="2" name="Pairs frequency is confirmed. Exact signal and fill timing remains to ">
            <a:extLst xmlns:a="http://schemas.openxmlformats.org/drawingml/2006/main">
              <a:ext uri="{FF2B5EF4-FFF2-40B4-BE49-F238E27FC236}">
                <a16:creationId xmlns:a16="http://schemas.microsoft.com/office/drawing/2014/main" id="{2E431E7B-9199-4C97-B0B5-97CB86E72405}"/>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Pairs frequency is confirmed. Exact signal and fill timing remains to be agreed.</a:t>
            </a:r>
          </a:p>
        </p:txBody>
      </p:sp>
      <p:sp>
        <p:nvSpPr>
          <p:cNvPr id="3" name="05">
            <a:extLst xmlns:a="http://schemas.openxmlformats.org/drawingml/2006/main">
              <a:ext uri="{FF2B5EF4-FFF2-40B4-BE49-F238E27FC236}">
                <a16:creationId xmlns:a16="http://schemas.microsoft.com/office/drawing/2014/main" id="{42CD9B8F-B004-49DF-BC4C-3551C93B2074}"/>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7E9A905B-1E8F-418C-ABD2-D81379E48ED3}"/>
              </a:ext>
            </a:extLst>
          </p:cNvPr>
          <p:cNvGraphicFramePr/>
          <p:nvPr/>
        </p:nvGraphicFramePr>
        <p:xfrm>
          <a:off xmlns:a="http://schemas.openxmlformats.org/drawingml/2006/main" x="685800" y="1895475"/>
          <a:ext xmlns:a="http://schemas.openxmlformats.org/drawingml/2006/main" cx="10820400" cy="3638550"/>
        </p:xfrm>
        <a:graphic xmlns:a="http://schemas.openxmlformats.org/drawingml/2006/main">
          <a:graphicData uri="http://schemas.openxmlformats.org/drawingml/2006/table">
            <a:tbl>
              <a:tblPr firstRow="1" bandRow="0"/>
              <a:tblGrid>
                <a:gridCol w="2714625"/>
                <a:gridCol w="2857500"/>
                <a:gridCol w="5248275"/>
              </a:tblGrid>
              <a:tr h="606425">
                <a:tc>
                  <a:txBody>
                    <a:bodyPr>
                      <a:noAutofit/>
                    </a:bodyPr>
                    <a:lstStyle/>
                    <a:p>
                      <a:r>
                        <a:rPr sz="1800" b="1">
                          <a:solidFill>
                            <a:srgbClr val="162A3A"/>
                          </a:solidFill>
                          <a:latin typeface="Arial"/>
                          <a:ea typeface="Arial"/>
                          <a:cs typeface="Arial"/>
                        </a:rPr>
                        <a:t>When</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Owner</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Output</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606425">
                <a:tc>
                  <a:txBody>
                    <a:bodyPr>
                      <a:noAutofit/>
                    </a:bodyPr>
                    <a:lstStyle/>
                    <a:p>
                      <a:r>
                        <a:rPr sz="1800" b="0">
                          <a:solidFill>
                            <a:srgbClr val="162A3A"/>
                          </a:solidFill>
                          <a:latin typeface="Arial"/>
                          <a:ea typeface="Arial"/>
                          <a:cs typeface="Arial"/>
                        </a:rPr>
                        <a:t>Session t, after close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Data adapter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Completed prices and validated timestamps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Session t, after close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Pairs quant engine</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Daily model update and linked target legs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Before execution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Coordinator and risk</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Combined exposure and approval verdict</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Next eligible session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Paper executor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Simulated fills under the declared cost model</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06425">
                <a:tc>
                  <a:txBody>
                    <a:bodyPr>
                      <a:noAutofit/>
                    </a:bodyPr>
                    <a:lstStyle/>
                    <a:p>
                      <a:r>
                        <a:rPr sz="1800" b="0">
                          <a:solidFill>
                            <a:srgbClr val="162A3A"/>
                          </a:solidFill>
                          <a:latin typeface="Arial"/>
                          <a:ea typeface="Arial"/>
                          <a:cs typeface="Arial"/>
                        </a:rPr>
                        <a:t>After valuation</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Accounting and AI PMs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Fund NAV, CSV and evidence-linked memos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Both legs retain their hedge relationship. A daily signal can lead to ">
            <a:extLst xmlns:a="http://schemas.openxmlformats.org/drawingml/2006/main">
              <a:ext uri="{FF2B5EF4-FFF2-40B4-BE49-F238E27FC236}">
                <a16:creationId xmlns:a16="http://schemas.microsoft.com/office/drawing/2014/main" id="{83D8A3F1-BBD8-4287-A41A-A26FE4B07CB8}"/>
              </a:ext>
            </a:extLst>
          </p:cNvPr>
          <p:cNvSpPr>
            <a:spLocks xmlns:a="http://schemas.openxmlformats.org/drawingml/2006/main" noGrp="1"/>
          </p:cNvSpPr>
          <p:nvPr/>
        </p:nvSpPr>
        <p:spPr>
          <a:xfrm xmlns:a="http://schemas.openxmlformats.org/drawingml/2006/main">
            <a:off x="685800" y="58864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Both legs retain their hedge relationship. A daily signal can lead to no trade.</a:t>
            </a:r>
          </a:p>
        </p:txBody>
      </p:sp>
    </p:spTree>
    <p:extLst>
      <p:ext uri="{BB962C8B-B14F-4D97-AF65-F5344CB8AC3E}">
        <p14:creationId xmlns:p14="http://schemas.microsoft.com/office/powerpoint/2010/main" val="4562469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apital, risk and accounting">
            <a:extLst xmlns:a="http://schemas.openxmlformats.org/drawingml/2006/main">
              <a:ext uri="{FF2B5EF4-FFF2-40B4-BE49-F238E27FC236}">
                <a16:creationId xmlns:a16="http://schemas.microsoft.com/office/drawing/2014/main" id="{8AA449C5-4366-4D80-B5B8-4B124097CF9F}"/>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Capital, risk and accounting</a:t>
            </a:r>
          </a:p>
        </p:txBody>
      </p:sp>
      <p:sp>
        <p:nvSpPr>
          <p:cNvPr id="2" name="The coordinator proposes budgets. The risk controller has final approv">
            <a:extLst xmlns:a="http://schemas.openxmlformats.org/drawingml/2006/main">
              <a:ext uri="{FF2B5EF4-FFF2-40B4-BE49-F238E27FC236}">
                <a16:creationId xmlns:a16="http://schemas.microsoft.com/office/drawing/2014/main" id="{7E42E592-DE52-4EB5-B7D0-C485E9BB5C64}"/>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The coordinator proposes budgets. The risk controller has final approval.</a:t>
            </a:r>
          </a:p>
        </p:txBody>
      </p:sp>
      <p:sp>
        <p:nvSpPr>
          <p:cNvPr id="3" name="06">
            <a:extLst xmlns:a="http://schemas.openxmlformats.org/drawingml/2006/main">
              <a:ext uri="{FF2B5EF4-FFF2-40B4-BE49-F238E27FC236}">
                <a16:creationId xmlns:a16="http://schemas.microsoft.com/office/drawing/2014/main" id="{EF617440-51C3-45D7-A691-808ABE4E6E87}"/>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06</a:t>
            </a:r>
          </a:p>
        </p:txBody>
      </p:sp>
      <p:sp>
        <p:nvSpPr>
          <p:cNvPr id="4" name="Portfolio coordinator">
            <a:extLst xmlns:a="http://schemas.openxmlformats.org/drawingml/2006/main">
              <a:ext uri="{FF2B5EF4-FFF2-40B4-BE49-F238E27FC236}">
                <a16:creationId xmlns:a16="http://schemas.microsoft.com/office/drawing/2014/main" id="{6AEAF62E-9E45-4F8C-9DE5-CC272FDF3B3A}"/>
              </a:ext>
            </a:extLst>
          </p:cNvPr>
          <p:cNvSpPr>
            <a:spLocks xmlns:a="http://schemas.openxmlformats.org/drawingml/2006/main" noGrp="1"/>
          </p:cNvSpPr>
          <p:nvPr/>
        </p:nvSpPr>
        <p:spPr>
          <a:xfrm xmlns:a="http://schemas.openxmlformats.org/drawingml/2006/main">
            <a:off x="68580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Portfolio coordinator</a:t>
            </a:r>
          </a:p>
        </p:txBody>
      </p:sp>
      <p:sp>
        <p:nvSpPr>
          <p:cNvPr id="5" name="">
            <a:extLst xmlns:a="http://schemas.openxmlformats.org/drawingml/2006/main">
              <a:ext uri="{FF2B5EF4-FFF2-40B4-BE49-F238E27FC236}">
                <a16:creationId xmlns:a16="http://schemas.microsoft.com/office/drawing/2014/main" id="{9E99CDCD-1E80-4458-95AC-FD9AD8E58A0E}"/>
              </a:ext>
            </a:extLst>
          </p:cNvPr>
          <p:cNvSpPr>
            <a:spLocks xmlns:a="http://schemas.openxmlformats.org/drawingml/2006/main" noGrp="1"/>
          </p:cNvSpPr>
          <p:nvPr/>
        </p:nvSpPr>
        <p:spPr>
          <a:xfrm xmlns:a="http://schemas.openxmlformats.org/drawingml/2006/main">
            <a:off x="685800" y="2533650"/>
            <a:ext cx="5048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Assign the initial PM capital mandates</a:t>
            </a:r>
          </a:p>
          <a:p xmlns:a="http://schemas.openxmlformats.org/drawingml/2006/main">
            <a:pPr marL="228600" indent="-114300" algn="l">
              <a:spcAft>
                <a:spcPts val="1300"/>
              </a:spcAft>
              <a:buChar char="•"/>
              <a:defRPr sz="1950" b="0">
                <a:solidFill>
                  <a:srgbClr val="162A3A"/>
                </a:solidFill>
                <a:latin typeface="Arial"/>
                <a:ea typeface="Arial"/>
                <a:cs typeface="Arial"/>
              </a:defRPr>
            </a:pPr>
            <a:r>
              <a:t>Combine holdings and identify overlap</a:t>
            </a:r>
          </a:p>
          <a:p xmlns:a="http://schemas.openxmlformats.org/drawingml/2006/main">
            <a:pPr marL="228600" indent="-114300" algn="l">
              <a:spcAft>
                <a:spcPts val="1300"/>
              </a:spcAft>
              <a:buChar char="•"/>
              <a:defRPr sz="1950" b="0">
                <a:solidFill>
                  <a:srgbClr val="162A3A"/>
                </a:solidFill>
                <a:latin typeface="Arial"/>
                <a:ea typeface="Arial"/>
                <a:cs typeface="Arial"/>
              </a:defRPr>
            </a:pPr>
            <a:r>
              <a:t>Track PM contribution to fund P&amp;L</a:t>
            </a:r>
          </a:p>
          <a:p xmlns:a="http://schemas.openxmlformats.org/drawingml/2006/main">
            <a:pPr marL="228600" indent="-114300" algn="l">
              <a:spcAft>
                <a:spcPts val="1300"/>
              </a:spcAft>
              <a:buChar char="•"/>
              <a:defRPr sz="1950" b="0">
                <a:solidFill>
                  <a:srgbClr val="162A3A"/>
                </a:solidFill>
                <a:latin typeface="Arial"/>
                <a:ea typeface="Arial"/>
                <a:cs typeface="Arial"/>
              </a:defRPr>
            </a:pPr>
            <a:r>
              <a:t>Log transfers separately from returns</a:t>
            </a:r>
          </a:p>
        </p:txBody>
      </p:sp>
      <p:sp>
        <p:nvSpPr>
          <p:cNvPr id="6" name="Independent risk controller">
            <a:extLst xmlns:a="http://schemas.openxmlformats.org/drawingml/2006/main">
              <a:ext uri="{FF2B5EF4-FFF2-40B4-BE49-F238E27FC236}">
                <a16:creationId xmlns:a16="http://schemas.microsoft.com/office/drawing/2014/main" id="{F814D7DD-5BCF-4BF1-B572-79F76734C75D}"/>
              </a:ext>
            </a:extLst>
          </p:cNvPr>
          <p:cNvSpPr>
            <a:spLocks xmlns:a="http://schemas.openxmlformats.org/drawingml/2006/main" noGrp="1"/>
          </p:cNvSpPr>
          <p:nvPr/>
        </p:nvSpPr>
        <p:spPr>
          <a:xfrm xmlns:a="http://schemas.openxmlformats.org/drawingml/2006/main">
            <a:off x="6457950" y="19526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Independent risk controller</a:t>
            </a:r>
          </a:p>
        </p:txBody>
      </p:sp>
      <p:sp>
        <p:nvSpPr>
          <p:cNvPr id="7" name="">
            <a:extLst xmlns:a="http://schemas.openxmlformats.org/drawingml/2006/main">
              <a:ext uri="{FF2B5EF4-FFF2-40B4-BE49-F238E27FC236}">
                <a16:creationId xmlns:a16="http://schemas.microsoft.com/office/drawing/2014/main" id="{60E77402-9A28-4958-8EF4-06AFB0C6C45F}"/>
              </a:ext>
            </a:extLst>
          </p:cNvPr>
          <p:cNvSpPr>
            <a:spLocks xmlns:a="http://schemas.openxmlformats.org/drawingml/2006/main" noGrp="1"/>
          </p:cNvSpPr>
          <p:nvPr/>
        </p:nvSpPr>
        <p:spPr>
          <a:xfrm xmlns:a="http://schemas.openxmlformats.org/drawingml/2006/main">
            <a:off x="6457950" y="2533650"/>
            <a:ext cx="5048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Check concentration and gross/net exposure</a:t>
            </a:r>
          </a:p>
          <a:p xmlns:a="http://schemas.openxmlformats.org/drawingml/2006/main">
            <a:pPr marL="228600" indent="-114300" algn="l">
              <a:spcAft>
                <a:spcPts val="1300"/>
              </a:spcAft>
              <a:buChar char="•"/>
              <a:defRPr sz="1950" b="0">
                <a:solidFill>
                  <a:srgbClr val="162A3A"/>
                </a:solidFill>
                <a:latin typeface="Arial"/>
                <a:ea typeface="Arial"/>
                <a:cs typeface="Arial"/>
              </a:defRPr>
            </a:pPr>
            <a:r>
              <a:t>Preserve linked pair positions</a:t>
            </a:r>
          </a:p>
          <a:p xmlns:a="http://schemas.openxmlformats.org/drawingml/2006/main">
            <a:pPr marL="228600" indent="-114300" algn="l">
              <a:spcAft>
                <a:spcPts val="1300"/>
              </a:spcAft>
              <a:buChar char="•"/>
              <a:defRPr sz="1950" b="0">
                <a:solidFill>
                  <a:srgbClr val="162A3A"/>
                </a:solidFill>
                <a:latin typeface="Arial"/>
                <a:ea typeface="Arial"/>
                <a:cs typeface="Arial"/>
              </a:defRPr>
            </a:pPr>
            <a:r>
              <a:t>Check available cash, margin and data</a:t>
            </a:r>
          </a:p>
          <a:p xmlns:a="http://schemas.openxmlformats.org/drawingml/2006/main">
            <a:pPr marL="228600" indent="-114300" algn="l">
              <a:spcAft>
                <a:spcPts val="1300"/>
              </a:spcAft>
              <a:buChar char="•"/>
              <a:defRPr sz="1950" b="0">
                <a:solidFill>
                  <a:srgbClr val="162A3A"/>
                </a:solidFill>
                <a:latin typeface="Arial"/>
                <a:ea typeface="Arial"/>
                <a:cs typeface="Arial"/>
              </a:defRPr>
            </a:pPr>
            <a:r>
              <a:t>Reject breaches and record the reason</a:t>
            </a:r>
          </a:p>
        </p:txBody>
      </p:sp>
      <p:sp>
        <p:nvSpPr>
          <p:cNvPr id="8" name="Fund NAV = sum of PM NAVs + central cash">
            <a:extLst xmlns:a="http://schemas.openxmlformats.org/drawingml/2006/main">
              <a:ext uri="{FF2B5EF4-FFF2-40B4-BE49-F238E27FC236}">
                <a16:creationId xmlns:a16="http://schemas.microsoft.com/office/drawing/2014/main" id="{94D75285-618C-4F3B-9868-54B61E25069D}"/>
              </a:ext>
            </a:extLst>
          </p:cNvPr>
          <p:cNvSpPr>
            <a:spLocks xmlns:a="http://schemas.openxmlformats.org/drawingml/2006/main" noGrp="1"/>
          </p:cNvSpPr>
          <p:nvPr/>
        </p:nvSpPr>
        <p:spPr>
          <a:xfrm xmlns:a="http://schemas.openxmlformats.org/drawingml/2006/main">
            <a:off x="685800" y="54578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E8B"/>
                </a:solidFill>
                <a:latin typeface="Arial"/>
                <a:ea typeface="Arial"/>
                <a:cs typeface="Arial"/>
              </a:defRPr>
            </a:defPPr>
          </a:lstStyle>
          <a:p xmlns:a="http://schemas.openxmlformats.org/drawingml/2006/main">
            <a:pPr algn="l">
              <a:defRPr sz="2325" b="1">
                <a:solidFill>
                  <a:srgbClr val="087E8B"/>
                </a:solidFill>
                <a:latin typeface="Arial"/>
                <a:ea typeface="Arial"/>
                <a:cs typeface="Arial"/>
              </a:defRPr>
            </a:pPr>
            <a:r>
              <a:rPr sz="2325" b="1">
                <a:solidFill>
                  <a:srgbClr val="087E8B"/>
                </a:solidFill>
                <a:latin typeface="Arial"/>
                <a:ea typeface="Arial"/>
                <a:cs typeface="Arial"/>
              </a:rPr>
              <a:t>Fund NAV = sum of PM NAVs + central cash</a:t>
            </a:r>
          </a:p>
        </p:txBody>
      </p:sp>
      <p:sp>
        <p:nvSpPr>
          <p:cNvPr id="9" name="Capital transfers preserve fund NAV. Costs enter the ledger once.">
            <a:extLst xmlns:a="http://schemas.openxmlformats.org/drawingml/2006/main">
              <a:ext uri="{FF2B5EF4-FFF2-40B4-BE49-F238E27FC236}">
                <a16:creationId xmlns:a16="http://schemas.microsoft.com/office/drawing/2014/main" id="{DABD40A1-B902-424F-934B-2838321E4278}"/>
              </a:ext>
            </a:extLst>
          </p:cNvPr>
          <p:cNvSpPr>
            <a:spLocks xmlns:a="http://schemas.openxmlformats.org/drawingml/2006/main" noGrp="1"/>
          </p:cNvSpPr>
          <p:nvPr/>
        </p:nvSpPr>
        <p:spPr>
          <a:xfrm xmlns:a="http://schemas.openxmlformats.org/drawingml/2006/main">
            <a:off x="685800" y="60388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Capital transfers preserve fund NAV. Costs enter the ledger once.</a:t>
            </a:r>
          </a:p>
        </p:txBody>
      </p:sp>
    </p:spTree>
    <p:extLst>
      <p:ext uri="{BB962C8B-B14F-4D97-AF65-F5344CB8AC3E}">
        <p14:creationId xmlns:p14="http://schemas.microsoft.com/office/powerpoint/2010/main" val="6459158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valuation plan">
            <a:extLst xmlns:a="http://schemas.openxmlformats.org/drawingml/2006/main">
              <a:ext uri="{FF2B5EF4-FFF2-40B4-BE49-F238E27FC236}">
                <a16:creationId xmlns:a16="http://schemas.microsoft.com/office/drawing/2014/main" id="{DF82E75F-E2BC-4B39-B7AA-E48933AAC592}"/>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Evaluation plan</a:t>
            </a:r>
          </a:p>
        </p:txBody>
      </p:sp>
      <p:sp>
        <p:nvSpPr>
          <p:cNvPr id="2" name="Trading performance and AI review quality have separate tests">
            <a:extLst xmlns:a="http://schemas.openxmlformats.org/drawingml/2006/main">
              <a:ext uri="{FF2B5EF4-FFF2-40B4-BE49-F238E27FC236}">
                <a16:creationId xmlns:a16="http://schemas.microsoft.com/office/drawing/2014/main" id="{17034218-0890-4B0A-93B3-FE77F6ABCDFB}"/>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Trading performance and AI review quality have separate tests</a:t>
            </a:r>
          </a:p>
        </p:txBody>
      </p:sp>
      <p:sp>
        <p:nvSpPr>
          <p:cNvPr id="3" name="07">
            <a:extLst xmlns:a="http://schemas.openxmlformats.org/drawingml/2006/main">
              <a:ext uri="{FF2B5EF4-FFF2-40B4-BE49-F238E27FC236}">
                <a16:creationId xmlns:a16="http://schemas.microsoft.com/office/drawing/2014/main" id="{35546672-AD2B-4F90-A649-0FBAD35128BA}"/>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4576D7D0-2817-4E13-89F2-6509331CFA05}"/>
              </a:ext>
            </a:extLst>
          </p:cNvPr>
          <p:cNvGraphicFramePr/>
          <p:nvPr/>
        </p:nvGraphicFramePr>
        <p:xfrm>
          <a:off xmlns:a="http://schemas.openxmlformats.org/drawingml/2006/main" x="685800" y="1905000"/>
          <a:ext xmlns:a="http://schemas.openxmlformats.org/drawingml/2006/main" cx="10820400" cy="3333750"/>
        </p:xfrm>
        <a:graphic xmlns:a="http://schemas.openxmlformats.org/drawingml/2006/main">
          <a:graphicData uri="http://schemas.openxmlformats.org/drawingml/2006/table">
            <a:tbl>
              <a:tblPr firstRow="1" bandRow="0"/>
              <a:tblGrid>
                <a:gridCol w="2619375"/>
                <a:gridCol w="4286250"/>
                <a:gridCol w="3914775"/>
              </a:tblGrid>
              <a:tr h="666750">
                <a:tc>
                  <a:txBody>
                    <a:bodyPr>
                      <a:noAutofit/>
                    </a:bodyPr>
                    <a:lstStyle/>
                    <a:p>
                      <a:r>
                        <a:rPr sz="1800" b="1">
                          <a:solidFill>
                            <a:srgbClr val="162A3A"/>
                          </a:solidFill>
                          <a:latin typeface="Arial"/>
                          <a:ea typeface="Arial"/>
                          <a:cs typeface="Arial"/>
                        </a:rPr>
                        <a:t>Experiment</a:t>
                      </a:r>
                    </a:p>
                  </a:txBody>
                  <a:tcPr marL="114300" marR="114300" marT="95250" marB="95250" anchor="ctr">
                    <a:lnL w="6668">
                      <a:solidFill>
                        <a:srgbClr val="D9E2E8"/>
                      </a:solidFill>
                      <a:prstDash val="solid"/>
                    </a:lnL>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Question</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c>
                  <a:txBody>
                    <a:bodyPr>
                      <a:noAutofit/>
                    </a:bodyPr>
                    <a:lstStyle/>
                    <a:p>
                      <a:r>
                        <a:rPr sz="1800" b="1">
                          <a:solidFill>
                            <a:srgbClr val="162A3A"/>
                          </a:solidFill>
                          <a:latin typeface="Arial"/>
                          <a:ea typeface="Arial"/>
                          <a:cs typeface="Arial"/>
                        </a:rPr>
                        <a:t>Main evidence</a:t>
                      </a:r>
                    </a:p>
                  </a:txBody>
                  <a:tcPr marL="114300" marR="114300" marT="95250" marB="95250" anchor="ctr">
                    <a:lnR w="6668">
                      <a:solidFill>
                        <a:srgbClr val="D9E2E8"/>
                      </a:solidFill>
                      <a:prstDash val="solid"/>
                    </a:lnR>
                    <a:lnT w="6668">
                      <a:solidFill>
                        <a:srgbClr val="D9E2E8"/>
                      </a:solidFill>
                      <a:prstDash val="solid"/>
                    </a:lnT>
                    <a:lnB w="6668">
                      <a:solidFill>
                        <a:srgbClr val="D9E2E8"/>
                      </a:solidFill>
                      <a:prstDash val="solid"/>
                    </a:lnB>
                    <a:solidFill>
                      <a:srgbClr val="EDF2F5"/>
                    </a:solidFill>
                  </a:tcPr>
                </a:tc>
              </a:tr>
              <a:tr h="666750">
                <a:tc>
                  <a:txBody>
                    <a:bodyPr>
                      <a:noAutofit/>
                    </a:bodyPr>
                    <a:lstStyle/>
                    <a:p>
                      <a:r>
                        <a:rPr sz="1800" b="0">
                          <a:solidFill>
                            <a:srgbClr val="162A3A"/>
                          </a:solidFill>
                          <a:latin typeface="Arial"/>
                          <a:ea typeface="Arial"/>
                          <a:cs typeface="Arial"/>
                        </a:rPr>
                        <a:t>Each PM alone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Profitable after costs?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Net return, Sharpe and drawdown</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66750">
                <a:tc>
                  <a:txBody>
                    <a:bodyPr>
                      <a:noAutofit/>
                    </a:bodyPr>
                    <a:lstStyle/>
                    <a:p>
                      <a:r>
                        <a:rPr sz="1800" b="0">
                          <a:solidFill>
                            <a:srgbClr val="162A3A"/>
                          </a:solidFill>
                          <a:latin typeface="Arial"/>
                          <a:ea typeface="Arial"/>
                          <a:cs typeface="Arial"/>
                        </a:rPr>
                        <a:t>Initial-budget blend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Better as a combined fund?</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Fund NAV, correlation and PM P&amp;L</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66750">
                <a:tc>
                  <a:txBody>
                    <a:bodyPr>
                      <a:noAutofit/>
                    </a:bodyPr>
                    <a:lstStyle/>
                    <a:p>
                      <a:r>
                        <a:rPr sz="1800" b="0">
                          <a:solidFill>
                            <a:srgbClr val="162A3A"/>
                          </a:solidFill>
                          <a:latin typeface="Arial"/>
                          <a:ea typeface="Arial"/>
                          <a:cs typeface="Arial"/>
                        </a:rPr>
                        <a:t>Allocation alternative</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Better after reallocation costs?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Incremental return, risk and turnover</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r h="666750">
                <a:tc>
                  <a:txBody>
                    <a:bodyPr>
                      <a:noAutofit/>
                    </a:bodyPr>
                    <a:lstStyle/>
                    <a:p>
                      <a:r>
                        <a:rPr sz="1800" b="0">
                          <a:solidFill>
                            <a:srgbClr val="162A3A"/>
                          </a:solidFill>
                          <a:latin typeface="Arial"/>
                          <a:ea typeface="Arial"/>
                          <a:cs typeface="Arial"/>
                        </a:rPr>
                        <a:t>AI enabled / disabled</a:t>
                      </a:r>
                    </a:p>
                  </a:txBody>
                  <a:tcPr marL="114300" marR="114300" marT="95250" marB="95250" anchor="ctr">
                    <a:lnL w="6668">
                      <a:solidFill>
                        <a:srgbClr val="D9E2E8"/>
                      </a:solidFill>
                      <a:prstDash val="solid"/>
                    </a:lnL>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Accurate and useful explanations?</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c>
                  <a:txBody>
                    <a:bodyPr>
                      <a:noAutofit/>
                    </a:bodyPr>
                    <a:lstStyle/>
                    <a:p>
                      <a:r>
                        <a:rPr sz="1800" b="0">
                          <a:solidFill>
                            <a:srgbClr val="162A3A"/>
                          </a:solidFill>
                          <a:latin typeface="Arial"/>
                          <a:ea typeface="Arial"/>
                          <a:cs typeface="Arial"/>
                        </a:rPr>
                        <a:t>Cited facts, review time and cost</a:t>
                      </a:r>
                    </a:p>
                  </a:txBody>
                  <a:tcPr marL="114300" marR="114300" marT="95250" marB="95250" anchor="ctr">
                    <a:lnR w="6668">
                      <a:solidFill>
                        <a:srgbClr val="D9E2E8"/>
                      </a:solidFill>
                      <a:prstDash val="solid"/>
                    </a:lnR>
                    <a:lnB w="6668">
                      <a:solidFill>
                        <a:srgbClr val="D9E2E8"/>
                      </a:solidFill>
                      <a:prstDash val="solid"/>
                    </a:lnB>
                    <a:solidFill>
                      <a:srgbClr val="FFFFFF"/>
                    </a:solidFill>
                  </a:tcPr>
                </a:tc>
              </a:tr>
            </a:tbl>
          </a:graphicData>
        </a:graphic>
      </p:graphicFrame>
      <p:sp>
        <p:nvSpPr>
          <p:cNvPr id="5" name="The AI comparison keeps quantitative portfolio decisions identical">
            <a:extLst xmlns:a="http://schemas.openxmlformats.org/drawingml/2006/main">
              <a:ext uri="{FF2B5EF4-FFF2-40B4-BE49-F238E27FC236}">
                <a16:creationId xmlns:a16="http://schemas.microsoft.com/office/drawing/2014/main" id="{539D46E2-A221-4E86-9ABD-589CB69C7BCC}"/>
              </a:ext>
            </a:extLst>
          </p:cNvPr>
          <p:cNvSpPr>
            <a:spLocks xmlns:a="http://schemas.openxmlformats.org/drawingml/2006/main" noGrp="1"/>
          </p:cNvSpPr>
          <p:nvPr/>
        </p:nvSpPr>
        <p:spPr>
          <a:xfrm xmlns:a="http://schemas.openxmlformats.org/drawingml/2006/main">
            <a:off x="685800" y="5553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defRPr sz="2175" b="1">
                <a:solidFill>
                  <a:srgbClr val="087E8B"/>
                </a:solidFill>
                <a:latin typeface="Arial"/>
                <a:ea typeface="Arial"/>
                <a:cs typeface="Arial"/>
              </a:defRPr>
            </a:pPr>
            <a:r>
              <a:rPr sz="2175" b="1">
                <a:solidFill>
                  <a:srgbClr val="087E8B"/>
                </a:solidFill>
                <a:latin typeface="Arial"/>
                <a:ea typeface="Arial"/>
                <a:cs typeface="Arial"/>
              </a:rPr>
              <a:t>The AI comparison keeps quantitative portfolio decisions identical</a:t>
            </a:r>
          </a:p>
        </p:txBody>
      </p:sp>
      <p:sp>
        <p:nvSpPr>
          <p:cNvPr id="6" name="Use the official benchmark and consistent dates, costs and capital con">
            <a:extLst xmlns:a="http://schemas.openxmlformats.org/drawingml/2006/main">
              <a:ext uri="{FF2B5EF4-FFF2-40B4-BE49-F238E27FC236}">
                <a16:creationId xmlns:a16="http://schemas.microsoft.com/office/drawing/2014/main" id="{18CCB57C-62D4-4DE7-97BD-71DF4E08F317}"/>
              </a:ext>
            </a:extLst>
          </p:cNvPr>
          <p:cNvSpPr>
            <a:spLocks xmlns:a="http://schemas.openxmlformats.org/drawingml/2006/main" noGrp="1"/>
          </p:cNvSpPr>
          <p:nvPr/>
        </p:nvSpPr>
        <p:spPr>
          <a:xfrm xmlns:a="http://schemas.openxmlformats.org/drawingml/2006/main">
            <a:off x="685800" y="6057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Use the official benchmark and consistent dates, costs and capital conventions.</a:t>
            </a:r>
          </a:p>
        </p:txBody>
      </p:sp>
    </p:spTree>
    <p:extLst>
      <p:ext uri="{BB962C8B-B14F-4D97-AF65-F5344CB8AC3E}">
        <p14:creationId xmlns:p14="http://schemas.microsoft.com/office/powerpoint/2010/main" val="1925187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livery and ownership">
            <a:extLst xmlns:a="http://schemas.openxmlformats.org/drawingml/2006/main">
              <a:ext uri="{FF2B5EF4-FFF2-40B4-BE49-F238E27FC236}">
                <a16:creationId xmlns:a16="http://schemas.microsoft.com/office/drawing/2014/main" id="{30FBB77D-D74D-4784-A643-2138988D751D}"/>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Delivery and ownership</a:t>
            </a:r>
          </a:p>
        </p:txBody>
      </p:sp>
      <p:sp>
        <p:nvSpPr>
          <p:cNvPr id="2" name="One application hosts the PM views and the daily decision history">
            <a:extLst xmlns:a="http://schemas.openxmlformats.org/drawingml/2006/main">
              <a:ext uri="{FF2B5EF4-FFF2-40B4-BE49-F238E27FC236}">
                <a16:creationId xmlns:a16="http://schemas.microsoft.com/office/drawing/2014/main" id="{8FD4C2F7-23CC-4B5C-8BE3-02630C59C70D}"/>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One application hosts the PM views and the daily decision history</a:t>
            </a:r>
          </a:p>
        </p:txBody>
      </p:sp>
      <p:sp>
        <p:nvSpPr>
          <p:cNvPr id="3" name="08">
            <a:extLst xmlns:a="http://schemas.openxmlformats.org/drawingml/2006/main">
              <a:ext uri="{FF2B5EF4-FFF2-40B4-BE49-F238E27FC236}">
                <a16:creationId xmlns:a16="http://schemas.microsoft.com/office/drawing/2014/main" id="{7F5533E7-FE11-426B-A851-BC5FF2B004CF}"/>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08</a:t>
            </a:r>
          </a:p>
        </p:txBody>
      </p:sp>
      <p:sp>
        <p:nvSpPr>
          <p:cNvPr id="4" name="Submission and demonstration">
            <a:extLst xmlns:a="http://schemas.openxmlformats.org/drawingml/2006/main">
              <a:ext uri="{FF2B5EF4-FFF2-40B4-BE49-F238E27FC236}">
                <a16:creationId xmlns:a16="http://schemas.microsoft.com/office/drawing/2014/main" id="{36C0373A-17E6-4E66-AEFD-E5BCF7D6A6E3}"/>
              </a:ext>
            </a:extLst>
          </p:cNvPr>
          <p:cNvSpPr>
            <a:spLocks xmlns:a="http://schemas.openxmlformats.org/drawingml/2006/main" noGrp="1"/>
          </p:cNvSpPr>
          <p:nvPr/>
        </p:nvSpPr>
        <p:spPr>
          <a:xfrm xmlns:a="http://schemas.openxmlformats.org/drawingml/2006/main">
            <a:off x="685800" y="19526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Submission and demonstration</a:t>
            </a:r>
          </a:p>
        </p:txBody>
      </p:sp>
      <p:sp>
        <p:nvSpPr>
          <p:cNvPr id="5" name="">
            <a:extLst xmlns:a="http://schemas.openxmlformats.org/drawingml/2006/main">
              <a:ext uri="{FF2B5EF4-FFF2-40B4-BE49-F238E27FC236}">
                <a16:creationId xmlns:a16="http://schemas.microsoft.com/office/drawing/2014/main" id="{0A6362DA-A306-47BC-8F63-74894D67EAA0}"/>
              </a:ext>
            </a:extLst>
          </p:cNvPr>
          <p:cNvSpPr>
            <a:spLocks xmlns:a="http://schemas.openxmlformats.org/drawingml/2006/main" noGrp="1"/>
          </p:cNvSpPr>
          <p:nvPr/>
        </p:nvSpPr>
        <p:spPr>
          <a:xfrm xmlns:a="http://schemas.openxmlformats.org/drawingml/2006/main">
            <a:off x="685800" y="2533650"/>
            <a:ext cx="52387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Reproducible strategy code and closing-price CSV</a:t>
            </a:r>
          </a:p>
          <a:p xmlns:a="http://schemas.openxmlformats.org/drawingml/2006/main">
            <a:pPr marL="228600" indent="-114300" algn="l">
              <a:spcAft>
                <a:spcPts val="1300"/>
              </a:spcAft>
              <a:buChar char="•"/>
              <a:defRPr sz="1950" b="0">
                <a:solidFill>
                  <a:srgbClr val="162A3A"/>
                </a:solidFill>
                <a:latin typeface="Arial"/>
                <a:ea typeface="Arial"/>
                <a:cs typeface="Arial"/>
              </a:defRPr>
            </a:pPr>
            <a:r>
              <a:t>Fund and PM performance dashboard</a:t>
            </a:r>
          </a:p>
          <a:p xmlns:a="http://schemas.openxmlformats.org/drawingml/2006/main">
            <a:pPr marL="228600" indent="-114300" algn="l">
              <a:spcAft>
                <a:spcPts val="1300"/>
              </a:spcAft>
              <a:buChar char="•"/>
              <a:defRPr sz="1950" b="0">
                <a:solidFill>
                  <a:srgbClr val="162A3A"/>
                </a:solidFill>
                <a:latin typeface="Arial"/>
                <a:ea typeface="Arial"/>
                <a:cs typeface="Arial"/>
              </a:defRPr>
            </a:pPr>
            <a:r>
              <a:t>Actual tool calls, risk verdicts and PM memos</a:t>
            </a:r>
          </a:p>
          <a:p xmlns:a="http://schemas.openxmlformats.org/drawingml/2006/main">
            <a:pPr marL="228600" indent="-114300" algn="l">
              <a:spcAft>
                <a:spcPts val="1300"/>
              </a:spcAft>
              <a:buChar char="•"/>
              <a:defRPr sz="1950" b="0">
                <a:solidFill>
                  <a:srgbClr val="162A3A"/>
                </a:solidFill>
                <a:latin typeface="Arial"/>
                <a:ea typeface="Arial"/>
                <a:cs typeface="Arial"/>
              </a:defRPr>
            </a:pPr>
            <a:r>
              <a:t>An isolated replay of a selected historical day</a:t>
            </a:r>
          </a:p>
        </p:txBody>
      </p:sp>
      <p:sp>
        <p:nvSpPr>
          <p:cNvPr id="6" name="Proposed hosting">
            <a:extLst xmlns:a="http://schemas.openxmlformats.org/drawingml/2006/main">
              <a:ext uri="{FF2B5EF4-FFF2-40B4-BE49-F238E27FC236}">
                <a16:creationId xmlns:a16="http://schemas.microsoft.com/office/drawing/2014/main" id="{39F30482-11C0-4E61-862C-4B5A22A63FCA}"/>
              </a:ext>
            </a:extLst>
          </p:cNvPr>
          <p:cNvSpPr>
            <a:spLocks xmlns:a="http://schemas.openxmlformats.org/drawingml/2006/main" noGrp="1"/>
          </p:cNvSpPr>
          <p:nvPr/>
        </p:nvSpPr>
        <p:spPr>
          <a:xfrm xmlns:a="http://schemas.openxmlformats.org/drawingml/2006/main">
            <a:off x="6762750" y="1952625"/>
            <a:ext cx="4743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Proposed hosting</a:t>
            </a:r>
          </a:p>
        </p:txBody>
      </p:sp>
      <p:sp>
        <p:nvSpPr>
          <p:cNvPr id="7" name="">
            <a:extLst xmlns:a="http://schemas.openxmlformats.org/drawingml/2006/main">
              <a:ext uri="{FF2B5EF4-FFF2-40B4-BE49-F238E27FC236}">
                <a16:creationId xmlns:a16="http://schemas.microsoft.com/office/drawing/2014/main" id="{E85812DA-FCA9-44C0-8764-A25CFA59FF17}"/>
              </a:ext>
            </a:extLst>
          </p:cNvPr>
          <p:cNvSpPr>
            <a:spLocks xmlns:a="http://schemas.openxmlformats.org/drawingml/2006/main" noGrp="1"/>
          </p:cNvSpPr>
          <p:nvPr/>
        </p:nvSpPr>
        <p:spPr>
          <a:xfrm xmlns:a="http://schemas.openxmlformats.org/drawingml/2006/main">
            <a:off x="6762750" y="2533650"/>
            <a:ext cx="47434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Streamlit dashboard</a:t>
            </a:r>
          </a:p>
          <a:p xmlns:a="http://schemas.openxmlformats.org/drawingml/2006/main">
            <a:pPr marL="228600" indent="-114300" algn="l">
              <a:spcAft>
                <a:spcPts val="1300"/>
              </a:spcAft>
              <a:buChar char="•"/>
              <a:defRPr sz="1950" b="0">
                <a:solidFill>
                  <a:srgbClr val="162A3A"/>
                </a:solidFill>
                <a:latin typeface="Arial"/>
                <a:ea typeface="Arial"/>
                <a:cs typeface="Arial"/>
              </a:defRPr>
            </a:pPr>
            <a:r>
              <a:t>One Python engine with a scheduled runner</a:t>
            </a:r>
          </a:p>
          <a:p xmlns:a="http://schemas.openxmlformats.org/drawingml/2006/main">
            <a:pPr marL="228600" indent="-114300" algn="l">
              <a:spcAft>
                <a:spcPts val="1300"/>
              </a:spcAft>
              <a:buChar char="•"/>
              <a:defRPr sz="1950" b="0">
                <a:solidFill>
                  <a:srgbClr val="162A3A"/>
                </a:solidFill>
                <a:latin typeface="Arial"/>
                <a:ea typeface="Arial"/>
                <a:cs typeface="Arial"/>
              </a:defRPr>
            </a:pPr>
            <a:r>
              <a:t>SQLite on persistent storage</a:t>
            </a:r>
          </a:p>
          <a:p xmlns:a="http://schemas.openxmlformats.org/drawingml/2006/main">
            <a:pPr marL="228600" indent="-114300" algn="l">
              <a:spcAft>
                <a:spcPts val="1300"/>
              </a:spcAft>
              <a:buChar char="•"/>
              <a:defRPr sz="1950" b="0">
                <a:solidFill>
                  <a:srgbClr val="162A3A"/>
                </a:solidFill>
                <a:latin typeface="Arial"/>
                <a:ea typeface="Arial"/>
                <a:cs typeface="Arial"/>
              </a:defRPr>
            </a:pPr>
            <a:r>
              <a:t>Server-side data and model credentials</a:t>
            </a:r>
          </a:p>
        </p:txBody>
      </p:sp>
      <p:sp>
        <p:nvSpPr>
          <p:cNvPr id="8" name="Ownership: three PM owners, an integration lead and a reporting/operat">
            <a:extLst xmlns:a="http://schemas.openxmlformats.org/drawingml/2006/main">
              <a:ext uri="{FF2B5EF4-FFF2-40B4-BE49-F238E27FC236}">
                <a16:creationId xmlns:a16="http://schemas.microsoft.com/office/drawing/2014/main" id="{958F71AC-2D80-4283-8CA8-1B1A02132031}"/>
              </a:ext>
            </a:extLst>
          </p:cNvPr>
          <p:cNvSpPr>
            <a:spLocks xmlns:a="http://schemas.openxmlformats.org/drawingml/2006/main" noGrp="1"/>
          </p:cNvSpPr>
          <p:nvPr/>
        </p:nvSpPr>
        <p:spPr>
          <a:xfrm xmlns:a="http://schemas.openxmlformats.org/drawingml/2006/main">
            <a:off x="685800" y="5562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62A3A"/>
                </a:solidFill>
                <a:latin typeface="Arial"/>
                <a:ea typeface="Arial"/>
                <a:cs typeface="Arial"/>
              </a:defRPr>
            </a:defPPr>
          </a:lstStyle>
          <a:p xmlns:a="http://schemas.openxmlformats.org/drawingml/2006/main">
            <a:pPr algn="l">
              <a:defRPr sz="1875" b="0">
                <a:solidFill>
                  <a:srgbClr val="162A3A"/>
                </a:solidFill>
                <a:latin typeface="Arial"/>
                <a:ea typeface="Arial"/>
                <a:cs typeface="Arial"/>
              </a:defRPr>
            </a:pPr>
            <a:r>
              <a:rPr sz="1875" b="0">
                <a:solidFill>
                  <a:srgbClr val="162A3A"/>
                </a:solidFill>
                <a:latin typeface="Arial"/>
                <a:ea typeface="Arial"/>
                <a:cs typeface="Arial"/>
              </a:rPr>
              <a:t>Ownership: three PM owners, an integration lead and a reporting/operations lead</a:t>
            </a:r>
          </a:p>
        </p:txBody>
      </p:sp>
      <p:sp>
        <p:nvSpPr>
          <p:cNvPr id="9" name="For four members, share reporting and operations. Final slides must na">
            <a:extLst xmlns:a="http://schemas.openxmlformats.org/drawingml/2006/main">
              <a:ext uri="{FF2B5EF4-FFF2-40B4-BE49-F238E27FC236}">
                <a16:creationId xmlns:a16="http://schemas.microsoft.com/office/drawing/2014/main" id="{DACE3AD8-6B8E-4CBE-A4BA-DB2374150FBF}"/>
              </a:ext>
            </a:extLst>
          </p:cNvPr>
          <p:cNvSpPr>
            <a:spLocks xmlns:a="http://schemas.openxmlformats.org/drawingml/2006/main" noGrp="1"/>
          </p:cNvSpPr>
          <p:nvPr/>
        </p:nvSpPr>
        <p:spPr>
          <a:xfrm xmlns:a="http://schemas.openxmlformats.org/drawingml/2006/main">
            <a:off x="685800" y="61912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16476"/>
                </a:solidFill>
                <a:latin typeface="Arial"/>
                <a:ea typeface="Arial"/>
                <a:cs typeface="Arial"/>
              </a:defRPr>
            </a:defPPr>
          </a:lstStyle>
          <a:p xmlns:a="http://schemas.openxmlformats.org/drawingml/2006/main">
            <a:pPr algn="l">
              <a:defRPr sz="1650" b="0">
                <a:solidFill>
                  <a:srgbClr val="516476"/>
                </a:solidFill>
                <a:latin typeface="Arial"/>
                <a:ea typeface="Arial"/>
                <a:cs typeface="Arial"/>
              </a:defRPr>
            </a:pPr>
            <a:r>
              <a:rPr sz="1650" b="0">
                <a:solidFill>
                  <a:srgbClr val="516476"/>
                </a:solidFill>
                <a:latin typeface="Arial"/>
                <a:ea typeface="Arial"/>
                <a:cs typeface="Arial"/>
              </a:rPr>
              <a:t>For four members, share reporting and operations. Final slides must name every member.</a:t>
            </a:r>
          </a:p>
        </p:txBody>
      </p:sp>
    </p:spTree>
    <p:extLst>
      <p:ext uri="{BB962C8B-B14F-4D97-AF65-F5344CB8AC3E}">
        <p14:creationId xmlns:p14="http://schemas.microsoft.com/office/powerpoint/2010/main" val="499418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adiness and remaining inputs">
            <a:extLst xmlns:a="http://schemas.openxmlformats.org/drawingml/2006/main">
              <a:ext uri="{FF2B5EF4-FFF2-40B4-BE49-F238E27FC236}">
                <a16:creationId xmlns:a16="http://schemas.microsoft.com/office/drawing/2014/main" id="{4B95EDE5-E652-42D9-AC6B-CD637940E31B}"/>
              </a:ext>
            </a:extLst>
          </p:cNvPr>
          <p:cNvSpPr>
            <a:spLocks xmlns:a="http://schemas.openxmlformats.org/drawingml/2006/main" noGrp="1"/>
          </p:cNvSpPr>
          <p:nvPr/>
        </p:nvSpPr>
        <p:spPr>
          <a:xfrm xmlns:a="http://schemas.openxmlformats.org/drawingml/2006/main">
            <a:off x="685800" y="457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62A3A"/>
                </a:solidFill>
                <a:latin typeface="Arial"/>
                <a:ea typeface="Arial"/>
                <a:cs typeface="Arial"/>
              </a:defRPr>
            </a:defPPr>
          </a:lstStyle>
          <a:p xmlns:a="http://schemas.openxmlformats.org/drawingml/2006/main">
            <a:pPr algn="l">
              <a:defRPr sz="3300" b="1">
                <a:solidFill>
                  <a:srgbClr val="162A3A"/>
                </a:solidFill>
                <a:latin typeface="Arial"/>
                <a:ea typeface="Arial"/>
                <a:cs typeface="Arial"/>
              </a:defRPr>
            </a:pPr>
            <a:r>
              <a:rPr sz="3300" b="1">
                <a:solidFill>
                  <a:srgbClr val="162A3A"/>
                </a:solidFill>
                <a:latin typeface="Arial"/>
                <a:ea typeface="Arial"/>
                <a:cs typeface="Arial"/>
              </a:rPr>
              <a:t>Readiness and remaining inputs</a:t>
            </a:r>
          </a:p>
        </p:txBody>
      </p:sp>
      <p:sp>
        <p:nvSpPr>
          <p:cNvPr id="2" name="The combined fund and connected AI PMs are proposed work">
            <a:extLst xmlns:a="http://schemas.openxmlformats.org/drawingml/2006/main">
              <a:ext uri="{FF2B5EF4-FFF2-40B4-BE49-F238E27FC236}">
                <a16:creationId xmlns:a16="http://schemas.microsoft.com/office/drawing/2014/main" id="{B33F0A30-AFF6-42B6-ABC1-671F4187DAF1}"/>
              </a:ext>
            </a:extLst>
          </p:cNvPr>
          <p:cNvSpPr>
            <a:spLocks xmlns:a="http://schemas.openxmlformats.org/drawingml/2006/main" noGrp="1"/>
          </p:cNvSpPr>
          <p:nvPr/>
        </p:nvSpPr>
        <p:spPr>
          <a:xfrm xmlns:a="http://schemas.openxmlformats.org/drawingml/2006/main">
            <a:off x="685800" y="1171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476"/>
                </a:solidFill>
                <a:latin typeface="Arial"/>
                <a:ea typeface="Arial"/>
                <a:cs typeface="Arial"/>
              </a:defRPr>
            </a:defPPr>
          </a:lstStyle>
          <a:p xmlns:a="http://schemas.openxmlformats.org/drawingml/2006/main">
            <a:pPr algn="l">
              <a:defRPr sz="1875" b="0">
                <a:solidFill>
                  <a:srgbClr val="516476"/>
                </a:solidFill>
                <a:latin typeface="Arial"/>
                <a:ea typeface="Arial"/>
                <a:cs typeface="Arial"/>
              </a:defRPr>
            </a:pPr>
            <a:r>
              <a:rPr sz="1875" b="0">
                <a:solidFill>
                  <a:srgbClr val="516476"/>
                </a:solidFill>
                <a:latin typeface="Arial"/>
                <a:ea typeface="Arial"/>
                <a:cs typeface="Arial"/>
              </a:rPr>
              <a:t>The combined fund and connected AI PMs are proposed work</a:t>
            </a:r>
          </a:p>
        </p:txBody>
      </p:sp>
      <p:sp>
        <p:nvSpPr>
          <p:cNvPr id="3" name="09">
            <a:extLst xmlns:a="http://schemas.openxmlformats.org/drawingml/2006/main">
              <a:ext uri="{FF2B5EF4-FFF2-40B4-BE49-F238E27FC236}">
                <a16:creationId xmlns:a16="http://schemas.microsoft.com/office/drawing/2014/main" id="{D57E023E-D48F-48A6-A8D0-0904ADF1D881}"/>
              </a:ext>
            </a:extLst>
          </p:cNvPr>
          <p:cNvSpPr>
            <a:spLocks xmlns:a="http://schemas.openxmlformats.org/drawingml/2006/main" noGrp="1"/>
          </p:cNvSpPr>
          <p:nvPr/>
        </p:nvSpPr>
        <p:spPr>
          <a:xfrm xmlns:a="http://schemas.openxmlformats.org/drawingml/2006/main">
            <a:off x="10953750" y="64389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16476"/>
                </a:solidFill>
                <a:latin typeface="Arial"/>
                <a:ea typeface="Arial"/>
                <a:cs typeface="Arial"/>
              </a:defRPr>
            </a:defPPr>
          </a:lstStyle>
          <a:p xmlns:a="http://schemas.openxmlformats.org/drawingml/2006/main">
            <a:pPr algn="r">
              <a:defRPr sz="1275" b="0">
                <a:solidFill>
                  <a:srgbClr val="516476"/>
                </a:solidFill>
                <a:latin typeface="Arial"/>
                <a:ea typeface="Arial"/>
                <a:cs typeface="Arial"/>
              </a:defRPr>
            </a:pPr>
            <a:r>
              <a:rPr sz="1275" b="0">
                <a:solidFill>
                  <a:srgbClr val="516476"/>
                </a:solidFill>
                <a:latin typeface="Arial"/>
                <a:ea typeface="Arial"/>
                <a:cs typeface="Arial"/>
              </a:rPr>
              <a:t>09</a:t>
            </a:r>
          </a:p>
        </p:txBody>
      </p:sp>
      <p:sp>
        <p:nvSpPr>
          <p:cNvPr id="4" name="Existing foundation">
            <a:extLst xmlns:a="http://schemas.openxmlformats.org/drawingml/2006/main">
              <a:ext uri="{FF2B5EF4-FFF2-40B4-BE49-F238E27FC236}">
                <a16:creationId xmlns:a16="http://schemas.microsoft.com/office/drawing/2014/main" id="{2A21AB5A-E175-49ED-B76F-AC249F82641D}"/>
              </a:ext>
            </a:extLst>
          </p:cNvPr>
          <p:cNvSpPr>
            <a:spLocks xmlns:a="http://schemas.openxmlformats.org/drawingml/2006/main" noGrp="1"/>
          </p:cNvSpPr>
          <p:nvPr/>
        </p:nvSpPr>
        <p:spPr>
          <a:xfrm xmlns:a="http://schemas.openxmlformats.org/drawingml/2006/main">
            <a:off x="685800" y="1943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Existing foundation</a:t>
            </a:r>
          </a:p>
        </p:txBody>
      </p:sp>
      <p:sp>
        <p:nvSpPr>
          <p:cNvPr id="5" name="">
            <a:extLst xmlns:a="http://schemas.openxmlformats.org/drawingml/2006/main">
              <a:ext uri="{FF2B5EF4-FFF2-40B4-BE49-F238E27FC236}">
                <a16:creationId xmlns:a16="http://schemas.microsoft.com/office/drawing/2014/main" id="{FE69047E-367B-4086-957C-DB5CD49F0F96}"/>
              </a:ext>
            </a:extLst>
          </p:cNvPr>
          <p:cNvSpPr>
            <a:spLocks xmlns:a="http://schemas.openxmlformats.org/drawingml/2006/main" noGrp="1"/>
          </p:cNvSpPr>
          <p:nvPr/>
        </p:nvSpPr>
        <p:spPr>
          <a:xfrm xmlns:a="http://schemas.openxmlformats.org/drawingml/2006/main">
            <a:off x="685800" y="252412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62A3A"/>
                </a:solidFill>
                <a:latin typeface="Arial"/>
                <a:ea typeface="Arial"/>
                <a:cs typeface="Arial"/>
              </a:defRPr>
            </a:defPPr>
          </a:lstStyle>
          <a:p xmlns:a="http://schemas.openxmlformats.org/drawingml/2006/main">
            <a:pPr marL="228600" indent="-114300" algn="l">
              <a:spcAft>
                <a:spcPts val="1300"/>
              </a:spcAft>
              <a:buChar char="•"/>
              <a:defRPr sz="2025" b="0">
                <a:solidFill>
                  <a:srgbClr val="162A3A"/>
                </a:solidFill>
                <a:latin typeface="Arial"/>
                <a:ea typeface="Arial"/>
                <a:cs typeface="Arial"/>
              </a:defRPr>
            </a:pPr>
            <a:r>
              <a:t>Crypto data and daily paper workflow</a:t>
            </a:r>
          </a:p>
          <a:p xmlns:a="http://schemas.openxmlformats.org/drawingml/2006/main">
            <a:pPr marL="228600" indent="-114300" algn="l">
              <a:spcAft>
                <a:spcPts val="1300"/>
              </a:spcAft>
              <a:buChar char="•"/>
              <a:defRPr sz="2025" b="0">
                <a:solidFill>
                  <a:srgbClr val="162A3A"/>
                </a:solidFill>
                <a:latin typeface="Arial"/>
                <a:ea typeface="Arial"/>
                <a:cs typeface="Arial"/>
              </a:defRPr>
            </a:pPr>
            <a:r>
              <a:t>Agent orchestration, risk checks and logs</a:t>
            </a:r>
          </a:p>
          <a:p xmlns:a="http://schemas.openxmlformats.org/drawingml/2006/main">
            <a:pPr marL="228600" indent="-114300" algn="l">
              <a:spcAft>
                <a:spcPts val="1300"/>
              </a:spcAft>
              <a:buChar char="•"/>
              <a:defRPr sz="2025" b="0">
                <a:solidFill>
                  <a:srgbClr val="162A3A"/>
                </a:solidFill>
                <a:latin typeface="Arial"/>
                <a:ea typeface="Arial"/>
                <a:cs typeface="Arial"/>
              </a:defRPr>
            </a:pPr>
            <a:r>
              <a:t>Recorded intents and optional AI replies</a:t>
            </a:r>
          </a:p>
        </p:txBody>
      </p:sp>
      <p:sp>
        <p:nvSpPr>
          <p:cNvPr id="6" name="Inputs before integration">
            <a:extLst xmlns:a="http://schemas.openxmlformats.org/drawingml/2006/main">
              <a:ext uri="{FF2B5EF4-FFF2-40B4-BE49-F238E27FC236}">
                <a16:creationId xmlns:a16="http://schemas.microsoft.com/office/drawing/2014/main" id="{7929B1DE-5FB5-463F-B4C9-97A1B65EB79B}"/>
              </a:ext>
            </a:extLst>
          </p:cNvPr>
          <p:cNvSpPr>
            <a:spLocks xmlns:a="http://schemas.openxmlformats.org/drawingml/2006/main" noGrp="1"/>
          </p:cNvSpPr>
          <p:nvPr/>
        </p:nvSpPr>
        <p:spPr>
          <a:xfrm xmlns:a="http://schemas.openxmlformats.org/drawingml/2006/main">
            <a:off x="6457950" y="1943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62A3A"/>
                </a:solidFill>
                <a:latin typeface="Arial"/>
                <a:ea typeface="Arial"/>
                <a:cs typeface="Arial"/>
              </a:defRPr>
            </a:defPPr>
          </a:lstStyle>
          <a:p xmlns:a="http://schemas.openxmlformats.org/drawingml/2006/main">
            <a:pPr algn="l">
              <a:defRPr sz="2250" b="1">
                <a:solidFill>
                  <a:srgbClr val="162A3A"/>
                </a:solidFill>
                <a:latin typeface="Arial"/>
                <a:ea typeface="Arial"/>
                <a:cs typeface="Arial"/>
              </a:defRPr>
            </a:pPr>
            <a:r>
              <a:rPr sz="2250" b="1">
                <a:solidFill>
                  <a:srgbClr val="162A3A"/>
                </a:solidFill>
                <a:latin typeface="Arial"/>
                <a:ea typeface="Arial"/>
                <a:cs typeface="Arial"/>
              </a:rPr>
              <a:t>Inputs before integration</a:t>
            </a:r>
          </a:p>
        </p:txBody>
      </p:sp>
      <p:sp>
        <p:nvSpPr>
          <p:cNvPr id="7" name="">
            <a:extLst xmlns:a="http://schemas.openxmlformats.org/drawingml/2006/main">
              <a:ext uri="{FF2B5EF4-FFF2-40B4-BE49-F238E27FC236}">
                <a16:creationId xmlns:a16="http://schemas.microsoft.com/office/drawing/2014/main" id="{0AA4161D-540A-4169-9B8F-23B08D216C2F}"/>
              </a:ext>
            </a:extLst>
          </p:cNvPr>
          <p:cNvSpPr>
            <a:spLocks xmlns:a="http://schemas.openxmlformats.org/drawingml/2006/main" noGrp="1"/>
          </p:cNvSpPr>
          <p:nvPr/>
        </p:nvSpPr>
        <p:spPr>
          <a:xfrm xmlns:a="http://schemas.openxmlformats.org/drawingml/2006/main">
            <a:off x="6457950" y="2524125"/>
            <a:ext cx="5048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A3A"/>
                </a:solidFill>
                <a:latin typeface="Arial"/>
                <a:ea typeface="Arial"/>
                <a:cs typeface="Arial"/>
              </a:defRPr>
            </a:defPPr>
          </a:lstStyle>
          <a:p xmlns:a="http://schemas.openxmlformats.org/drawingml/2006/main">
            <a:pPr marL="228600" indent="-114300" algn="l">
              <a:spcAft>
                <a:spcPts val="1300"/>
              </a:spcAft>
              <a:buChar char="•"/>
              <a:defRPr sz="1950" b="0">
                <a:solidFill>
                  <a:srgbClr val="162A3A"/>
                </a:solidFill>
                <a:latin typeface="Arial"/>
                <a:ea typeface="Arial"/>
                <a:cs typeface="Arial"/>
              </a:defRPr>
            </a:pPr>
            <a:r>
              <a:t>Strategy packages, assets and momentum cadence</a:t>
            </a:r>
          </a:p>
          <a:p xmlns:a="http://schemas.openxmlformats.org/drawingml/2006/main">
            <a:pPr marL="228600" indent="-114300" algn="l">
              <a:spcAft>
                <a:spcPts val="1300"/>
              </a:spcAft>
              <a:buChar char="•"/>
              <a:defRPr sz="1950" b="0">
                <a:solidFill>
                  <a:srgbClr val="162A3A"/>
                </a:solidFill>
                <a:latin typeface="Arial"/>
                <a:ea typeface="Arial"/>
                <a:cs typeface="Arial"/>
              </a:defRPr>
            </a:pPr>
            <a:r>
              <a:t>Mandatory assets and official benchmark</a:t>
            </a:r>
          </a:p>
          <a:p xmlns:a="http://schemas.openxmlformats.org/drawingml/2006/main">
            <a:pPr marL="228600" indent="-114300" algn="l">
              <a:spcAft>
                <a:spcPts val="1300"/>
              </a:spcAft>
              <a:buChar char="•"/>
              <a:defRPr sz="1950" b="0">
                <a:solidFill>
                  <a:srgbClr val="162A3A"/>
                </a:solidFill>
                <a:latin typeface="Arial"/>
                <a:ea typeface="Arial"/>
                <a:cs typeface="Arial"/>
              </a:defRPr>
            </a:pPr>
            <a:r>
              <a:t>Capital, costs, shorting and execution rules</a:t>
            </a:r>
          </a:p>
          <a:p xmlns:a="http://schemas.openxmlformats.org/drawingml/2006/main">
            <a:pPr marL="228600" indent="-114300" algn="l">
              <a:spcAft>
                <a:spcPts val="1300"/>
              </a:spcAft>
              <a:buChar char="•"/>
              <a:defRPr sz="1950" b="0">
                <a:solidFill>
                  <a:srgbClr val="162A3A"/>
                </a:solidFill>
                <a:latin typeface="Arial"/>
                <a:ea typeface="Arial"/>
                <a:cs typeface="Arial"/>
              </a:defRPr>
            </a:pPr>
            <a:r>
              <a:t>Member names and individual responsibilities</a:t>
            </a:r>
          </a:p>
        </p:txBody>
      </p:sp>
      <p:sp>
        <p:nvSpPr>
          <p:cNvPr id="8" name="First version: initial budgets, shared accounting, fund risk and AI to">
            <a:extLst xmlns:a="http://schemas.openxmlformats.org/drawingml/2006/main">
              <a:ext uri="{FF2B5EF4-FFF2-40B4-BE49-F238E27FC236}">
                <a16:creationId xmlns:a16="http://schemas.microsoft.com/office/drawing/2014/main" id="{0A9F9042-BE39-400A-B5E1-E694324CD336}"/>
              </a:ext>
            </a:extLst>
          </p:cNvPr>
          <p:cNvSpPr>
            <a:spLocks xmlns:a="http://schemas.openxmlformats.org/drawingml/2006/main" noGrp="1"/>
          </p:cNvSpPr>
          <p:nvPr/>
        </p:nvSpPr>
        <p:spPr>
          <a:xfrm xmlns:a="http://schemas.openxmlformats.org/drawingml/2006/main">
            <a:off x="685800" y="54006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8B"/>
                </a:solidFill>
                <a:latin typeface="Arial"/>
                <a:ea typeface="Arial"/>
                <a:cs typeface="Arial"/>
              </a:defRPr>
            </a:defPPr>
          </a:lstStyle>
          <a:p xmlns:a="http://schemas.openxmlformats.org/drawingml/2006/main">
            <a:pPr algn="l">
              <a:defRPr sz="2025" b="1">
                <a:solidFill>
                  <a:srgbClr val="087E8B"/>
                </a:solidFill>
                <a:latin typeface="Arial"/>
                <a:ea typeface="Arial"/>
                <a:cs typeface="Arial"/>
              </a:defRPr>
            </a:pPr>
            <a:r>
              <a:rPr sz="2025" b="1">
                <a:solidFill>
                  <a:srgbClr val="087E8B"/>
                </a:solidFill>
                <a:latin typeface="Arial"/>
                <a:ea typeface="Arial"/>
                <a:cs typeface="Arial"/>
              </a:rPr>
              <a:t>First version: initial budgets, shared accounting, fund risk and AI tool access</a:t>
            </a:r>
          </a:p>
        </p:txBody>
      </p:sp>
      <p:sp>
        <p:nvSpPr>
          <p:cNvPr id="9" name="Extensions: dynamic allocation, regime routing and physical order nett">
            <a:extLst xmlns:a="http://schemas.openxmlformats.org/drawingml/2006/main">
              <a:ext uri="{FF2B5EF4-FFF2-40B4-BE49-F238E27FC236}">
                <a16:creationId xmlns:a16="http://schemas.microsoft.com/office/drawing/2014/main" id="{59C93221-1703-4FA8-BE28-857141AC4411}"/>
              </a:ext>
            </a:extLst>
          </p:cNvPr>
          <p:cNvSpPr>
            <a:spLocks xmlns:a="http://schemas.openxmlformats.org/drawingml/2006/main" noGrp="1"/>
          </p:cNvSpPr>
          <p:nvPr/>
        </p:nvSpPr>
        <p:spPr>
          <a:xfrm xmlns:a="http://schemas.openxmlformats.org/drawingml/2006/main">
            <a:off x="685800" y="5981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476"/>
                </a:solidFill>
                <a:latin typeface="Arial"/>
                <a:ea typeface="Arial"/>
                <a:cs typeface="Arial"/>
              </a:defRPr>
            </a:defPPr>
          </a:lstStyle>
          <a:p xmlns:a="http://schemas.openxmlformats.org/drawingml/2006/main">
            <a:pPr algn="l">
              <a:defRPr sz="1800" b="0">
                <a:solidFill>
                  <a:srgbClr val="516476"/>
                </a:solidFill>
                <a:latin typeface="Arial"/>
                <a:ea typeface="Arial"/>
                <a:cs typeface="Arial"/>
              </a:defRPr>
            </a:pPr>
            <a:r>
              <a:rPr sz="1800" b="0">
                <a:solidFill>
                  <a:srgbClr val="516476"/>
                </a:solidFill>
                <a:latin typeface="Arial"/>
                <a:ea typeface="Arial"/>
                <a:cs typeface="Arial"/>
              </a:rPr>
              <a:t>Extensions: dynamic allocation, regime routing and physical order netting</a:t>
            </a:r>
          </a:p>
        </p:txBody>
      </p:sp>
    </p:spTree>
    <p:extLst>
      <p:ext uri="{BB962C8B-B14F-4D97-AF65-F5344CB8AC3E}">
        <p14:creationId xmlns:p14="http://schemas.microsoft.com/office/powerpoint/2010/main" val="492637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2026-10-13T10:19:32.1410000Z</dcterms:created>
  <dcterms:modified xsi:type="dcterms:W3CDTF">2026-10-13T10:19:32.1410000Z</dcterms:modified>
</coreProperties>
</file>